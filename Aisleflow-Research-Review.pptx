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line: this is a completed measurement study, not a proposal. Everything on the following slides is traceable to a committed dataset with a git SHA. The deck has two halves — what we measured, then what it is commercially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second tile. Throughput leadership is arguable on two of the four floors; the compute gap is not arguable on any of them, and it is the number that changes what hardware a deployment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nothing in this study trades safety for throughput. Collision freedom comes from PIBT's vertex and swap checks, and no measured change touched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is the part that is easy to undersell. Reimplementing three published planners behind one metric set is what makes every comparison in this deck an apples-to-apples one, and it is reusable for whatever we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thing from this slide, take idea 3. Pushing rather than reserving a path is why the planner needs no well-formed-instance assumption, and it is the mechanism behind both the throughput result and the compute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that the four floors were not picked to flatter anything: two of them are the ones where the planner's own additions lose. The structural numbers under each map are derived from the map file, not declared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slide — it is one floor, chosen because the case is clearest there. Slide 9 is the complete picture and slide 12 is the one that says what our own additions are worth. If someone challenges the choice of floor, go to slide 9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slideshow so the GIF animates. If presenting from a PDF, say that the still is frame one and offer the live GUI instead — the same run can be driven step by step from `lda-pibt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open with if the audience is sceptical. It concedes both of the things a reviewer would otherwise find: that two wins belong to the published algorithm, and that two baselines are handicapped by the map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3.4%-of-a-core figure is the one to repeat. It is what makes a fleet controller an embedded component rather than an infrastructure line item. Expect the question 'is that just because Python is slow for everyone here?' — yes, and that is exactly why the ratio, not the absolute, is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corridors row is the slide. Twenty robots and forty robots deliver the same number of tasks — the marginal return of the 21st through 40th robot is exactly zero, and it is measured,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slide as the study's most valuable output, not as bad news. It converts a vague 'it depends' into a measured rule with a structural predictor, and that rule is a shippable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point: measurement did not just tune this planner, it deleted a quarter of it and found two bugs that neither tests nor review had caught. That process is reusable on anything else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everything so far is measured. Everything after this is measured levers plus explicitly labelled judgement — and the study contains no cost data at all, so nothing ahead is denominated in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3 is the one worth arguing for: it is the only one that turns the harness — which we built as a means to an end — into a product in its own right, and it is the cheapest to trial because it never has to touch 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business case in pounds or dollars, this is the slide that answers: we can give you the levers with error bars, and the four inputs we would need from a site to convert them. Making a number up would be the one thing that discredits everything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An audience that sees the limits stated first will believe slide 10 and slide 11, which are the two that matter commercially.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the planner is further along than the system around it. If someone asks 'could we ship this next quarter', the answer is that the planner could and the integration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gate is written so a negative result ends the phase rather than extending it. That is deliberate — the study's own value came from being willing to delete things that measured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and stop talking. The ask is one funded phase and one pilot floor — deliberately modest, because the study's own credibility came from claiming only what it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command is the deck itself: it reads the same dataset the documents read, and extract_data.py asserts every headline figure, so a regenerated dataset that moves a number breaks the build rather than leaving a stale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3"/>
        </a:solidFill>
      </p:bgPr>
    </p:bg>
    <p:spTree>
      <p:nvGrpSpPr>
        <p:cNvPr id="1" name=""/>
        <p:cNvGrpSpPr/>
        <p:nvPr/>
      </p:nvGrpSpPr>
      <p:grpSpPr>
        <a:xfrm>
          <a:off x="0" y="0"/>
          <a:ext cx="0" cy="0"/>
          <a:chOff x="0" y="0"/>
          <a:chExt cx="0" cy="0"/>
        </a:xfrm>
      </p:grpSpPr>
      <p:sp>
        <p:nvSpPr>
          <p:cNvPr id="2" name="Shape 0"/>
          <p:cNvSpPr/>
          <p:nvPr/>
        </p:nvSpPr>
        <p:spPr>
          <a:xfrm>
            <a:off x="9829800" y="5065776"/>
            <a:ext cx="105156" cy="105156"/>
          </a:xfrm>
          <a:prstGeom prst="rect">
            <a:avLst/>
          </a:prstGeom>
          <a:solidFill>
            <a:srgbClr val="1B1E23"/>
          </a:solidFill>
          <a:ln/>
        </p:spPr>
      </p:sp>
      <p:sp>
        <p:nvSpPr>
          <p:cNvPr id="3" name="Shape 1"/>
          <p:cNvSpPr/>
          <p:nvPr/>
        </p:nvSpPr>
        <p:spPr>
          <a:xfrm>
            <a:off x="9829800" y="5239512"/>
            <a:ext cx="105156" cy="105156"/>
          </a:xfrm>
          <a:prstGeom prst="rect">
            <a:avLst/>
          </a:prstGeom>
          <a:solidFill>
            <a:srgbClr val="1B1E23"/>
          </a:solidFill>
          <a:ln/>
        </p:spPr>
      </p:sp>
      <p:sp>
        <p:nvSpPr>
          <p:cNvPr id="4" name="Shape 2"/>
          <p:cNvSpPr/>
          <p:nvPr/>
        </p:nvSpPr>
        <p:spPr>
          <a:xfrm>
            <a:off x="9829800" y="5413248"/>
            <a:ext cx="105156" cy="105156"/>
          </a:xfrm>
          <a:prstGeom prst="rect">
            <a:avLst/>
          </a:prstGeom>
          <a:solidFill>
            <a:srgbClr val="1B1E23"/>
          </a:solidFill>
          <a:ln/>
        </p:spPr>
      </p:sp>
      <p:sp>
        <p:nvSpPr>
          <p:cNvPr id="5" name="Shape 3"/>
          <p:cNvSpPr/>
          <p:nvPr/>
        </p:nvSpPr>
        <p:spPr>
          <a:xfrm>
            <a:off x="9829800" y="5586984"/>
            <a:ext cx="105156" cy="105156"/>
          </a:xfrm>
          <a:prstGeom prst="rect">
            <a:avLst/>
          </a:prstGeom>
          <a:solidFill>
            <a:srgbClr val="1B1E23"/>
          </a:solidFill>
          <a:ln/>
        </p:spPr>
      </p:sp>
      <p:sp>
        <p:nvSpPr>
          <p:cNvPr id="6" name="Shape 4"/>
          <p:cNvSpPr/>
          <p:nvPr/>
        </p:nvSpPr>
        <p:spPr>
          <a:xfrm>
            <a:off x="9829800" y="5760720"/>
            <a:ext cx="105156" cy="105156"/>
          </a:xfrm>
          <a:prstGeom prst="rect">
            <a:avLst/>
          </a:prstGeom>
          <a:solidFill>
            <a:srgbClr val="1B1E23"/>
          </a:solidFill>
          <a:ln/>
        </p:spPr>
      </p:sp>
      <p:sp>
        <p:nvSpPr>
          <p:cNvPr id="7" name="Shape 5"/>
          <p:cNvSpPr/>
          <p:nvPr/>
        </p:nvSpPr>
        <p:spPr>
          <a:xfrm>
            <a:off x="9829800" y="5934456"/>
            <a:ext cx="105156" cy="105156"/>
          </a:xfrm>
          <a:prstGeom prst="rect">
            <a:avLst/>
          </a:prstGeom>
          <a:solidFill>
            <a:srgbClr val="1B1E23"/>
          </a:solidFill>
          <a:ln/>
        </p:spPr>
      </p:sp>
      <p:sp>
        <p:nvSpPr>
          <p:cNvPr id="8" name="Shape 6"/>
          <p:cNvSpPr/>
          <p:nvPr/>
        </p:nvSpPr>
        <p:spPr>
          <a:xfrm>
            <a:off x="9829800" y="6108192"/>
            <a:ext cx="105156" cy="105156"/>
          </a:xfrm>
          <a:prstGeom prst="rect">
            <a:avLst/>
          </a:prstGeom>
          <a:solidFill>
            <a:srgbClr val="1B1E23"/>
          </a:solidFill>
          <a:ln/>
        </p:spPr>
      </p:sp>
      <p:sp>
        <p:nvSpPr>
          <p:cNvPr id="9" name="Shape 7"/>
          <p:cNvSpPr/>
          <p:nvPr/>
        </p:nvSpPr>
        <p:spPr>
          <a:xfrm>
            <a:off x="10003536" y="4892040"/>
            <a:ext cx="105156" cy="105156"/>
          </a:xfrm>
          <a:prstGeom prst="rect">
            <a:avLst/>
          </a:prstGeom>
          <a:solidFill>
            <a:srgbClr val="1B1E23"/>
          </a:solidFill>
          <a:ln/>
        </p:spPr>
      </p:sp>
      <p:sp>
        <p:nvSpPr>
          <p:cNvPr id="10" name="Shape 8"/>
          <p:cNvSpPr/>
          <p:nvPr/>
        </p:nvSpPr>
        <p:spPr>
          <a:xfrm>
            <a:off x="10003536" y="5065776"/>
            <a:ext cx="105156" cy="105156"/>
          </a:xfrm>
          <a:prstGeom prst="rect">
            <a:avLst/>
          </a:prstGeom>
          <a:solidFill>
            <a:srgbClr val="1B1E23"/>
          </a:solidFill>
          <a:ln/>
        </p:spPr>
      </p:sp>
      <p:sp>
        <p:nvSpPr>
          <p:cNvPr id="11" name="Shape 9"/>
          <p:cNvSpPr/>
          <p:nvPr/>
        </p:nvSpPr>
        <p:spPr>
          <a:xfrm>
            <a:off x="10003536" y="5239512"/>
            <a:ext cx="105156" cy="105156"/>
          </a:xfrm>
          <a:prstGeom prst="rect">
            <a:avLst/>
          </a:prstGeom>
          <a:solidFill>
            <a:srgbClr val="1B1E23"/>
          </a:solidFill>
          <a:ln/>
        </p:spPr>
      </p:sp>
      <p:sp>
        <p:nvSpPr>
          <p:cNvPr id="12" name="Shape 10"/>
          <p:cNvSpPr/>
          <p:nvPr/>
        </p:nvSpPr>
        <p:spPr>
          <a:xfrm>
            <a:off x="10003536" y="5413248"/>
            <a:ext cx="105156" cy="105156"/>
          </a:xfrm>
          <a:prstGeom prst="rect">
            <a:avLst/>
          </a:prstGeom>
          <a:solidFill>
            <a:srgbClr val="1B1E23"/>
          </a:solidFill>
          <a:ln/>
        </p:spPr>
      </p:sp>
      <p:sp>
        <p:nvSpPr>
          <p:cNvPr id="13" name="Shape 11"/>
          <p:cNvSpPr/>
          <p:nvPr/>
        </p:nvSpPr>
        <p:spPr>
          <a:xfrm>
            <a:off x="10003536" y="5586984"/>
            <a:ext cx="105156" cy="105156"/>
          </a:xfrm>
          <a:prstGeom prst="rect">
            <a:avLst/>
          </a:prstGeom>
          <a:solidFill>
            <a:srgbClr val="1B1E23"/>
          </a:solidFill>
          <a:ln/>
        </p:spPr>
      </p:sp>
      <p:sp>
        <p:nvSpPr>
          <p:cNvPr id="14" name="Shape 12"/>
          <p:cNvSpPr/>
          <p:nvPr/>
        </p:nvSpPr>
        <p:spPr>
          <a:xfrm>
            <a:off x="10003536" y="5934456"/>
            <a:ext cx="105156" cy="105156"/>
          </a:xfrm>
          <a:prstGeom prst="rect">
            <a:avLst/>
          </a:prstGeom>
          <a:solidFill>
            <a:srgbClr val="1B1E23"/>
          </a:solidFill>
          <a:ln/>
        </p:spPr>
      </p:sp>
      <p:sp>
        <p:nvSpPr>
          <p:cNvPr id="15" name="Shape 13"/>
          <p:cNvSpPr/>
          <p:nvPr/>
        </p:nvSpPr>
        <p:spPr>
          <a:xfrm>
            <a:off x="10003536" y="6108192"/>
            <a:ext cx="105156" cy="105156"/>
          </a:xfrm>
          <a:prstGeom prst="rect">
            <a:avLst/>
          </a:prstGeom>
          <a:solidFill>
            <a:srgbClr val="1B1E23"/>
          </a:solidFill>
          <a:ln/>
        </p:spPr>
      </p:sp>
      <p:sp>
        <p:nvSpPr>
          <p:cNvPr id="16" name="Shape 14"/>
          <p:cNvSpPr/>
          <p:nvPr/>
        </p:nvSpPr>
        <p:spPr>
          <a:xfrm>
            <a:off x="10177272" y="4892040"/>
            <a:ext cx="105156" cy="105156"/>
          </a:xfrm>
          <a:prstGeom prst="rect">
            <a:avLst/>
          </a:prstGeom>
          <a:solidFill>
            <a:srgbClr val="1B1E23"/>
          </a:solidFill>
          <a:ln/>
        </p:spPr>
      </p:sp>
      <p:sp>
        <p:nvSpPr>
          <p:cNvPr id="17" name="Shape 15"/>
          <p:cNvSpPr/>
          <p:nvPr/>
        </p:nvSpPr>
        <p:spPr>
          <a:xfrm>
            <a:off x="10177272" y="5065776"/>
            <a:ext cx="105156" cy="105156"/>
          </a:xfrm>
          <a:prstGeom prst="rect">
            <a:avLst/>
          </a:prstGeom>
          <a:solidFill>
            <a:srgbClr val="1B1E23"/>
          </a:solidFill>
          <a:ln/>
        </p:spPr>
      </p:sp>
      <p:sp>
        <p:nvSpPr>
          <p:cNvPr id="18" name="Shape 16"/>
          <p:cNvSpPr/>
          <p:nvPr/>
        </p:nvSpPr>
        <p:spPr>
          <a:xfrm>
            <a:off x="10177272" y="5239512"/>
            <a:ext cx="105156" cy="105156"/>
          </a:xfrm>
          <a:prstGeom prst="rect">
            <a:avLst/>
          </a:prstGeom>
          <a:solidFill>
            <a:srgbClr val="1B1E23"/>
          </a:solidFill>
          <a:ln/>
        </p:spPr>
      </p:sp>
      <p:sp>
        <p:nvSpPr>
          <p:cNvPr id="19" name="Shape 17"/>
          <p:cNvSpPr/>
          <p:nvPr/>
        </p:nvSpPr>
        <p:spPr>
          <a:xfrm>
            <a:off x="10177272" y="5413248"/>
            <a:ext cx="105156" cy="105156"/>
          </a:xfrm>
          <a:prstGeom prst="rect">
            <a:avLst/>
          </a:prstGeom>
          <a:solidFill>
            <a:srgbClr val="1B1E23"/>
          </a:solidFill>
          <a:ln/>
        </p:spPr>
      </p:sp>
      <p:sp>
        <p:nvSpPr>
          <p:cNvPr id="20" name="Shape 18"/>
          <p:cNvSpPr/>
          <p:nvPr/>
        </p:nvSpPr>
        <p:spPr>
          <a:xfrm>
            <a:off x="10177272" y="5586984"/>
            <a:ext cx="105156" cy="105156"/>
          </a:xfrm>
          <a:prstGeom prst="rect">
            <a:avLst/>
          </a:prstGeom>
          <a:solidFill>
            <a:srgbClr val="1B1E23"/>
          </a:solidFill>
          <a:ln/>
        </p:spPr>
      </p:sp>
      <p:sp>
        <p:nvSpPr>
          <p:cNvPr id="21" name="Shape 19"/>
          <p:cNvSpPr/>
          <p:nvPr/>
        </p:nvSpPr>
        <p:spPr>
          <a:xfrm>
            <a:off x="10177272" y="5760720"/>
            <a:ext cx="105156" cy="105156"/>
          </a:xfrm>
          <a:prstGeom prst="rect">
            <a:avLst/>
          </a:prstGeom>
          <a:solidFill>
            <a:srgbClr val="1B1E23"/>
          </a:solidFill>
          <a:ln/>
        </p:spPr>
      </p:sp>
      <p:sp>
        <p:nvSpPr>
          <p:cNvPr id="22" name="Shape 20"/>
          <p:cNvSpPr/>
          <p:nvPr/>
        </p:nvSpPr>
        <p:spPr>
          <a:xfrm>
            <a:off x="10177272" y="5934456"/>
            <a:ext cx="105156" cy="105156"/>
          </a:xfrm>
          <a:prstGeom prst="rect">
            <a:avLst/>
          </a:prstGeom>
          <a:solidFill>
            <a:srgbClr val="1B1E23"/>
          </a:solidFill>
          <a:ln/>
        </p:spPr>
      </p:sp>
      <p:sp>
        <p:nvSpPr>
          <p:cNvPr id="23" name="Shape 21"/>
          <p:cNvSpPr/>
          <p:nvPr/>
        </p:nvSpPr>
        <p:spPr>
          <a:xfrm>
            <a:off x="10177272" y="6108192"/>
            <a:ext cx="105156" cy="105156"/>
          </a:xfrm>
          <a:prstGeom prst="rect">
            <a:avLst/>
          </a:prstGeom>
          <a:solidFill>
            <a:srgbClr val="1B1E23"/>
          </a:solidFill>
          <a:ln/>
        </p:spPr>
      </p:sp>
      <p:sp>
        <p:nvSpPr>
          <p:cNvPr id="24" name="Shape 22"/>
          <p:cNvSpPr/>
          <p:nvPr/>
        </p:nvSpPr>
        <p:spPr>
          <a:xfrm>
            <a:off x="10351008" y="4892040"/>
            <a:ext cx="105156" cy="105156"/>
          </a:xfrm>
          <a:prstGeom prst="rect">
            <a:avLst/>
          </a:prstGeom>
          <a:solidFill>
            <a:srgbClr val="1B1E23"/>
          </a:solidFill>
          <a:ln/>
        </p:spPr>
      </p:sp>
      <p:sp>
        <p:nvSpPr>
          <p:cNvPr id="25" name="Shape 23"/>
          <p:cNvSpPr/>
          <p:nvPr/>
        </p:nvSpPr>
        <p:spPr>
          <a:xfrm>
            <a:off x="10351008" y="5065776"/>
            <a:ext cx="105156" cy="105156"/>
          </a:xfrm>
          <a:prstGeom prst="rect">
            <a:avLst/>
          </a:prstGeom>
          <a:solidFill>
            <a:srgbClr val="1B1E23"/>
          </a:solidFill>
          <a:ln/>
        </p:spPr>
      </p:sp>
      <p:sp>
        <p:nvSpPr>
          <p:cNvPr id="26" name="Shape 24"/>
          <p:cNvSpPr/>
          <p:nvPr/>
        </p:nvSpPr>
        <p:spPr>
          <a:xfrm>
            <a:off x="10351008" y="5239512"/>
            <a:ext cx="105156" cy="105156"/>
          </a:xfrm>
          <a:prstGeom prst="rect">
            <a:avLst/>
          </a:prstGeom>
          <a:solidFill>
            <a:srgbClr val="1B1E23"/>
          </a:solidFill>
          <a:ln/>
        </p:spPr>
      </p:sp>
      <p:sp>
        <p:nvSpPr>
          <p:cNvPr id="27" name="Shape 25"/>
          <p:cNvSpPr/>
          <p:nvPr/>
        </p:nvSpPr>
        <p:spPr>
          <a:xfrm>
            <a:off x="10351008" y="5413248"/>
            <a:ext cx="105156" cy="105156"/>
          </a:xfrm>
          <a:prstGeom prst="rect">
            <a:avLst/>
          </a:prstGeom>
          <a:solidFill>
            <a:srgbClr val="1B1E23"/>
          </a:solidFill>
          <a:ln/>
        </p:spPr>
      </p:sp>
      <p:sp>
        <p:nvSpPr>
          <p:cNvPr id="28" name="Shape 26"/>
          <p:cNvSpPr/>
          <p:nvPr/>
        </p:nvSpPr>
        <p:spPr>
          <a:xfrm>
            <a:off x="10351008" y="5760720"/>
            <a:ext cx="105156" cy="105156"/>
          </a:xfrm>
          <a:prstGeom prst="rect">
            <a:avLst/>
          </a:prstGeom>
          <a:solidFill>
            <a:srgbClr val="1B1E23"/>
          </a:solidFill>
          <a:ln/>
        </p:spPr>
      </p:sp>
      <p:sp>
        <p:nvSpPr>
          <p:cNvPr id="29" name="Shape 27"/>
          <p:cNvSpPr/>
          <p:nvPr/>
        </p:nvSpPr>
        <p:spPr>
          <a:xfrm>
            <a:off x="10351008" y="5934456"/>
            <a:ext cx="105156" cy="105156"/>
          </a:xfrm>
          <a:prstGeom prst="rect">
            <a:avLst/>
          </a:prstGeom>
          <a:solidFill>
            <a:srgbClr val="1B1E23"/>
          </a:solidFill>
          <a:ln/>
        </p:spPr>
      </p:sp>
      <p:sp>
        <p:nvSpPr>
          <p:cNvPr id="30" name="Shape 28"/>
          <p:cNvSpPr/>
          <p:nvPr/>
        </p:nvSpPr>
        <p:spPr>
          <a:xfrm>
            <a:off x="10351008" y="6108192"/>
            <a:ext cx="105156" cy="105156"/>
          </a:xfrm>
          <a:prstGeom prst="rect">
            <a:avLst/>
          </a:prstGeom>
          <a:solidFill>
            <a:srgbClr val="1B1E23"/>
          </a:solidFill>
          <a:ln/>
        </p:spPr>
      </p:sp>
      <p:sp>
        <p:nvSpPr>
          <p:cNvPr id="31" name="Shape 29"/>
          <p:cNvSpPr/>
          <p:nvPr/>
        </p:nvSpPr>
        <p:spPr>
          <a:xfrm>
            <a:off x="10524744" y="4892040"/>
            <a:ext cx="105156" cy="105156"/>
          </a:xfrm>
          <a:prstGeom prst="rect">
            <a:avLst/>
          </a:prstGeom>
          <a:solidFill>
            <a:srgbClr val="1B1E23"/>
          </a:solidFill>
          <a:ln/>
        </p:spPr>
      </p:sp>
      <p:sp>
        <p:nvSpPr>
          <p:cNvPr id="32" name="Shape 30"/>
          <p:cNvSpPr/>
          <p:nvPr/>
        </p:nvSpPr>
        <p:spPr>
          <a:xfrm>
            <a:off x="10524744" y="5065776"/>
            <a:ext cx="105156" cy="105156"/>
          </a:xfrm>
          <a:prstGeom prst="rect">
            <a:avLst/>
          </a:prstGeom>
          <a:solidFill>
            <a:srgbClr val="1B1E23"/>
          </a:solidFill>
          <a:ln/>
        </p:spPr>
      </p:sp>
      <p:sp>
        <p:nvSpPr>
          <p:cNvPr id="33" name="Shape 31"/>
          <p:cNvSpPr/>
          <p:nvPr/>
        </p:nvSpPr>
        <p:spPr>
          <a:xfrm>
            <a:off x="10524744" y="5239512"/>
            <a:ext cx="105156" cy="105156"/>
          </a:xfrm>
          <a:prstGeom prst="rect">
            <a:avLst/>
          </a:prstGeom>
          <a:solidFill>
            <a:srgbClr val="1B1E23"/>
          </a:solidFill>
          <a:ln/>
        </p:spPr>
      </p:sp>
      <p:sp>
        <p:nvSpPr>
          <p:cNvPr id="34" name="Shape 32"/>
          <p:cNvSpPr/>
          <p:nvPr/>
        </p:nvSpPr>
        <p:spPr>
          <a:xfrm>
            <a:off x="10524744" y="5413248"/>
            <a:ext cx="105156" cy="105156"/>
          </a:xfrm>
          <a:prstGeom prst="rect">
            <a:avLst/>
          </a:prstGeom>
          <a:solidFill>
            <a:srgbClr val="1B1E23"/>
          </a:solidFill>
          <a:ln/>
        </p:spPr>
      </p:sp>
      <p:sp>
        <p:nvSpPr>
          <p:cNvPr id="35" name="Shape 33"/>
          <p:cNvSpPr/>
          <p:nvPr/>
        </p:nvSpPr>
        <p:spPr>
          <a:xfrm>
            <a:off x="10524744" y="5586984"/>
            <a:ext cx="105156" cy="105156"/>
          </a:xfrm>
          <a:prstGeom prst="rect">
            <a:avLst/>
          </a:prstGeom>
          <a:solidFill>
            <a:srgbClr val="1B1E23"/>
          </a:solidFill>
          <a:ln/>
        </p:spPr>
      </p:sp>
      <p:sp>
        <p:nvSpPr>
          <p:cNvPr id="36" name="Shape 34"/>
          <p:cNvSpPr/>
          <p:nvPr/>
        </p:nvSpPr>
        <p:spPr>
          <a:xfrm>
            <a:off x="10524744" y="5760720"/>
            <a:ext cx="105156" cy="105156"/>
          </a:xfrm>
          <a:prstGeom prst="rect">
            <a:avLst/>
          </a:prstGeom>
          <a:solidFill>
            <a:srgbClr val="1B1E23"/>
          </a:solidFill>
          <a:ln/>
        </p:spPr>
      </p:sp>
      <p:sp>
        <p:nvSpPr>
          <p:cNvPr id="37" name="Shape 35"/>
          <p:cNvSpPr/>
          <p:nvPr/>
        </p:nvSpPr>
        <p:spPr>
          <a:xfrm>
            <a:off x="10524744" y="5934456"/>
            <a:ext cx="105156" cy="105156"/>
          </a:xfrm>
          <a:prstGeom prst="rect">
            <a:avLst/>
          </a:prstGeom>
          <a:solidFill>
            <a:srgbClr val="1B1E23"/>
          </a:solidFill>
          <a:ln/>
        </p:spPr>
      </p:sp>
      <p:sp>
        <p:nvSpPr>
          <p:cNvPr id="38" name="Shape 36"/>
          <p:cNvSpPr/>
          <p:nvPr/>
        </p:nvSpPr>
        <p:spPr>
          <a:xfrm>
            <a:off x="10524744" y="6108192"/>
            <a:ext cx="105156" cy="105156"/>
          </a:xfrm>
          <a:prstGeom prst="rect">
            <a:avLst/>
          </a:prstGeom>
          <a:solidFill>
            <a:srgbClr val="1B1E23"/>
          </a:solidFill>
          <a:ln/>
        </p:spPr>
      </p:sp>
      <p:sp>
        <p:nvSpPr>
          <p:cNvPr id="39" name="Shape 37"/>
          <p:cNvSpPr/>
          <p:nvPr/>
        </p:nvSpPr>
        <p:spPr>
          <a:xfrm>
            <a:off x="10698480" y="4892040"/>
            <a:ext cx="105156" cy="105156"/>
          </a:xfrm>
          <a:prstGeom prst="rect">
            <a:avLst/>
          </a:prstGeom>
          <a:solidFill>
            <a:srgbClr val="1B1E23"/>
          </a:solidFill>
          <a:ln/>
        </p:spPr>
      </p:sp>
      <p:sp>
        <p:nvSpPr>
          <p:cNvPr id="40" name="Shape 38"/>
          <p:cNvSpPr/>
          <p:nvPr/>
        </p:nvSpPr>
        <p:spPr>
          <a:xfrm>
            <a:off x="10698480" y="5065776"/>
            <a:ext cx="105156" cy="105156"/>
          </a:xfrm>
          <a:prstGeom prst="rect">
            <a:avLst/>
          </a:prstGeom>
          <a:solidFill>
            <a:srgbClr val="1B1E23"/>
          </a:solidFill>
          <a:ln/>
        </p:spPr>
      </p:sp>
      <p:sp>
        <p:nvSpPr>
          <p:cNvPr id="41" name="Shape 39"/>
          <p:cNvSpPr/>
          <p:nvPr/>
        </p:nvSpPr>
        <p:spPr>
          <a:xfrm>
            <a:off x="10698480" y="5239512"/>
            <a:ext cx="105156" cy="105156"/>
          </a:xfrm>
          <a:prstGeom prst="rect">
            <a:avLst/>
          </a:prstGeom>
          <a:solidFill>
            <a:srgbClr val="1B1E23"/>
          </a:solidFill>
          <a:ln/>
        </p:spPr>
      </p:sp>
      <p:sp>
        <p:nvSpPr>
          <p:cNvPr id="42" name="Shape 40"/>
          <p:cNvSpPr/>
          <p:nvPr/>
        </p:nvSpPr>
        <p:spPr>
          <a:xfrm>
            <a:off x="10698480" y="5586984"/>
            <a:ext cx="105156" cy="105156"/>
          </a:xfrm>
          <a:prstGeom prst="rect">
            <a:avLst/>
          </a:prstGeom>
          <a:solidFill>
            <a:srgbClr val="1B1E23"/>
          </a:solidFill>
          <a:ln/>
        </p:spPr>
      </p:sp>
      <p:sp>
        <p:nvSpPr>
          <p:cNvPr id="43" name="Shape 41"/>
          <p:cNvSpPr/>
          <p:nvPr/>
        </p:nvSpPr>
        <p:spPr>
          <a:xfrm>
            <a:off x="10698480" y="5760720"/>
            <a:ext cx="105156" cy="105156"/>
          </a:xfrm>
          <a:prstGeom prst="rect">
            <a:avLst/>
          </a:prstGeom>
          <a:solidFill>
            <a:srgbClr val="1B1E23"/>
          </a:solidFill>
          <a:ln/>
        </p:spPr>
      </p:sp>
      <p:sp>
        <p:nvSpPr>
          <p:cNvPr id="44" name="Shape 42"/>
          <p:cNvSpPr/>
          <p:nvPr/>
        </p:nvSpPr>
        <p:spPr>
          <a:xfrm>
            <a:off x="10698480" y="5934456"/>
            <a:ext cx="105156" cy="105156"/>
          </a:xfrm>
          <a:prstGeom prst="rect">
            <a:avLst/>
          </a:prstGeom>
          <a:solidFill>
            <a:srgbClr val="1B1E23"/>
          </a:solidFill>
          <a:ln/>
        </p:spPr>
      </p:sp>
      <p:sp>
        <p:nvSpPr>
          <p:cNvPr id="45" name="Shape 43"/>
          <p:cNvSpPr/>
          <p:nvPr/>
        </p:nvSpPr>
        <p:spPr>
          <a:xfrm>
            <a:off x="10698480" y="6108192"/>
            <a:ext cx="105156" cy="105156"/>
          </a:xfrm>
          <a:prstGeom prst="rect">
            <a:avLst/>
          </a:prstGeom>
          <a:solidFill>
            <a:srgbClr val="1B1E23"/>
          </a:solidFill>
          <a:ln/>
        </p:spPr>
      </p:sp>
      <p:sp>
        <p:nvSpPr>
          <p:cNvPr id="46" name="Shape 44"/>
          <p:cNvSpPr/>
          <p:nvPr/>
        </p:nvSpPr>
        <p:spPr>
          <a:xfrm>
            <a:off x="10872216" y="4892040"/>
            <a:ext cx="105156" cy="105156"/>
          </a:xfrm>
          <a:prstGeom prst="rect">
            <a:avLst/>
          </a:prstGeom>
          <a:solidFill>
            <a:srgbClr val="1B1E23"/>
          </a:solidFill>
          <a:ln/>
        </p:spPr>
      </p:sp>
      <p:sp>
        <p:nvSpPr>
          <p:cNvPr id="47" name="Shape 45"/>
          <p:cNvSpPr/>
          <p:nvPr/>
        </p:nvSpPr>
        <p:spPr>
          <a:xfrm>
            <a:off x="10872216" y="5065776"/>
            <a:ext cx="105156" cy="105156"/>
          </a:xfrm>
          <a:prstGeom prst="rect">
            <a:avLst/>
          </a:prstGeom>
          <a:solidFill>
            <a:srgbClr val="1B1E23"/>
          </a:solidFill>
          <a:ln/>
        </p:spPr>
      </p:sp>
      <p:sp>
        <p:nvSpPr>
          <p:cNvPr id="48" name="Shape 46"/>
          <p:cNvSpPr/>
          <p:nvPr/>
        </p:nvSpPr>
        <p:spPr>
          <a:xfrm>
            <a:off x="10872216" y="5239512"/>
            <a:ext cx="105156" cy="105156"/>
          </a:xfrm>
          <a:prstGeom prst="rect">
            <a:avLst/>
          </a:prstGeom>
          <a:solidFill>
            <a:srgbClr val="1B1E23"/>
          </a:solidFill>
          <a:ln/>
        </p:spPr>
      </p:sp>
      <p:sp>
        <p:nvSpPr>
          <p:cNvPr id="49" name="Shape 47"/>
          <p:cNvSpPr/>
          <p:nvPr/>
        </p:nvSpPr>
        <p:spPr>
          <a:xfrm>
            <a:off x="10872216" y="5413248"/>
            <a:ext cx="105156" cy="105156"/>
          </a:xfrm>
          <a:prstGeom prst="rect">
            <a:avLst/>
          </a:prstGeom>
          <a:solidFill>
            <a:srgbClr val="1B1E23"/>
          </a:solidFill>
          <a:ln/>
        </p:spPr>
      </p:sp>
      <p:sp>
        <p:nvSpPr>
          <p:cNvPr id="50" name="Shape 48"/>
          <p:cNvSpPr/>
          <p:nvPr/>
        </p:nvSpPr>
        <p:spPr>
          <a:xfrm>
            <a:off x="10872216" y="5586984"/>
            <a:ext cx="105156" cy="105156"/>
          </a:xfrm>
          <a:prstGeom prst="rect">
            <a:avLst/>
          </a:prstGeom>
          <a:solidFill>
            <a:srgbClr val="1B1E23"/>
          </a:solidFill>
          <a:ln/>
        </p:spPr>
      </p:sp>
      <p:sp>
        <p:nvSpPr>
          <p:cNvPr id="51" name="Shape 49"/>
          <p:cNvSpPr/>
          <p:nvPr/>
        </p:nvSpPr>
        <p:spPr>
          <a:xfrm>
            <a:off x="10872216" y="5760720"/>
            <a:ext cx="105156" cy="105156"/>
          </a:xfrm>
          <a:prstGeom prst="rect">
            <a:avLst/>
          </a:prstGeom>
          <a:solidFill>
            <a:srgbClr val="1B1E23"/>
          </a:solidFill>
          <a:ln/>
        </p:spPr>
      </p:sp>
      <p:sp>
        <p:nvSpPr>
          <p:cNvPr id="52" name="Shape 50"/>
          <p:cNvSpPr/>
          <p:nvPr/>
        </p:nvSpPr>
        <p:spPr>
          <a:xfrm>
            <a:off x="10872216" y="5934456"/>
            <a:ext cx="105156" cy="105156"/>
          </a:xfrm>
          <a:prstGeom prst="rect">
            <a:avLst/>
          </a:prstGeom>
          <a:solidFill>
            <a:srgbClr val="1B1E23"/>
          </a:solidFill>
          <a:ln/>
        </p:spPr>
      </p:sp>
      <p:sp>
        <p:nvSpPr>
          <p:cNvPr id="53" name="Shape 51"/>
          <p:cNvSpPr/>
          <p:nvPr/>
        </p:nvSpPr>
        <p:spPr>
          <a:xfrm>
            <a:off x="10872216" y="6108192"/>
            <a:ext cx="105156" cy="105156"/>
          </a:xfrm>
          <a:prstGeom prst="rect">
            <a:avLst/>
          </a:prstGeom>
          <a:solidFill>
            <a:srgbClr val="1B1E23"/>
          </a:solidFill>
          <a:ln/>
        </p:spPr>
      </p:sp>
      <p:sp>
        <p:nvSpPr>
          <p:cNvPr id="54" name="Shape 52"/>
          <p:cNvSpPr/>
          <p:nvPr/>
        </p:nvSpPr>
        <p:spPr>
          <a:xfrm>
            <a:off x="11045952" y="4892040"/>
            <a:ext cx="105156" cy="105156"/>
          </a:xfrm>
          <a:prstGeom prst="rect">
            <a:avLst/>
          </a:prstGeom>
          <a:solidFill>
            <a:srgbClr val="1B1E23"/>
          </a:solidFill>
          <a:ln/>
        </p:spPr>
      </p:sp>
      <p:sp>
        <p:nvSpPr>
          <p:cNvPr id="55" name="Shape 53"/>
          <p:cNvSpPr/>
          <p:nvPr/>
        </p:nvSpPr>
        <p:spPr>
          <a:xfrm>
            <a:off x="11045952" y="5065776"/>
            <a:ext cx="105156" cy="105156"/>
          </a:xfrm>
          <a:prstGeom prst="rect">
            <a:avLst/>
          </a:prstGeom>
          <a:solidFill>
            <a:srgbClr val="1B1E23"/>
          </a:solidFill>
          <a:ln/>
        </p:spPr>
      </p:sp>
      <p:sp>
        <p:nvSpPr>
          <p:cNvPr id="56" name="Shape 54"/>
          <p:cNvSpPr/>
          <p:nvPr/>
        </p:nvSpPr>
        <p:spPr>
          <a:xfrm>
            <a:off x="11045952" y="5413248"/>
            <a:ext cx="105156" cy="105156"/>
          </a:xfrm>
          <a:prstGeom prst="rect">
            <a:avLst/>
          </a:prstGeom>
          <a:solidFill>
            <a:srgbClr val="1B1E23"/>
          </a:solidFill>
          <a:ln/>
        </p:spPr>
      </p:sp>
      <p:sp>
        <p:nvSpPr>
          <p:cNvPr id="57" name="Shape 55"/>
          <p:cNvSpPr/>
          <p:nvPr/>
        </p:nvSpPr>
        <p:spPr>
          <a:xfrm>
            <a:off x="11045952" y="5586984"/>
            <a:ext cx="105156" cy="105156"/>
          </a:xfrm>
          <a:prstGeom prst="rect">
            <a:avLst/>
          </a:prstGeom>
          <a:solidFill>
            <a:srgbClr val="1B1E23"/>
          </a:solidFill>
          <a:ln/>
        </p:spPr>
      </p:sp>
      <p:sp>
        <p:nvSpPr>
          <p:cNvPr id="58" name="Shape 56"/>
          <p:cNvSpPr/>
          <p:nvPr/>
        </p:nvSpPr>
        <p:spPr>
          <a:xfrm>
            <a:off x="11045952" y="5760720"/>
            <a:ext cx="105156" cy="105156"/>
          </a:xfrm>
          <a:prstGeom prst="rect">
            <a:avLst/>
          </a:prstGeom>
          <a:solidFill>
            <a:srgbClr val="1B1E23"/>
          </a:solidFill>
          <a:ln/>
        </p:spPr>
      </p:sp>
      <p:sp>
        <p:nvSpPr>
          <p:cNvPr id="59" name="Shape 57"/>
          <p:cNvSpPr/>
          <p:nvPr/>
        </p:nvSpPr>
        <p:spPr>
          <a:xfrm>
            <a:off x="11045952" y="5934456"/>
            <a:ext cx="105156" cy="105156"/>
          </a:xfrm>
          <a:prstGeom prst="rect">
            <a:avLst/>
          </a:prstGeom>
          <a:solidFill>
            <a:srgbClr val="1B1E23"/>
          </a:solidFill>
          <a:ln/>
        </p:spPr>
      </p:sp>
      <p:sp>
        <p:nvSpPr>
          <p:cNvPr id="60" name="Shape 58"/>
          <p:cNvSpPr/>
          <p:nvPr/>
        </p:nvSpPr>
        <p:spPr>
          <a:xfrm>
            <a:off x="11045952" y="6108192"/>
            <a:ext cx="105156" cy="105156"/>
          </a:xfrm>
          <a:prstGeom prst="rect">
            <a:avLst/>
          </a:prstGeom>
          <a:solidFill>
            <a:srgbClr val="1B1E23"/>
          </a:solidFill>
          <a:ln/>
        </p:spPr>
      </p:sp>
      <p:sp>
        <p:nvSpPr>
          <p:cNvPr id="61" name="Shape 59"/>
          <p:cNvSpPr/>
          <p:nvPr/>
        </p:nvSpPr>
        <p:spPr>
          <a:xfrm>
            <a:off x="11219688" y="4892040"/>
            <a:ext cx="105156" cy="105156"/>
          </a:xfrm>
          <a:prstGeom prst="rect">
            <a:avLst/>
          </a:prstGeom>
          <a:solidFill>
            <a:srgbClr val="1B1E23"/>
          </a:solidFill>
          <a:ln/>
        </p:spPr>
      </p:sp>
      <p:sp>
        <p:nvSpPr>
          <p:cNvPr id="62" name="Shape 60"/>
          <p:cNvSpPr/>
          <p:nvPr/>
        </p:nvSpPr>
        <p:spPr>
          <a:xfrm>
            <a:off x="11219688" y="5065776"/>
            <a:ext cx="105156" cy="105156"/>
          </a:xfrm>
          <a:prstGeom prst="rect">
            <a:avLst/>
          </a:prstGeom>
          <a:solidFill>
            <a:srgbClr val="1B1E23"/>
          </a:solidFill>
          <a:ln/>
        </p:spPr>
      </p:sp>
      <p:sp>
        <p:nvSpPr>
          <p:cNvPr id="63" name="Shape 61"/>
          <p:cNvSpPr/>
          <p:nvPr/>
        </p:nvSpPr>
        <p:spPr>
          <a:xfrm>
            <a:off x="11219688" y="5239512"/>
            <a:ext cx="105156" cy="105156"/>
          </a:xfrm>
          <a:prstGeom prst="rect">
            <a:avLst/>
          </a:prstGeom>
          <a:solidFill>
            <a:srgbClr val="1B1E23"/>
          </a:solidFill>
          <a:ln/>
        </p:spPr>
      </p:sp>
      <p:sp>
        <p:nvSpPr>
          <p:cNvPr id="64" name="Shape 62"/>
          <p:cNvSpPr/>
          <p:nvPr/>
        </p:nvSpPr>
        <p:spPr>
          <a:xfrm>
            <a:off x="11219688" y="5413248"/>
            <a:ext cx="105156" cy="105156"/>
          </a:xfrm>
          <a:prstGeom prst="rect">
            <a:avLst/>
          </a:prstGeom>
          <a:solidFill>
            <a:srgbClr val="1B1E23"/>
          </a:solidFill>
          <a:ln/>
        </p:spPr>
      </p:sp>
      <p:sp>
        <p:nvSpPr>
          <p:cNvPr id="65" name="Shape 63"/>
          <p:cNvSpPr/>
          <p:nvPr/>
        </p:nvSpPr>
        <p:spPr>
          <a:xfrm>
            <a:off x="11219688" y="5586984"/>
            <a:ext cx="105156" cy="105156"/>
          </a:xfrm>
          <a:prstGeom prst="rect">
            <a:avLst/>
          </a:prstGeom>
          <a:solidFill>
            <a:srgbClr val="1B1E23"/>
          </a:solidFill>
          <a:ln/>
        </p:spPr>
      </p:sp>
      <p:sp>
        <p:nvSpPr>
          <p:cNvPr id="66" name="Shape 64"/>
          <p:cNvSpPr/>
          <p:nvPr/>
        </p:nvSpPr>
        <p:spPr>
          <a:xfrm>
            <a:off x="11219688" y="5760720"/>
            <a:ext cx="105156" cy="105156"/>
          </a:xfrm>
          <a:prstGeom prst="rect">
            <a:avLst/>
          </a:prstGeom>
          <a:solidFill>
            <a:srgbClr val="1B1E23"/>
          </a:solidFill>
          <a:ln/>
        </p:spPr>
      </p:sp>
      <p:sp>
        <p:nvSpPr>
          <p:cNvPr id="67" name="Shape 65"/>
          <p:cNvSpPr/>
          <p:nvPr/>
        </p:nvSpPr>
        <p:spPr>
          <a:xfrm>
            <a:off x="11219688" y="5934456"/>
            <a:ext cx="105156" cy="105156"/>
          </a:xfrm>
          <a:prstGeom prst="rect">
            <a:avLst/>
          </a:prstGeom>
          <a:solidFill>
            <a:srgbClr val="1B1E23"/>
          </a:solidFill>
          <a:ln/>
        </p:spPr>
      </p:sp>
      <p:sp>
        <p:nvSpPr>
          <p:cNvPr id="68" name="Shape 66"/>
          <p:cNvSpPr/>
          <p:nvPr/>
        </p:nvSpPr>
        <p:spPr>
          <a:xfrm>
            <a:off x="11393424" y="4892040"/>
            <a:ext cx="105156" cy="105156"/>
          </a:xfrm>
          <a:prstGeom prst="rect">
            <a:avLst/>
          </a:prstGeom>
          <a:solidFill>
            <a:srgbClr val="1B1E23"/>
          </a:solidFill>
          <a:ln/>
        </p:spPr>
      </p:sp>
      <p:sp>
        <p:nvSpPr>
          <p:cNvPr id="69" name="Shape 67"/>
          <p:cNvSpPr/>
          <p:nvPr/>
        </p:nvSpPr>
        <p:spPr>
          <a:xfrm>
            <a:off x="11393424" y="5239512"/>
            <a:ext cx="105156" cy="105156"/>
          </a:xfrm>
          <a:prstGeom prst="rect">
            <a:avLst/>
          </a:prstGeom>
          <a:solidFill>
            <a:srgbClr val="1B1E23"/>
          </a:solidFill>
          <a:ln/>
        </p:spPr>
      </p:sp>
      <p:sp>
        <p:nvSpPr>
          <p:cNvPr id="70" name="Shape 68"/>
          <p:cNvSpPr/>
          <p:nvPr/>
        </p:nvSpPr>
        <p:spPr>
          <a:xfrm>
            <a:off x="11393424" y="5413248"/>
            <a:ext cx="105156" cy="105156"/>
          </a:xfrm>
          <a:prstGeom prst="rect">
            <a:avLst/>
          </a:prstGeom>
          <a:solidFill>
            <a:srgbClr val="1B1E23"/>
          </a:solidFill>
          <a:ln/>
        </p:spPr>
      </p:sp>
      <p:sp>
        <p:nvSpPr>
          <p:cNvPr id="71" name="Shape 69"/>
          <p:cNvSpPr/>
          <p:nvPr/>
        </p:nvSpPr>
        <p:spPr>
          <a:xfrm>
            <a:off x="11393424" y="5586984"/>
            <a:ext cx="105156" cy="105156"/>
          </a:xfrm>
          <a:prstGeom prst="rect">
            <a:avLst/>
          </a:prstGeom>
          <a:solidFill>
            <a:srgbClr val="1B1E23"/>
          </a:solidFill>
          <a:ln/>
        </p:spPr>
      </p:sp>
      <p:sp>
        <p:nvSpPr>
          <p:cNvPr id="72" name="Shape 70"/>
          <p:cNvSpPr/>
          <p:nvPr/>
        </p:nvSpPr>
        <p:spPr>
          <a:xfrm>
            <a:off x="11393424" y="5760720"/>
            <a:ext cx="105156" cy="105156"/>
          </a:xfrm>
          <a:prstGeom prst="rect">
            <a:avLst/>
          </a:prstGeom>
          <a:solidFill>
            <a:srgbClr val="1B1E23"/>
          </a:solidFill>
          <a:ln/>
        </p:spPr>
      </p:sp>
      <p:sp>
        <p:nvSpPr>
          <p:cNvPr id="73" name="Shape 71"/>
          <p:cNvSpPr/>
          <p:nvPr/>
        </p:nvSpPr>
        <p:spPr>
          <a:xfrm>
            <a:off x="11393424" y="5934456"/>
            <a:ext cx="105156" cy="105156"/>
          </a:xfrm>
          <a:prstGeom prst="rect">
            <a:avLst/>
          </a:prstGeom>
          <a:solidFill>
            <a:srgbClr val="1B1E23"/>
          </a:solidFill>
          <a:ln/>
        </p:spPr>
      </p:sp>
      <p:sp>
        <p:nvSpPr>
          <p:cNvPr id="74" name="Shape 72"/>
          <p:cNvSpPr/>
          <p:nvPr/>
        </p:nvSpPr>
        <p:spPr>
          <a:xfrm>
            <a:off x="11393424" y="6108192"/>
            <a:ext cx="105156" cy="105156"/>
          </a:xfrm>
          <a:prstGeom prst="rect">
            <a:avLst/>
          </a:prstGeom>
          <a:solidFill>
            <a:srgbClr val="1B1E23"/>
          </a:solidFill>
          <a:ln/>
        </p:spPr>
      </p:sp>
      <p:sp>
        <p:nvSpPr>
          <p:cNvPr id="75" name="Shape 73"/>
          <p:cNvSpPr/>
          <p:nvPr/>
        </p:nvSpPr>
        <p:spPr>
          <a:xfrm>
            <a:off x="11567160" y="4892040"/>
            <a:ext cx="105156" cy="105156"/>
          </a:xfrm>
          <a:prstGeom prst="rect">
            <a:avLst/>
          </a:prstGeom>
          <a:solidFill>
            <a:srgbClr val="1B1E23"/>
          </a:solidFill>
          <a:ln/>
        </p:spPr>
      </p:sp>
      <p:sp>
        <p:nvSpPr>
          <p:cNvPr id="76" name="Shape 74"/>
          <p:cNvSpPr/>
          <p:nvPr/>
        </p:nvSpPr>
        <p:spPr>
          <a:xfrm>
            <a:off x="11567160" y="5065776"/>
            <a:ext cx="105156" cy="105156"/>
          </a:xfrm>
          <a:prstGeom prst="rect">
            <a:avLst/>
          </a:prstGeom>
          <a:solidFill>
            <a:srgbClr val="1B1E23"/>
          </a:solidFill>
          <a:ln/>
        </p:spPr>
      </p:sp>
      <p:sp>
        <p:nvSpPr>
          <p:cNvPr id="77" name="Shape 75"/>
          <p:cNvSpPr/>
          <p:nvPr/>
        </p:nvSpPr>
        <p:spPr>
          <a:xfrm>
            <a:off x="11567160" y="5239512"/>
            <a:ext cx="105156" cy="105156"/>
          </a:xfrm>
          <a:prstGeom prst="rect">
            <a:avLst/>
          </a:prstGeom>
          <a:solidFill>
            <a:srgbClr val="1B1E23"/>
          </a:solidFill>
          <a:ln/>
        </p:spPr>
      </p:sp>
      <p:sp>
        <p:nvSpPr>
          <p:cNvPr id="78" name="Shape 76"/>
          <p:cNvSpPr/>
          <p:nvPr/>
        </p:nvSpPr>
        <p:spPr>
          <a:xfrm>
            <a:off x="11567160" y="5413248"/>
            <a:ext cx="105156" cy="105156"/>
          </a:xfrm>
          <a:prstGeom prst="rect">
            <a:avLst/>
          </a:prstGeom>
          <a:solidFill>
            <a:srgbClr val="1B1E23"/>
          </a:solidFill>
          <a:ln/>
        </p:spPr>
      </p:sp>
      <p:sp>
        <p:nvSpPr>
          <p:cNvPr id="79" name="Shape 77"/>
          <p:cNvSpPr/>
          <p:nvPr/>
        </p:nvSpPr>
        <p:spPr>
          <a:xfrm>
            <a:off x="11567160" y="5586984"/>
            <a:ext cx="105156" cy="105156"/>
          </a:xfrm>
          <a:prstGeom prst="rect">
            <a:avLst/>
          </a:prstGeom>
          <a:solidFill>
            <a:srgbClr val="1B1E23"/>
          </a:solidFill>
          <a:ln/>
        </p:spPr>
      </p:sp>
      <p:sp>
        <p:nvSpPr>
          <p:cNvPr id="80" name="Shape 78"/>
          <p:cNvSpPr/>
          <p:nvPr/>
        </p:nvSpPr>
        <p:spPr>
          <a:xfrm>
            <a:off x="11567160" y="5760720"/>
            <a:ext cx="105156" cy="105156"/>
          </a:xfrm>
          <a:prstGeom prst="rect">
            <a:avLst/>
          </a:prstGeom>
          <a:solidFill>
            <a:srgbClr val="1B1E23"/>
          </a:solidFill>
          <a:ln/>
        </p:spPr>
      </p:sp>
      <p:sp>
        <p:nvSpPr>
          <p:cNvPr id="81" name="Shape 79"/>
          <p:cNvSpPr/>
          <p:nvPr/>
        </p:nvSpPr>
        <p:spPr>
          <a:xfrm>
            <a:off x="11567160" y="6108192"/>
            <a:ext cx="105156" cy="105156"/>
          </a:xfrm>
          <a:prstGeom prst="rect">
            <a:avLst/>
          </a:prstGeom>
          <a:solidFill>
            <a:srgbClr val="1B1E23"/>
          </a:solidFill>
          <a:ln/>
        </p:spPr>
      </p:sp>
      <p:sp>
        <p:nvSpPr>
          <p:cNvPr id="82" name="Text 80"/>
          <p:cNvSpPr txBox="1"/>
          <p:nvPr/>
        </p:nvSpPr>
        <p:spPr>
          <a:xfrm>
            <a:off x="566928" y="1417320"/>
            <a:ext cx="11027664" cy="237744"/>
          </a:xfrm>
          <a:prstGeom prst="rect">
            <a:avLst/>
          </a:prstGeom>
          <a:noFill/>
          <a:ln/>
        </p:spPr>
        <p:txBody>
          <a:bodyPr wrap="square" lIns="0" tIns="0" rIns="0" bIns="0" rtlCol="0" anchor="ctr"/>
          <a:lstStyle/>
          <a:p>
            <a:pPr indent="0" marL="0">
              <a:buNone/>
            </a:pPr>
            <a:r>
              <a:rPr lang="en-US" sz="1200" b="1" spc="240" kern="0" dirty="0">
                <a:solidFill>
                  <a:srgbClr val="EB6834"/>
                </a:solidFill>
                <a:latin typeface="Calibri" pitchFamily="34" charset="0"/>
                <a:ea typeface="Calibri" pitchFamily="34" charset="-122"/>
                <a:cs typeface="Calibri" pitchFamily="34" charset="-120"/>
              </a:rPr>
              <a:t>RESEARCH REVIEW</a:t>
            </a:r>
            <a:endParaRPr lang="en-US" sz="1200" dirty="0"/>
          </a:p>
        </p:txBody>
      </p:sp>
      <p:sp>
        <p:nvSpPr>
          <p:cNvPr id="83" name="Text 81"/>
          <p:cNvSpPr txBox="1"/>
          <p:nvPr/>
        </p:nvSpPr>
        <p:spPr>
          <a:xfrm>
            <a:off x="566928" y="1755648"/>
            <a:ext cx="11027664" cy="96012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Aisleflow</a:t>
            </a:r>
            <a:endParaRPr lang="en-US" sz="6000" dirty="0"/>
          </a:p>
        </p:txBody>
      </p:sp>
      <p:sp>
        <p:nvSpPr>
          <p:cNvPr id="84" name="Text 82"/>
          <p:cNvSpPr txBox="1"/>
          <p:nvPr/>
        </p:nvSpPr>
        <p:spPr>
          <a:xfrm>
            <a:off x="566928" y="2743200"/>
            <a:ext cx="7939918" cy="402336"/>
          </a:xfrm>
          <a:prstGeom prst="rect">
            <a:avLst/>
          </a:prstGeom>
          <a:noFill/>
          <a:ln/>
        </p:spPr>
        <p:txBody>
          <a:bodyPr wrap="square" lIns="0" tIns="0" rIns="0" bIns="0" rtlCol="0" anchor="ctr"/>
          <a:lstStyle/>
          <a:p>
            <a:pPr indent="0" marL="0">
              <a:buNone/>
            </a:pPr>
            <a:r>
              <a:rPr lang="en-US" sz="2000" dirty="0">
                <a:solidFill>
                  <a:srgbClr val="E8E7E3"/>
                </a:solidFill>
                <a:latin typeface="Arial" pitchFamily="34" charset="0"/>
                <a:ea typeface="Arial" pitchFamily="34" charset="-122"/>
                <a:cs typeface="Arial" pitchFamily="34" charset="-120"/>
              </a:rPr>
              <a:t>Lifelong fleet coordination for warehouse pick-and-deliver</a:t>
            </a:r>
            <a:endParaRPr lang="en-US" sz="2000" dirty="0"/>
          </a:p>
        </p:txBody>
      </p:sp>
      <p:sp>
        <p:nvSpPr>
          <p:cNvPr id="85" name="Text 83"/>
          <p:cNvSpPr txBox="1"/>
          <p:nvPr/>
        </p:nvSpPr>
        <p:spPr>
          <a:xfrm>
            <a:off x="566928" y="3291840"/>
            <a:ext cx="6396045" cy="822960"/>
          </a:xfrm>
          <a:prstGeom prst="rect">
            <a:avLst/>
          </a:prstGeom>
          <a:noFill/>
          <a:ln/>
        </p:spPr>
        <p:txBody>
          <a:bodyPr wrap="square" lIns="0" tIns="0" rIns="0" bIns="0" rtlCol="0" anchor="ctr"/>
          <a:lstStyle/>
          <a:p>
            <a:pPr indent="0" marL="0">
              <a:lnSpc>
                <a:spcPct val="116000"/>
              </a:lnSpc>
              <a:buNone/>
            </a:pPr>
            <a:r>
              <a:rPr lang="en-US" sz="1400" dirty="0">
                <a:solidFill>
                  <a:srgbClr val="9B9992"/>
                </a:solidFill>
                <a:latin typeface="Calibri" pitchFamily="34" charset="0"/>
                <a:ea typeface="Calibri" pitchFamily="34" charset="-122"/>
                <a:cs typeface="Calibri" pitchFamily="34" charset="-120"/>
              </a:rPr>
              <a:t>Dozens of robots on one grid, jobs arriving continuously and never stopping, no collisions — and the question of how much of a floor's capacity a planner can actually reach.</a:t>
            </a:r>
            <a:endParaRPr lang="en-US" sz="1400" dirty="0"/>
          </a:p>
        </p:txBody>
      </p:sp>
      <p:sp>
        <p:nvSpPr>
          <p:cNvPr id="86" name="Text 84"/>
          <p:cNvSpPr txBox="1"/>
          <p:nvPr/>
        </p:nvSpPr>
        <p:spPr>
          <a:xfrm>
            <a:off x="566928" y="4480560"/>
            <a:ext cx="1463040" cy="256032"/>
          </a:xfrm>
          <a:prstGeom prst="rect">
            <a:avLst/>
          </a:prstGeom>
          <a:noFill/>
          <a:ln/>
        </p:spPr>
        <p:txBody>
          <a:bodyPr wrap="square" lIns="0" tIns="0" rIns="0" bIns="0" rtlCol="0" anchor="ctr"/>
          <a:lstStyle/>
          <a:p>
            <a:pPr indent="0" marL="0">
              <a:buNone/>
            </a:pPr>
            <a:r>
              <a:rPr lang="en-US" sz="1100" b="1" dirty="0">
                <a:solidFill>
                  <a:srgbClr val="EB6834"/>
                </a:solidFill>
                <a:latin typeface="Calibri" pitchFamily="34" charset="0"/>
                <a:ea typeface="Calibri" pitchFamily="34" charset="-122"/>
                <a:cs typeface="Calibri" pitchFamily="34" charset="-120"/>
              </a:rPr>
              <a:t>Measured against</a:t>
            </a:r>
            <a:endParaRPr lang="en-US" sz="1100" dirty="0"/>
          </a:p>
        </p:txBody>
      </p:sp>
      <p:sp>
        <p:nvSpPr>
          <p:cNvPr id="87" name="Text 85"/>
          <p:cNvSpPr txBox="1"/>
          <p:nvPr/>
        </p:nvSpPr>
        <p:spPr>
          <a:xfrm>
            <a:off x="2121408" y="4480560"/>
            <a:ext cx="7918704" cy="256032"/>
          </a:xfrm>
          <a:prstGeom prst="rect">
            <a:avLst/>
          </a:prstGeom>
          <a:noFill/>
          <a:ln/>
        </p:spPr>
        <p:txBody>
          <a:bodyPr wrap="square" lIns="0" tIns="0" rIns="0" bIns="0" rtlCol="0" anchor="ctr"/>
          <a:lstStyle/>
          <a:p>
            <a:pPr indent="0" marL="0">
              <a:buNone/>
            </a:pPr>
            <a:r>
              <a:rPr lang="en-US" sz="1100" dirty="0">
                <a:solidFill>
                  <a:srgbClr val="9B9992"/>
                </a:solidFill>
                <a:latin typeface="Calibri" pitchFamily="34" charset="0"/>
                <a:ea typeface="Calibri" pitchFamily="34" charset="-122"/>
                <a:cs typeface="Calibri" pitchFamily="34" charset="-120"/>
              </a:rPr>
              <a:t>Token Passing, TP + task swaps and RHCR, each implemented from its paper</a:t>
            </a:r>
            <a:endParaRPr lang="en-US" sz="1100" dirty="0"/>
          </a:p>
        </p:txBody>
      </p:sp>
      <p:sp>
        <p:nvSpPr>
          <p:cNvPr id="88" name="Text 86"/>
          <p:cNvSpPr txBox="1"/>
          <p:nvPr/>
        </p:nvSpPr>
        <p:spPr>
          <a:xfrm>
            <a:off x="566928" y="4791456"/>
            <a:ext cx="1463040" cy="256032"/>
          </a:xfrm>
          <a:prstGeom prst="rect">
            <a:avLst/>
          </a:prstGeom>
          <a:noFill/>
          <a:ln/>
        </p:spPr>
        <p:txBody>
          <a:bodyPr wrap="square" lIns="0" tIns="0" rIns="0" bIns="0" rtlCol="0" anchor="ctr"/>
          <a:lstStyle/>
          <a:p>
            <a:pPr indent="0" marL="0">
              <a:buNone/>
            </a:pPr>
            <a:r>
              <a:rPr lang="en-US" sz="1100" b="1" dirty="0">
                <a:solidFill>
                  <a:srgbClr val="EB6834"/>
                </a:solidFill>
                <a:latin typeface="Calibri" pitchFamily="34" charset="0"/>
                <a:ea typeface="Calibri" pitchFamily="34" charset="-122"/>
                <a:cs typeface="Calibri" pitchFamily="34" charset="-120"/>
              </a:rPr>
              <a:t>Design</a:t>
            </a:r>
            <a:endParaRPr lang="en-US" sz="1100" dirty="0"/>
          </a:p>
        </p:txBody>
      </p:sp>
      <p:sp>
        <p:nvSpPr>
          <p:cNvPr id="89" name="Text 87"/>
          <p:cNvSpPr txBox="1"/>
          <p:nvPr/>
        </p:nvSpPr>
        <p:spPr>
          <a:xfrm>
            <a:off x="2121408" y="4791456"/>
            <a:ext cx="7918704" cy="256032"/>
          </a:xfrm>
          <a:prstGeom prst="rect">
            <a:avLst/>
          </a:prstGeom>
          <a:noFill/>
          <a:ln/>
        </p:spPr>
        <p:txBody>
          <a:bodyPr wrap="square" lIns="0" tIns="0" rIns="0" bIns="0" rtlCol="0" anchor="ctr"/>
          <a:lstStyle/>
          <a:p>
            <a:pPr indent="0" marL="0">
              <a:buNone/>
            </a:pPr>
            <a:r>
              <a:rPr lang="en-US" sz="1100" dirty="0">
                <a:solidFill>
                  <a:srgbClr val="9B9992"/>
                </a:solidFill>
                <a:latin typeface="Calibri" pitchFamily="34" charset="0"/>
                <a:ea typeface="Calibri" pitchFamily="34" charset="-122"/>
                <a:cs typeface="Calibri" pitchFamily="34" charset="-120"/>
              </a:rPr>
              <a:t>5 seeds × 400 timesteps, Poisson arrivals, identical job streams</a:t>
            </a:r>
            <a:endParaRPr lang="en-US" sz="1100" dirty="0"/>
          </a:p>
        </p:txBody>
      </p:sp>
      <p:sp>
        <p:nvSpPr>
          <p:cNvPr id="90" name="Text 88"/>
          <p:cNvSpPr txBox="1"/>
          <p:nvPr/>
        </p:nvSpPr>
        <p:spPr>
          <a:xfrm>
            <a:off x="566928" y="5102352"/>
            <a:ext cx="1463040" cy="256032"/>
          </a:xfrm>
          <a:prstGeom prst="rect">
            <a:avLst/>
          </a:prstGeom>
          <a:noFill/>
          <a:ln/>
        </p:spPr>
        <p:txBody>
          <a:bodyPr wrap="square" lIns="0" tIns="0" rIns="0" bIns="0" rtlCol="0" anchor="ctr"/>
          <a:lstStyle/>
          <a:p>
            <a:pPr indent="0" marL="0">
              <a:buNone/>
            </a:pPr>
            <a:r>
              <a:rPr lang="en-US" sz="1100" b="1" dirty="0">
                <a:solidFill>
                  <a:srgbClr val="EB6834"/>
                </a:solidFill>
                <a:latin typeface="Calibri" pitchFamily="34" charset="0"/>
                <a:ea typeface="Calibri" pitchFamily="34" charset="-122"/>
                <a:cs typeface="Calibri" pitchFamily="34" charset="-120"/>
              </a:rPr>
              <a:t>Provenance</a:t>
            </a:r>
            <a:endParaRPr lang="en-US" sz="1100" dirty="0"/>
          </a:p>
        </p:txBody>
      </p:sp>
      <p:sp>
        <p:nvSpPr>
          <p:cNvPr id="91" name="Text 89"/>
          <p:cNvSpPr txBox="1"/>
          <p:nvPr/>
        </p:nvSpPr>
        <p:spPr>
          <a:xfrm>
            <a:off x="2121408" y="5102352"/>
            <a:ext cx="7918704" cy="256032"/>
          </a:xfrm>
          <a:prstGeom prst="rect">
            <a:avLst/>
          </a:prstGeom>
          <a:noFill/>
          <a:ln/>
        </p:spPr>
        <p:txBody>
          <a:bodyPr wrap="square" lIns="0" tIns="0" rIns="0" bIns="0" rtlCol="0" anchor="ctr"/>
          <a:lstStyle/>
          <a:p>
            <a:pPr indent="0" marL="0">
              <a:buNone/>
            </a:pPr>
            <a:r>
              <a:rPr lang="en-US" sz="1100" dirty="0">
                <a:solidFill>
                  <a:srgbClr val="9B9992"/>
                </a:solidFill>
                <a:latin typeface="Calibri" pitchFamily="34" charset="0"/>
                <a:ea typeface="Calibri" pitchFamily="34" charset="-122"/>
                <a:cs typeface="Calibri" pitchFamily="34" charset="-120"/>
              </a:rPr>
              <a:t>aisleflow @ ef0910e, dataset generated 2026-09-01T10:17:31Z</a:t>
            </a:r>
            <a:endParaRPr lang="en-US" sz="1100" dirty="0"/>
          </a:p>
        </p:txBody>
      </p:sp>
      <p:sp>
        <p:nvSpPr>
          <p:cNvPr id="92" name="Text 90"/>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9B9992"/>
                </a:solidFill>
                <a:latin typeface="Calibri" pitchFamily="34" charset="0"/>
                <a:ea typeface="Calibri" pitchFamily="34" charset="-122"/>
                <a:cs typeface="Calibri" pitchFamily="34" charset="-120"/>
              </a:rPr>
              <a:t>1</a:t>
            </a:r>
            <a:endParaRPr lang="en-US" sz="1000" dirty="0"/>
          </a:p>
        </p:txBody>
      </p:sp>
      <p:sp>
        <p:nvSpPr>
          <p:cNvPr id="93" name="Text 91"/>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9B9992"/>
                </a:solidFill>
                <a:latin typeface="Calibri" pitchFamily="34" charset="0"/>
                <a:ea typeface="Calibri" pitchFamily="34" charset="-122"/>
                <a:cs typeface="Calibri" pitchFamily="34" charset="-120"/>
              </a:rPr>
              <a:t>aisleflow · research review · @ef0910e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Competitive on throughput. Dominant on compute.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Four floors, three published planners, five experiment suites. Every run collision-free, before and after.</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10512"/>
            <a:ext cx="2592324" cy="2057400"/>
          </a:xfrm>
          <a:prstGeom prst="roundRect">
            <a:avLst>
              <a:gd name="adj" fmla="val 2667"/>
            </a:avLst>
          </a:prstGeom>
          <a:solidFill>
            <a:srgbClr val="F2F1EC"/>
          </a:solidFill>
          <a:ln/>
        </p:spPr>
      </p:sp>
      <p:sp>
        <p:nvSpPr>
          <p:cNvPr id="8" name="Text 6"/>
          <p:cNvSpPr txBox="1"/>
          <p:nvPr/>
        </p:nvSpPr>
        <p:spPr>
          <a:xfrm>
            <a:off x="768096" y="1956816"/>
            <a:ext cx="2189988" cy="749808"/>
          </a:xfrm>
          <a:prstGeom prst="rect">
            <a:avLst/>
          </a:prstGeom>
          <a:noFill/>
          <a:ln/>
        </p:spPr>
        <p:txBody>
          <a:bodyPr wrap="square" lIns="0" tIns="0" rIns="0" bIns="0" rtlCol="0" anchor="ctr"/>
          <a:lstStyle/>
          <a:p>
            <a:pPr algn="l" indent="0" marL="0">
              <a:buNone/>
            </a:pPr>
            <a:r>
              <a:rPr lang="en-US" sz="3800" b="1" dirty="0">
                <a:solidFill>
                  <a:srgbClr val="2A78D6"/>
                </a:solidFill>
                <a:latin typeface="Arial" pitchFamily="34" charset="0"/>
                <a:ea typeface="Arial" pitchFamily="34" charset="-122"/>
                <a:cs typeface="Arial" pitchFamily="34" charset="-120"/>
              </a:rPr>
              <a:t>147</a:t>
            </a:r>
            <a:endParaRPr lang="en-US" sz="3800" dirty="0"/>
          </a:p>
        </p:txBody>
      </p:sp>
      <p:sp>
        <p:nvSpPr>
          <p:cNvPr id="9" name="Text 7"/>
          <p:cNvSpPr txBox="1"/>
          <p:nvPr/>
        </p:nvSpPr>
        <p:spPr>
          <a:xfrm>
            <a:off x="768096" y="2724912"/>
            <a:ext cx="2189988" cy="1033272"/>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tasks per 1000 steps on the chokepoint floor — +47% over RHCR, with no interval overlap</a:t>
            </a:r>
            <a:endParaRPr lang="en-US" sz="1200" dirty="0"/>
          </a:p>
        </p:txBody>
      </p:sp>
      <p:sp>
        <p:nvSpPr>
          <p:cNvPr id="10" name="Shape 8"/>
          <p:cNvSpPr/>
          <p:nvPr/>
        </p:nvSpPr>
        <p:spPr>
          <a:xfrm>
            <a:off x="3378708" y="1810512"/>
            <a:ext cx="2592324" cy="2057400"/>
          </a:xfrm>
          <a:prstGeom prst="roundRect">
            <a:avLst>
              <a:gd name="adj" fmla="val 2667"/>
            </a:avLst>
          </a:prstGeom>
          <a:solidFill>
            <a:srgbClr val="F2F1EC"/>
          </a:solidFill>
          <a:ln/>
        </p:spPr>
      </p:sp>
      <p:sp>
        <p:nvSpPr>
          <p:cNvPr id="11" name="Text 9"/>
          <p:cNvSpPr txBox="1"/>
          <p:nvPr/>
        </p:nvSpPr>
        <p:spPr>
          <a:xfrm>
            <a:off x="3579876" y="1956816"/>
            <a:ext cx="2189988" cy="749808"/>
          </a:xfrm>
          <a:prstGeom prst="rect">
            <a:avLst/>
          </a:prstGeom>
          <a:noFill/>
          <a:ln/>
        </p:spPr>
        <p:txBody>
          <a:bodyPr wrap="square" lIns="0" tIns="0" rIns="0" bIns="0" rtlCol="0" anchor="ctr"/>
          <a:lstStyle/>
          <a:p>
            <a:pPr algn="l" indent="0" marL="0">
              <a:buNone/>
            </a:pPr>
            <a:r>
              <a:rPr lang="en-US" sz="3800" b="1" dirty="0">
                <a:solidFill>
                  <a:srgbClr val="EB6834"/>
                </a:solidFill>
                <a:latin typeface="Arial" pitchFamily="34" charset="0"/>
                <a:ea typeface="Arial" pitchFamily="34" charset="-122"/>
                <a:cs typeface="Arial" pitchFamily="34" charset="-120"/>
              </a:rPr>
              <a:t>17–367×</a:t>
            </a:r>
            <a:endParaRPr lang="en-US" sz="3800" dirty="0"/>
          </a:p>
        </p:txBody>
      </p:sp>
      <p:sp>
        <p:nvSpPr>
          <p:cNvPr id="12" name="Text 10"/>
          <p:cNvSpPr txBox="1"/>
          <p:nvPr/>
        </p:nvSpPr>
        <p:spPr>
          <a:xfrm>
            <a:off x="3579876" y="2724912"/>
            <a:ext cx="2189988" cy="1033272"/>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less planner compute than the published baselines, measured in the same runtime on the same scenarios</a:t>
            </a:r>
            <a:endParaRPr lang="en-US" sz="1200" dirty="0"/>
          </a:p>
        </p:txBody>
      </p:sp>
      <p:sp>
        <p:nvSpPr>
          <p:cNvPr id="13" name="Shape 11"/>
          <p:cNvSpPr/>
          <p:nvPr/>
        </p:nvSpPr>
        <p:spPr>
          <a:xfrm>
            <a:off x="6190488" y="1810512"/>
            <a:ext cx="2592324" cy="2057400"/>
          </a:xfrm>
          <a:prstGeom prst="roundRect">
            <a:avLst>
              <a:gd name="adj" fmla="val 2667"/>
            </a:avLst>
          </a:prstGeom>
          <a:solidFill>
            <a:srgbClr val="F2F1EC"/>
          </a:solidFill>
          <a:ln/>
        </p:spPr>
      </p:sp>
      <p:sp>
        <p:nvSpPr>
          <p:cNvPr id="14" name="Text 12"/>
          <p:cNvSpPr txBox="1"/>
          <p:nvPr/>
        </p:nvSpPr>
        <p:spPr>
          <a:xfrm>
            <a:off x="6391656" y="1956816"/>
            <a:ext cx="2189988" cy="749808"/>
          </a:xfrm>
          <a:prstGeom prst="rect">
            <a:avLst/>
          </a:prstGeom>
          <a:noFill/>
          <a:ln/>
        </p:spPr>
        <p:txBody>
          <a:bodyPr wrap="square" lIns="0" tIns="0" rIns="0" bIns="0" rtlCol="0" anchor="ctr"/>
          <a:lstStyle/>
          <a:p>
            <a:pPr algn="l" indent="0" marL="0">
              <a:buNone/>
            </a:pPr>
            <a:r>
              <a:rPr lang="en-US" sz="3800" b="1" dirty="0">
                <a:solidFill>
                  <a:srgbClr val="EB6834"/>
                </a:solidFill>
                <a:latin typeface="Arial" pitchFamily="34" charset="0"/>
                <a:ea typeface="Arial" pitchFamily="34" charset="-122"/>
                <a:cs typeface="Arial" pitchFamily="34" charset="-120"/>
              </a:rPr>
              <a:t>0</a:t>
            </a:r>
            <a:endParaRPr lang="en-US" sz="3800" dirty="0"/>
          </a:p>
        </p:txBody>
      </p:sp>
      <p:sp>
        <p:nvSpPr>
          <p:cNvPr id="15" name="Text 13"/>
          <p:cNvSpPr txBox="1"/>
          <p:nvPr/>
        </p:nvSpPr>
        <p:spPr>
          <a:xfrm>
            <a:off x="6391656" y="2724912"/>
            <a:ext cx="2189988" cy="1033272"/>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extra tasks from doubling the fleet on corridors — 20 robots delivered exactly what 40 did</a:t>
            </a:r>
            <a:endParaRPr lang="en-US" sz="1200" dirty="0"/>
          </a:p>
        </p:txBody>
      </p:sp>
      <p:sp>
        <p:nvSpPr>
          <p:cNvPr id="16" name="Shape 14"/>
          <p:cNvSpPr/>
          <p:nvPr/>
        </p:nvSpPr>
        <p:spPr>
          <a:xfrm>
            <a:off x="9002268" y="1810512"/>
            <a:ext cx="2592324" cy="2057400"/>
          </a:xfrm>
          <a:prstGeom prst="roundRect">
            <a:avLst>
              <a:gd name="adj" fmla="val 2667"/>
            </a:avLst>
          </a:prstGeom>
          <a:solidFill>
            <a:srgbClr val="F2F1EC"/>
          </a:solidFill>
          <a:ln/>
        </p:spPr>
      </p:sp>
      <p:sp>
        <p:nvSpPr>
          <p:cNvPr id="17" name="Text 15"/>
          <p:cNvSpPr txBox="1"/>
          <p:nvPr/>
        </p:nvSpPr>
        <p:spPr>
          <a:xfrm>
            <a:off x="9203436" y="1956816"/>
            <a:ext cx="2189988" cy="749808"/>
          </a:xfrm>
          <a:prstGeom prst="rect">
            <a:avLst/>
          </a:prstGeom>
          <a:noFill/>
          <a:ln/>
        </p:spPr>
        <p:txBody>
          <a:bodyPr wrap="square" lIns="0" tIns="0" rIns="0" bIns="0" rtlCol="0" anchor="ctr"/>
          <a:lstStyle/>
          <a:p>
            <a:pPr algn="l" indent="0" marL="0">
              <a:buNone/>
            </a:pPr>
            <a:r>
              <a:rPr lang="en-US" sz="3800" b="1" dirty="0">
                <a:solidFill>
                  <a:srgbClr val="2A78D6"/>
                </a:solidFill>
                <a:latin typeface="Arial" pitchFamily="34" charset="0"/>
                <a:ea typeface="Arial" pitchFamily="34" charset="-122"/>
                <a:cs typeface="Arial" pitchFamily="34" charset="-120"/>
              </a:rPr>
              <a:t>4 of 4</a:t>
            </a:r>
            <a:endParaRPr lang="en-US" sz="3800" dirty="0"/>
          </a:p>
        </p:txBody>
      </p:sp>
      <p:sp>
        <p:nvSpPr>
          <p:cNvPr id="18" name="Text 16"/>
          <p:cNvSpPr txBox="1"/>
          <p:nvPr/>
        </p:nvSpPr>
        <p:spPr>
          <a:xfrm>
            <a:off x="9203436" y="2724912"/>
            <a:ext cx="2189988" cy="1033272"/>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floors where an aisleflow configuration leads every published planner — decisively on two, inside the intervals on two</a:t>
            </a:r>
            <a:endParaRPr lang="en-US" sz="1200" dirty="0"/>
          </a:p>
        </p:txBody>
      </p:sp>
      <p:sp>
        <p:nvSpPr>
          <p:cNvPr id="19" name="Shape 17"/>
          <p:cNvSpPr/>
          <p:nvPr/>
        </p:nvSpPr>
        <p:spPr>
          <a:xfrm>
            <a:off x="566928" y="4096512"/>
            <a:ext cx="11027664" cy="1115568"/>
          </a:xfrm>
          <a:prstGeom prst="roundRect">
            <a:avLst>
              <a:gd name="adj" fmla="val 4098"/>
            </a:avLst>
          </a:prstGeom>
          <a:solidFill>
            <a:srgbClr val="0F1113"/>
          </a:solidFill>
          <a:ln/>
        </p:spPr>
      </p:sp>
      <p:sp>
        <p:nvSpPr>
          <p:cNvPr id="20" name="Text 18"/>
          <p:cNvSpPr txBox="1"/>
          <p:nvPr/>
        </p:nvSpPr>
        <p:spPr>
          <a:xfrm>
            <a:off x="804672" y="4224528"/>
            <a:ext cx="10552176" cy="859536"/>
          </a:xfrm>
          <a:prstGeom prst="rect">
            <a:avLst/>
          </a:prstGeom>
          <a:noFill/>
          <a:ln/>
        </p:spPr>
        <p:txBody>
          <a:bodyPr wrap="square" lIns="0" tIns="0" rIns="0" bIns="0" rtlCol="0" anchor="ctr"/>
          <a:lstStyle/>
          <a:p>
            <a:pPr indent="0" marL="0">
              <a:lnSpc>
                <a:spcPct val="112000"/>
              </a:lnSpc>
              <a:buNone/>
            </a:pPr>
            <a:r>
              <a:rPr lang="en-US" sz="1400" dirty="0">
                <a:solidFill>
                  <a:srgbClr val="E8E7E3"/>
                </a:solidFill>
                <a:latin typeface="Calibri" pitchFamily="34" charset="0"/>
                <a:ea typeface="Calibri" pitchFamily="34" charset="-122"/>
                <a:cs typeface="Calibri" pitchFamily="34" charset="-120"/>
              </a:rPr>
              <a:t>What we conclude: the planner is competitive on throughput and in a different class on compute. Its own additions are congestion machinery — they pay on floors where a chokepoint binds, and cost throughput where there is a way round. That makes configuration-per-floor the product, and auto-configuration the next thing worth building.</a:t>
            </a:r>
            <a:endParaRPr lang="en-US" sz="1400" dirty="0"/>
          </a:p>
        </p:txBody>
      </p:sp>
      <p:sp>
        <p:nvSpPr>
          <p:cNvPr id="21" name="Text 19"/>
          <p:cNvSpPr txBox="1"/>
          <p:nvPr/>
        </p:nvSpPr>
        <p:spPr>
          <a:xfrm>
            <a:off x="566928" y="5330952"/>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Throughput figures are tasks delivered per 1000 timesteps, 5 seeds × 400 steps, identical job streams across planners.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Throughput is not a robot property. It is a floor property.</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Lifelong multi-agent pickup and delivery: there is no final state to reach, only a rate of work to sustain.</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Text 5"/>
          <p:cNvSpPr txBox="1"/>
          <p:nvPr/>
        </p:nvSpPr>
        <p:spPr>
          <a:xfrm>
            <a:off x="566928" y="1810512"/>
            <a:ext cx="5029200" cy="256032"/>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What the planner decides, every timestep</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5029200" cy="914400"/>
        </p:xfrm>
        <a:graphic>
          <a:graphicData uri="http://schemas.openxmlformats.org/drawingml/2006/table">
            <a:tbl>
              <a:tblPr/>
              <a:tblGrid>
                <a:gridCol w="1371600"/>
                <a:gridCol w="3657600"/>
              </a:tblGrid>
              <a:tr h="420624">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Decision</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The question it answers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420624">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Assignment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Which robot takes which job?</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20624">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Route</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Which way should this robot go?</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20624">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Priority</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If two robots want the same cell, who gets it?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20624">
                <a:tc>
                  <a:txBody>
                    <a:bodyPr/>
                    <a:lstStyle/>
                    <a:p>
                      <a:pPr algn="l" indent="0" marL="0">
                        <a:buNone/>
                      </a:pPr>
                      <a:r>
                        <a:rPr lang="en-US" sz="1150" b="1" dirty="0">
                          <a:solidFill>
                            <a:srgbClr val="2A78D6"/>
                          </a:solidFill>
                          <a:latin typeface="Calibri" pitchFamily="34" charset="0"/>
                          <a:ea typeface="Calibri" pitchFamily="34" charset="-122"/>
                          <a:cs typeface="Calibri" pitchFamily="34" charset="-120"/>
                        </a:rPr>
                        <a:t>Movement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2A78D6"/>
                          </a:solidFill>
                          <a:latin typeface="Calibri" pitchFamily="34" charset="0"/>
                          <a:ea typeface="Calibri" pitchFamily="34" charset="-122"/>
                          <a:cs typeface="Calibri" pitchFamily="34" charset="-120"/>
                        </a:rPr>
                        <a:t>Which neighbouring cell does each robot actually move into?</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9" name="Text 6"/>
          <p:cNvSpPr txBox="1"/>
          <p:nvPr/>
        </p:nvSpPr>
        <p:spPr>
          <a:xfrm>
            <a:off x="566928" y="4297680"/>
            <a:ext cx="5029200" cy="365760"/>
          </a:xfrm>
          <a:prstGeom prst="rect">
            <a:avLst/>
          </a:prstGeom>
          <a:noFill/>
          <a:ln/>
        </p:spPr>
        <p:txBody>
          <a:bodyPr wrap="square" lIns="0" tIns="0" rIns="0" bIns="0" rtlCol="0" anchor="ctr"/>
          <a:lstStyle/>
          <a:p>
            <a:pPr indent="0" marL="0">
              <a:buNone/>
            </a:pPr>
            <a:r>
              <a:rPr lang="en-US" sz="1150" i="1" dirty="0">
                <a:solidFill>
                  <a:srgbClr val="2A78D6"/>
                </a:solidFill>
                <a:latin typeface="Calibri" pitchFamily="34" charset="0"/>
                <a:ea typeface="Calibri" pitchFamily="34" charset="-122"/>
                <a:cs typeface="Calibri" pitchFamily="34" charset="-120"/>
              </a:rPr>
              <a:t>The first three are advisory. Only the fourth is binding, and only the fourth guarantees no collisions.</a:t>
            </a:r>
            <a:endParaRPr lang="en-US" sz="1150" dirty="0"/>
          </a:p>
        </p:txBody>
      </p:sp>
      <p:sp>
        <p:nvSpPr>
          <p:cNvPr id="10" name="Shape 7"/>
          <p:cNvSpPr/>
          <p:nvPr/>
        </p:nvSpPr>
        <p:spPr>
          <a:xfrm>
            <a:off x="6236208" y="1810512"/>
            <a:ext cx="329184" cy="329184"/>
          </a:xfrm>
          <a:prstGeom prst="ellipse">
            <a:avLst/>
          </a:prstGeom>
          <a:solidFill>
            <a:srgbClr val="EB6834"/>
          </a:solidFill>
          <a:ln/>
        </p:spPr>
      </p:sp>
      <p:sp>
        <p:nvSpPr>
          <p:cNvPr id="11" name="Text 8"/>
          <p:cNvSpPr txBox="1"/>
          <p:nvPr/>
        </p:nvSpPr>
        <p:spPr>
          <a:xfrm>
            <a:off x="6236208" y="1810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Text 9"/>
          <p:cNvSpPr txBox="1"/>
          <p:nvPr/>
        </p:nvSpPr>
        <p:spPr>
          <a:xfrm>
            <a:off x="6711696" y="1792224"/>
            <a:ext cx="4882896" cy="1042416"/>
          </a:xfrm>
          <a:prstGeom prst="rect">
            <a:avLst/>
          </a:prstGeom>
          <a:noFill/>
          <a:ln/>
        </p:spPr>
        <p:txBody>
          <a:bodyPr wrap="square" lIns="0" tIns="0" rIns="0" bIns="0" rtlCol="0" anchor="t"/>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Lifelong, not a puzzle.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New jobs arrive continuously and never stop. There is no goal state to reach, which is what separates this from classical path finding.</a:t>
            </a:r>
            <a:endParaRPr lang="en-US" sz="1300" dirty="0"/>
          </a:p>
        </p:txBody>
      </p:sp>
      <p:sp>
        <p:nvSpPr>
          <p:cNvPr id="13" name="Shape 10"/>
          <p:cNvSpPr/>
          <p:nvPr/>
        </p:nvSpPr>
        <p:spPr>
          <a:xfrm>
            <a:off x="6236208" y="2944368"/>
            <a:ext cx="329184" cy="329184"/>
          </a:xfrm>
          <a:prstGeom prst="ellipse">
            <a:avLst/>
          </a:prstGeom>
          <a:solidFill>
            <a:srgbClr val="EB6834"/>
          </a:solidFill>
          <a:ln/>
        </p:spPr>
      </p:sp>
      <p:sp>
        <p:nvSpPr>
          <p:cNvPr id="14" name="Text 11"/>
          <p:cNvSpPr txBox="1"/>
          <p:nvPr/>
        </p:nvSpPr>
        <p:spPr>
          <a:xfrm>
            <a:off x="6236208" y="29443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Text 12"/>
          <p:cNvSpPr txBox="1"/>
          <p:nvPr/>
        </p:nvSpPr>
        <p:spPr>
          <a:xfrm>
            <a:off x="6711696" y="2926080"/>
            <a:ext cx="4882896" cy="1042416"/>
          </a:xfrm>
          <a:prstGeom prst="rect">
            <a:avLst/>
          </a:prstGeom>
          <a:noFill/>
          <a:ln/>
        </p:spPr>
        <p:txBody>
          <a:bodyPr wrap="square" lIns="0" tIns="0" rIns="0" bIns="0" rtlCol="0" anchor="t"/>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The hard part is not the path.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One robot's shortest path is easy. Every robot's path is in every other robot's way, and an aisle one cell wide cannot let two robots pass.</a:t>
            </a:r>
            <a:endParaRPr lang="en-US" sz="1300" dirty="0"/>
          </a:p>
        </p:txBody>
      </p:sp>
      <p:sp>
        <p:nvSpPr>
          <p:cNvPr id="16" name="Shape 13"/>
          <p:cNvSpPr/>
          <p:nvPr/>
        </p:nvSpPr>
        <p:spPr>
          <a:xfrm>
            <a:off x="6236208" y="4078224"/>
            <a:ext cx="329184" cy="329184"/>
          </a:xfrm>
          <a:prstGeom prst="ellipse">
            <a:avLst/>
          </a:prstGeom>
          <a:solidFill>
            <a:srgbClr val="EB6834"/>
          </a:solidFill>
          <a:ln/>
        </p:spPr>
      </p:sp>
      <p:sp>
        <p:nvSpPr>
          <p:cNvPr id="17" name="Text 14"/>
          <p:cNvSpPr txBox="1"/>
          <p:nvPr/>
        </p:nvSpPr>
        <p:spPr>
          <a:xfrm>
            <a:off x="6236208" y="40782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6711696" y="4059936"/>
            <a:ext cx="4882896" cy="1042416"/>
          </a:xfrm>
          <a:prstGeom prst="rect">
            <a:avLst/>
          </a:prstGeom>
          <a:noFill/>
          <a:ln/>
        </p:spPr>
        <p:txBody>
          <a:bodyPr wrap="square" lIns="0" tIns="0" rIns="0" bIns="0" rtlCol="0" anchor="t"/>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Capacity, not speed.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Two robots must never share a cell and never swap places. Beyond that, everything is throughput: how many jobs finish per timestep.</a:t>
            </a:r>
            <a:endParaRPr lang="en-US" sz="1300" dirty="0"/>
          </a:p>
        </p:txBody>
      </p:sp>
      <p:sp>
        <p:nvSpPr>
          <p:cNvPr id="19" name="Shape 16"/>
          <p:cNvSpPr/>
          <p:nvPr/>
        </p:nvSpPr>
        <p:spPr>
          <a:xfrm>
            <a:off x="566928" y="5394960"/>
            <a:ext cx="11027664" cy="658368"/>
          </a:xfrm>
          <a:prstGeom prst="roundRect">
            <a:avLst>
              <a:gd name="adj" fmla="val 6944"/>
            </a:avLst>
          </a:prstGeom>
          <a:solidFill>
            <a:srgbClr val="0F1113"/>
          </a:solidFill>
          <a:ln/>
        </p:spPr>
      </p:sp>
      <p:sp>
        <p:nvSpPr>
          <p:cNvPr id="20" name="Text 17"/>
          <p:cNvSpPr txBox="1"/>
          <p:nvPr/>
        </p:nvSpPr>
        <p:spPr>
          <a:xfrm>
            <a:off x="804672" y="5522976"/>
            <a:ext cx="10552176" cy="402336"/>
          </a:xfrm>
          <a:prstGeom prst="rect">
            <a:avLst/>
          </a:prstGeom>
          <a:noFill/>
          <a:ln/>
        </p:spPr>
        <p:txBody>
          <a:bodyPr wrap="square" lIns="0" tIns="0" rIns="0" bIns="0" rtlCol="0" anchor="ctr"/>
          <a:lstStyle/>
          <a:p>
            <a:pPr indent="0" marL="0">
              <a:lnSpc>
                <a:spcPct val="112000"/>
              </a:lnSpc>
              <a:buNone/>
            </a:pPr>
            <a:r>
              <a:rPr lang="en-US" sz="1300" dirty="0">
                <a:solidFill>
                  <a:srgbClr val="E8E7E3"/>
                </a:solidFill>
                <a:latin typeface="Calibri" pitchFamily="34" charset="0"/>
                <a:ea typeface="Calibri" pitchFamily="34" charset="-122"/>
                <a:cs typeface="Calibri" pitchFamily="34" charset="-120"/>
              </a:rPr>
              <a:t>Every run in every experiment reports collision_free: true — before and after everything described in this deck. Collision freedom comes from PIBT's vertex and swap checks, and nothing measured here touched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WHAT WE BUILT</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Three assets, not one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A planner, the harness that judges it, and the tool that explains it.</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65376"/>
            <a:ext cx="420624" cy="420624"/>
          </a:xfrm>
          <a:prstGeom prst="ellipse">
            <a:avLst/>
          </a:prstGeom>
          <a:solidFill>
            <a:srgbClr val="EB6834"/>
          </a:solidFill>
          <a:ln/>
        </p:spPr>
      </p:sp>
      <p:sp>
        <p:nvSpPr>
          <p:cNvPr id="8" name="Text 6"/>
          <p:cNvSpPr txBox="1"/>
          <p:nvPr/>
        </p:nvSpPr>
        <p:spPr>
          <a:xfrm>
            <a:off x="566928" y="18653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170432" y="1810512"/>
            <a:ext cx="2743200"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The planner</a:t>
            </a:r>
            <a:endParaRPr lang="en-US" sz="1600" dirty="0"/>
          </a:p>
        </p:txBody>
      </p:sp>
      <p:sp>
        <p:nvSpPr>
          <p:cNvPr id="10" name="Text 8"/>
          <p:cNvSpPr txBox="1"/>
          <p:nvPr/>
        </p:nvSpPr>
        <p:spPr>
          <a:xfrm>
            <a:off x="1170432" y="2157984"/>
            <a:ext cx="10424160" cy="841248"/>
          </a:xfrm>
          <a:prstGeom prst="rect">
            <a:avLst/>
          </a:prstGeom>
          <a:noFill/>
          <a:ln/>
        </p:spPr>
        <p:txBody>
          <a:bodyPr wrap="square" lIns="0" tIns="0" rIns="0" bIns="0" rtlCol="0" anchor="ctr"/>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A lifelong MAPD planner extending PIBT: a four-term movement score, a rank-and-fairness clock, and a deadlock ladder that escalates one remedy per step. 37 parameters, every one of them measured. Pure standard library — no runtime dependencies — MIT licensed, Python 3.10+.</a:t>
            </a:r>
            <a:endParaRPr lang="en-US" sz="1250" dirty="0"/>
          </a:p>
        </p:txBody>
      </p:sp>
      <p:sp>
        <p:nvSpPr>
          <p:cNvPr id="11" name="Shape 9"/>
          <p:cNvSpPr/>
          <p:nvPr/>
        </p:nvSpPr>
        <p:spPr>
          <a:xfrm>
            <a:off x="566928" y="3163824"/>
            <a:ext cx="420624" cy="420624"/>
          </a:xfrm>
          <a:prstGeom prst="ellipse">
            <a:avLst/>
          </a:prstGeom>
          <a:solidFill>
            <a:srgbClr val="EB6834"/>
          </a:solidFill>
          <a:ln/>
        </p:spPr>
      </p:sp>
      <p:sp>
        <p:nvSpPr>
          <p:cNvPr id="12" name="Text 10"/>
          <p:cNvSpPr txBox="1"/>
          <p:nvPr/>
        </p:nvSpPr>
        <p:spPr>
          <a:xfrm>
            <a:off x="566928" y="31638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170432" y="3108960"/>
            <a:ext cx="2743200"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The benchmark harness</a:t>
            </a:r>
            <a:endParaRPr lang="en-US" sz="1600" dirty="0"/>
          </a:p>
        </p:txBody>
      </p:sp>
      <p:sp>
        <p:nvSpPr>
          <p:cNvPr id="14" name="Text 12"/>
          <p:cNvSpPr txBox="1"/>
          <p:nvPr/>
        </p:nvSpPr>
        <p:spPr>
          <a:xfrm>
            <a:off x="1170432" y="3456432"/>
            <a:ext cx="10424160" cy="841248"/>
          </a:xfrm>
          <a:prstGeom prst="rect">
            <a:avLst/>
          </a:prstGeom>
          <a:noFill/>
          <a:ln/>
        </p:spPr>
        <p:txBody>
          <a:bodyPr wrap="square" lIns="0" tIns="0" rIns="0" bIns="0" rtlCol="0" anchor="ctr"/>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Token Passing, TP with Task Swaps and RHCR over PBS, each reimplemented from its paper behind the same CLI and the same metrics. Five experiment suites. Every figure and table in the documentation is generated from the committed dataset, and a test fails if either drifts from it.</a:t>
            </a:r>
            <a:endParaRPr lang="en-US" sz="1250" dirty="0"/>
          </a:p>
        </p:txBody>
      </p:sp>
      <p:sp>
        <p:nvSpPr>
          <p:cNvPr id="15" name="Shape 13"/>
          <p:cNvSpPr/>
          <p:nvPr/>
        </p:nvSpPr>
        <p:spPr>
          <a:xfrm>
            <a:off x="566928" y="4462272"/>
            <a:ext cx="420624" cy="420624"/>
          </a:xfrm>
          <a:prstGeom prst="ellipse">
            <a:avLst/>
          </a:prstGeom>
          <a:solidFill>
            <a:srgbClr val="EB6834"/>
          </a:solidFill>
          <a:ln/>
        </p:spPr>
      </p:sp>
      <p:sp>
        <p:nvSpPr>
          <p:cNvPr id="16" name="Text 14"/>
          <p:cNvSpPr txBox="1"/>
          <p:nvPr/>
        </p:nvSpPr>
        <p:spPr>
          <a:xfrm>
            <a:off x="566928" y="44622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170432" y="4407408"/>
            <a:ext cx="2743200"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The diagnostic GUI</a:t>
            </a:r>
            <a:endParaRPr lang="en-US" sz="1600" dirty="0"/>
          </a:p>
        </p:txBody>
      </p:sp>
      <p:sp>
        <p:nvSpPr>
          <p:cNvPr id="18" name="Text 16"/>
          <p:cNvSpPr txBox="1"/>
          <p:nvPr/>
        </p:nvSpPr>
        <p:spPr>
          <a:xfrm>
            <a:off x="1170432" y="4754880"/>
            <a:ext cx="10424160" cy="841248"/>
          </a:xfrm>
          <a:prstGeom prst="rect">
            <a:avLst/>
          </a:prstGeom>
          <a:noFill/>
          <a:ln/>
        </p:spPr>
        <p:txBody>
          <a:bodyPr wrap="square" lIns="0" tIns="0" rIns="0" bIns="0" rtlCol="0" anchor="ctr"/>
          <a:lstStyle/>
          <a:p>
            <a:pPr indent="0" marL="0">
              <a:lnSpc>
                <a:spcPct val="112000"/>
              </a:lnSpc>
              <a:buNone/>
            </a:pPr>
            <a:r>
              <a:rPr lang="en-US" sz="1250" dirty="0">
                <a:solidFill>
                  <a:srgbClr val="52514E"/>
                </a:solidFill>
                <a:latin typeface="Calibri" pitchFamily="34" charset="0"/>
                <a:ea typeface="Calibri" pitchFamily="34" charset="-122"/>
                <a:cs typeface="Calibri" pitchFamily="34" charset="-120"/>
              </a:rPr>
              <a:t>Click a robot and get the answer to “why is it stuck?”: every candidate cell, its score, and the exact rule that rejected it. Live parameter sliders, ablation switches, congestion and stall heatmaps — and every control is also a JSON endpoint. This is the tool that surfaced the two bugs on slide 13.</a:t>
            </a:r>
            <a:endParaRPr lang="en-US" sz="1250" dirty="0"/>
          </a:p>
        </p:txBody>
      </p:sp>
      <p:sp>
        <p:nvSpPr>
          <p:cNvPr id="19" name="Text 17"/>
          <p:cNvSpPr txBox="1"/>
          <p:nvPr/>
        </p:nvSpPr>
        <p:spPr>
          <a:xfrm>
            <a:off x="566928" y="5852160"/>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180 tests collected (168 in the default run, 12 in the slow baseline sweep). The three published planners are cited in full in the appendix.</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Four ideas, and no fifth one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Plain English. The formulas, the symbol table and the worked numbers are in docs/03-the-math.md.</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10512"/>
            <a:ext cx="5330952" cy="1828800"/>
          </a:xfrm>
          <a:prstGeom prst="roundRect">
            <a:avLst>
              <a:gd name="adj" fmla="val 2500"/>
            </a:avLst>
          </a:prstGeom>
          <a:solidFill>
            <a:srgbClr val="F2F1EC"/>
          </a:solidFill>
          <a:ln/>
        </p:spPr>
      </p:sp>
      <p:sp>
        <p:nvSpPr>
          <p:cNvPr id="8" name="Shape 6"/>
          <p:cNvSpPr/>
          <p:nvPr/>
        </p:nvSpPr>
        <p:spPr>
          <a:xfrm>
            <a:off x="786384" y="2011680"/>
            <a:ext cx="384048" cy="384048"/>
          </a:xfrm>
          <a:prstGeom prst="ellipse">
            <a:avLst/>
          </a:prstGeom>
          <a:solidFill>
            <a:srgbClr val="EB6834"/>
          </a:solidFill>
          <a:ln/>
        </p:spPr>
      </p:sp>
      <p:sp>
        <p:nvSpPr>
          <p:cNvPr id="9" name="Text 7"/>
          <p:cNvSpPr txBox="1"/>
          <p:nvPr/>
        </p:nvSpPr>
        <p:spPr>
          <a:xfrm>
            <a:off x="78638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786384" y="2542032"/>
            <a:ext cx="4892040" cy="29260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Score every option; forbid none</a:t>
            </a:r>
            <a:endParaRPr lang="en-US" sz="1500" dirty="0"/>
          </a:p>
        </p:txBody>
      </p:sp>
      <p:sp>
        <p:nvSpPr>
          <p:cNvPr id="11" name="Text 9"/>
          <p:cNvSpPr txBox="1"/>
          <p:nvPr/>
        </p:nvSpPr>
        <p:spPr>
          <a:xfrm>
            <a:off x="786384" y="2889504"/>
            <a:ext cx="4892040" cy="65836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Progress is worth 10, and a move changes distance by exactly one — so a robot's five options fall into tiers ten points apart. Staying in lane, not turning and avoiding the crowd total under 4: they break ties inside a tier and never across one.</a:t>
            </a:r>
            <a:endParaRPr lang="en-US" sz="1150" dirty="0"/>
          </a:p>
        </p:txBody>
      </p:sp>
      <p:sp>
        <p:nvSpPr>
          <p:cNvPr id="12" name="Shape 10"/>
          <p:cNvSpPr/>
          <p:nvPr/>
        </p:nvSpPr>
        <p:spPr>
          <a:xfrm>
            <a:off x="6263640" y="1810512"/>
            <a:ext cx="5330952" cy="1828800"/>
          </a:xfrm>
          <a:prstGeom prst="roundRect">
            <a:avLst>
              <a:gd name="adj" fmla="val 2500"/>
            </a:avLst>
          </a:prstGeom>
          <a:solidFill>
            <a:srgbClr val="F2F1EC"/>
          </a:solidFill>
          <a:ln/>
        </p:spPr>
      </p:sp>
      <p:sp>
        <p:nvSpPr>
          <p:cNvPr id="13" name="Shape 11"/>
          <p:cNvSpPr/>
          <p:nvPr/>
        </p:nvSpPr>
        <p:spPr>
          <a:xfrm>
            <a:off x="6483096" y="2011680"/>
            <a:ext cx="384048" cy="384048"/>
          </a:xfrm>
          <a:prstGeom prst="ellipse">
            <a:avLst/>
          </a:prstGeom>
          <a:solidFill>
            <a:srgbClr val="EB6834"/>
          </a:solidFill>
          <a:ln/>
        </p:spPr>
      </p:sp>
      <p:sp>
        <p:nvSpPr>
          <p:cNvPr id="14" name="Text 12"/>
          <p:cNvSpPr txBox="1"/>
          <p:nvPr/>
        </p:nvSpPr>
        <p:spPr>
          <a:xfrm>
            <a:off x="6483096"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6483096" y="2542032"/>
            <a:ext cx="4892040" cy="29260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Rank, and a fairness clock</a:t>
            </a:r>
            <a:endParaRPr lang="en-US" sz="1500" dirty="0"/>
          </a:p>
        </p:txBody>
      </p:sp>
      <p:sp>
        <p:nvSpPr>
          <p:cNvPr id="16" name="Text 14"/>
          <p:cNvSpPr txBox="1"/>
          <p:nvPr/>
        </p:nvSpPr>
        <p:spPr>
          <a:xfrm>
            <a:off x="6483096" y="2889504"/>
            <a:ext cx="4892040" cy="65836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 robot in trouble outranks a loaded one, which outranks one still heading for a pickup. Every step spent waiting buys rank, so after 80 steps a robot outranks anything on the floor. Nothing starves. In practice robots wait two or three steps.</a:t>
            </a:r>
            <a:endParaRPr lang="en-US" sz="1150" dirty="0"/>
          </a:p>
        </p:txBody>
      </p:sp>
      <p:sp>
        <p:nvSpPr>
          <p:cNvPr id="17" name="Shape 15"/>
          <p:cNvSpPr/>
          <p:nvPr/>
        </p:nvSpPr>
        <p:spPr>
          <a:xfrm>
            <a:off x="566928" y="3767328"/>
            <a:ext cx="5330952" cy="1828800"/>
          </a:xfrm>
          <a:prstGeom prst="roundRect">
            <a:avLst>
              <a:gd name="adj" fmla="val 2500"/>
            </a:avLst>
          </a:prstGeom>
          <a:solidFill>
            <a:srgbClr val="F2F1EC"/>
          </a:solidFill>
          <a:ln/>
        </p:spPr>
      </p:sp>
      <p:sp>
        <p:nvSpPr>
          <p:cNvPr id="18" name="Shape 16"/>
          <p:cNvSpPr/>
          <p:nvPr/>
        </p:nvSpPr>
        <p:spPr>
          <a:xfrm>
            <a:off x="786384" y="3968496"/>
            <a:ext cx="384048" cy="384048"/>
          </a:xfrm>
          <a:prstGeom prst="ellipse">
            <a:avLst/>
          </a:prstGeom>
          <a:solidFill>
            <a:srgbClr val="EB6834"/>
          </a:solidFill>
          <a:ln/>
        </p:spPr>
      </p:sp>
      <p:sp>
        <p:nvSpPr>
          <p:cNvPr id="19" name="Text 17"/>
          <p:cNvSpPr txBox="1"/>
          <p:nvPr/>
        </p:nvSpPr>
        <p:spPr>
          <a:xfrm>
            <a:off x="786384" y="3968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786384" y="4498848"/>
            <a:ext cx="4892040" cy="29260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Push, don't queue</a:t>
            </a:r>
            <a:endParaRPr lang="en-US" sz="1500" dirty="0"/>
          </a:p>
        </p:txBody>
      </p:sp>
      <p:sp>
        <p:nvSpPr>
          <p:cNvPr id="21" name="Text 19"/>
          <p:cNvSpPr txBox="1"/>
          <p:nvPr/>
        </p:nvSpPr>
        <p:spPr>
          <a:xfrm>
            <a:off x="786384" y="4846320"/>
            <a:ext cx="4892040" cy="65836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If I want your cell I ask you to move, lending you my rank, so a whole chain can shuffle aside for whoever started it. If nobody can move I stay put — always legal — so a valid joint move always exists. This is what prevents collisions.</a:t>
            </a:r>
            <a:endParaRPr lang="en-US" sz="1150" dirty="0"/>
          </a:p>
        </p:txBody>
      </p:sp>
      <p:sp>
        <p:nvSpPr>
          <p:cNvPr id="22" name="Shape 20"/>
          <p:cNvSpPr/>
          <p:nvPr/>
        </p:nvSpPr>
        <p:spPr>
          <a:xfrm>
            <a:off x="6263640" y="3767328"/>
            <a:ext cx="5330952" cy="1828800"/>
          </a:xfrm>
          <a:prstGeom prst="roundRect">
            <a:avLst>
              <a:gd name="adj" fmla="val 2500"/>
            </a:avLst>
          </a:prstGeom>
          <a:solidFill>
            <a:srgbClr val="F2F1EC"/>
          </a:solidFill>
          <a:ln/>
        </p:spPr>
      </p:sp>
      <p:sp>
        <p:nvSpPr>
          <p:cNvPr id="23" name="Shape 21"/>
          <p:cNvSpPr/>
          <p:nvPr/>
        </p:nvSpPr>
        <p:spPr>
          <a:xfrm>
            <a:off x="6483096" y="3968496"/>
            <a:ext cx="384048" cy="384048"/>
          </a:xfrm>
          <a:prstGeom prst="ellipse">
            <a:avLst/>
          </a:prstGeom>
          <a:solidFill>
            <a:srgbClr val="EB6834"/>
          </a:solidFill>
          <a:ln/>
        </p:spPr>
      </p:sp>
      <p:sp>
        <p:nvSpPr>
          <p:cNvPr id="24" name="Text 22"/>
          <p:cNvSpPr txBox="1"/>
          <p:nvPr/>
        </p:nvSpPr>
        <p:spPr>
          <a:xfrm>
            <a:off x="6483096" y="3968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6483096" y="4498848"/>
            <a:ext cx="4892040" cy="29260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Notice a jam, escalate gently</a:t>
            </a:r>
            <a:endParaRPr lang="en-US" sz="1500" dirty="0"/>
          </a:p>
        </p:txBody>
      </p:sp>
      <p:sp>
        <p:nvSpPr>
          <p:cNvPr id="26" name="Text 24"/>
          <p:cNvSpPr txBox="1"/>
          <p:nvPr/>
        </p:nvSpPr>
        <p:spPr>
          <a:xfrm>
            <a:off x="6483096" y="4846320"/>
            <a:ext cx="4892040" cy="65836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“Nobody moved” is a queue, not a jam. Confirmation needs a wait-for cycle or a repeated configuration. Then remedies escalate one per step, cheapest first: reroute, raise rank, reverse out, park. That second signal is worth 54% of throughput.</a:t>
            </a:r>
            <a:endParaRPr lang="en-US" sz="1150" dirty="0"/>
          </a:p>
        </p:txBody>
      </p:sp>
      <p:sp>
        <p:nvSpPr>
          <p:cNvPr id="27" name="Text 25"/>
          <p:cNvSpPr txBox="1"/>
          <p:nvPr/>
        </p:nvSpPr>
        <p:spPr>
          <a:xfrm>
            <a:off x="566928" y="5852160"/>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The movement score used to have nine terms. Five were smaller than a tie-break and never changed a decision in any measured run — see slide 13.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FLOORS</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Four layouts, each isolating one traffic property</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A planner is not fast or slow in general. It is fast or slow on a layout, at a robot count, under an arrival rate.</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pic>
        <p:nvPicPr>
          <p:cNvPr id="7" name="Image 0" descr="/home/user/aisleflow/presentation/assets/05-the-maps.png">    </p:cNvPr>
          <p:cNvPicPr>
            <a:picLocks noChangeAspect="1"/>
          </p:cNvPicPr>
          <p:nvPr/>
        </p:nvPicPr>
        <p:blipFill>
          <a:blip r:embed="rId1"/>
          <a:stretch>
            <a:fillRect/>
          </a:stretch>
        </p:blipFill>
        <p:spPr>
          <a:xfrm>
            <a:off x="566928" y="1719072"/>
            <a:ext cx="5440680" cy="4233672"/>
          </a:xfrm>
          <a:prstGeom prst="rect">
            <a:avLst/>
          </a:prstGeom>
        </p:spPr>
      </p:pic>
      <p:sp>
        <p:nvSpPr>
          <p:cNvPr id="8" name="Text 5"/>
          <p:cNvSpPr txBox="1"/>
          <p:nvPr/>
        </p:nvSpPr>
        <p:spPr>
          <a:xfrm>
            <a:off x="6281928" y="1810512"/>
            <a:ext cx="5312664" cy="877824"/>
          </a:xfrm>
          <a:prstGeom prst="rect">
            <a:avLst/>
          </a:prstGeom>
          <a:noFill/>
          <a:ln/>
        </p:spPr>
        <p:txBody>
          <a:bodyPr wrap="square" lIns="0" tIns="0" rIns="0" bIns="0" rtlCol="0" anchor="t"/>
          <a:lstStyle/>
          <a:p>
            <a:pPr indent="0" marL="0">
              <a:lnSpc>
                <a:spcPct val="110000"/>
              </a:lnSpc>
              <a:buNone/>
            </a:pPr>
            <a:r>
              <a:rPr lang="en-US" sz="1150" b="1" dirty="0">
                <a:solidFill>
                  <a:srgbClr val="2A78D6"/>
                </a:solidFill>
                <a:latin typeface="Calibri" pitchFamily="34" charset="0"/>
                <a:ea typeface="Calibri" pitchFamily="34" charset="-122"/>
                <a:cs typeface="Calibri" pitchFamily="34" charset="-120"/>
              </a:rPr>
              <a:t>bottleneck — 16 robots —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Two halves joined by one six-cell corridor every task must cross, both ways, forever. Seven of its 83 cells are articulation points: a robot standing still can cut the warehouse in half.</a:t>
            </a:r>
            <a:endParaRPr lang="en-US" sz="1150" dirty="0"/>
          </a:p>
        </p:txBody>
      </p:sp>
      <p:sp>
        <p:nvSpPr>
          <p:cNvPr id="9" name="Text 6"/>
          <p:cNvSpPr txBox="1"/>
          <p:nvPr/>
        </p:nvSpPr>
        <p:spPr>
          <a:xfrm>
            <a:off x="6281928" y="2743200"/>
            <a:ext cx="5312664" cy="877824"/>
          </a:xfrm>
          <a:prstGeom prst="rect">
            <a:avLst/>
          </a:prstGeom>
          <a:noFill/>
          <a:ln/>
        </p:spPr>
        <p:txBody>
          <a:bodyPr wrap="square" lIns="0" tIns="0" rIns="0" bIns="0" rtlCol="0" anchor="t"/>
          <a:lstStyle/>
          <a:p>
            <a:pPr indent="0" marL="0">
              <a:lnSpc>
                <a:spcPct val="110000"/>
              </a:lnSpc>
              <a:buNone/>
            </a:pPr>
            <a:r>
              <a:rPr lang="en-US" sz="1150" b="1" dirty="0">
                <a:solidFill>
                  <a:srgbClr val="2A78D6"/>
                </a:solidFill>
                <a:latin typeface="Calibri" pitchFamily="34" charset="0"/>
                <a:ea typeface="Calibri" pitchFamily="34" charset="-122"/>
                <a:cs typeface="Calibri" pitchFamily="34" charset="-120"/>
              </a:rPr>
              <a:t>corridors — 35 robots —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Five 22-cell single-file runs joined at both ends. Entering one commits a robot for 21 steps. The only bundled floor with no parking bays at all.</a:t>
            </a:r>
            <a:endParaRPr lang="en-US" sz="1150" dirty="0"/>
          </a:p>
        </p:txBody>
      </p:sp>
      <p:sp>
        <p:nvSpPr>
          <p:cNvPr id="10" name="Text 7"/>
          <p:cNvSpPr txBox="1"/>
          <p:nvPr/>
        </p:nvSpPr>
        <p:spPr>
          <a:xfrm>
            <a:off x="6281928" y="3675888"/>
            <a:ext cx="5312664" cy="877824"/>
          </a:xfrm>
          <a:prstGeom prst="rect">
            <a:avLst/>
          </a:prstGeom>
          <a:noFill/>
          <a:ln/>
        </p:spPr>
        <p:txBody>
          <a:bodyPr wrap="square" lIns="0" tIns="0" rIns="0" bIns="0" rtlCol="0" anchor="t"/>
          <a:lstStyle/>
          <a:p>
            <a:pPr indent="0" marL="0">
              <a:lnSpc>
                <a:spcPct val="110000"/>
              </a:lnSpc>
              <a:buNone/>
            </a:pPr>
            <a:r>
              <a:rPr lang="en-US" sz="1150" b="1" dirty="0">
                <a:solidFill>
                  <a:srgbClr val="2A78D6"/>
                </a:solidFill>
                <a:latin typeface="Calibri" pitchFamily="34" charset="0"/>
                <a:ea typeface="Calibri" pitchFamily="34" charset="-122"/>
                <a:cs typeface="Calibri" pitchFamily="34" charset="-120"/>
              </a:rPr>
              <a:t>narrow — 30 robots —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Seven-cell aisles, one cross-lane. Structurally medium with the aisles twice as long and no extra way round — it isolates aisle length from route count.</a:t>
            </a:r>
            <a:endParaRPr lang="en-US" sz="1150" dirty="0"/>
          </a:p>
        </p:txBody>
      </p:sp>
      <p:sp>
        <p:nvSpPr>
          <p:cNvPr id="11" name="Text 8"/>
          <p:cNvSpPr txBox="1"/>
          <p:nvPr/>
        </p:nvSpPr>
        <p:spPr>
          <a:xfrm>
            <a:off x="6281928" y="4608576"/>
            <a:ext cx="5312664" cy="877824"/>
          </a:xfrm>
          <a:prstGeom prst="rect">
            <a:avLst/>
          </a:prstGeom>
          <a:noFill/>
          <a:ln/>
        </p:spPr>
        <p:txBody>
          <a:bodyPr wrap="square" lIns="0" tIns="0" rIns="0" bIns="0" rtlCol="0" anchor="t"/>
          <a:lstStyle/>
          <a:p>
            <a:pPr indent="0" marL="0">
              <a:lnSpc>
                <a:spcPct val="110000"/>
              </a:lnSpc>
              <a:buNone/>
            </a:pPr>
            <a:r>
              <a:rPr lang="en-US" sz="1150" b="1" dirty="0">
                <a:solidFill>
                  <a:srgbClr val="2A78D6"/>
                </a:solidFill>
                <a:latin typeface="Calibri" pitchFamily="34" charset="0"/>
                <a:ea typeface="Calibri" pitchFamily="34" charset="-122"/>
                <a:cs typeface="Calibri" pitchFamily="34" charset="-120"/>
              </a:rPr>
              <a:t>medium — 40 robots —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Three-to-five-cell aisles, two cross-lanes. Enough room that a robot meeting another usually has somewhere to go.</a:t>
            </a:r>
            <a:endParaRPr lang="en-US" sz="1150" dirty="0"/>
          </a:p>
        </p:txBody>
      </p:sp>
      <p:sp>
        <p:nvSpPr>
          <p:cNvPr id="12" name="Shape 9"/>
          <p:cNvSpPr/>
          <p:nvPr/>
        </p:nvSpPr>
        <p:spPr>
          <a:xfrm>
            <a:off x="6281928" y="5614416"/>
            <a:ext cx="5312664" cy="768096"/>
          </a:xfrm>
          <a:prstGeom prst="roundRect">
            <a:avLst>
              <a:gd name="adj" fmla="val 5952"/>
            </a:avLst>
          </a:prstGeom>
          <a:solidFill>
            <a:srgbClr val="F2F1EC"/>
          </a:solidFill>
          <a:ln/>
        </p:spPr>
      </p:sp>
      <p:sp>
        <p:nvSpPr>
          <p:cNvPr id="13" name="Text 10"/>
          <p:cNvSpPr txBox="1"/>
          <p:nvPr/>
        </p:nvSpPr>
        <p:spPr>
          <a:xfrm>
            <a:off x="6519672" y="5742432"/>
            <a:ext cx="4837176" cy="512064"/>
          </a:xfrm>
          <a:prstGeom prst="rect">
            <a:avLst/>
          </a:prstGeom>
          <a:noFill/>
          <a:ln/>
        </p:spPr>
        <p:txBody>
          <a:bodyPr wrap="square" lIns="0" tIns="0" rIns="0" bIns="0" rtlCol="0" anchor="ctr"/>
          <a:lstStyle/>
          <a:p>
            <a:pPr indent="0" marL="0">
              <a:lnSpc>
                <a:spcPct val="112000"/>
              </a:lnSpc>
              <a:buNone/>
            </a:pPr>
            <a:r>
              <a:rPr lang="en-US" sz="1150" dirty="0">
                <a:solidFill>
                  <a:srgbClr val="0B0B0B"/>
                </a:solidFill>
                <a:latin typeface="Calibri" pitchFamily="34" charset="0"/>
                <a:ea typeface="Calibri" pitchFamily="34" charset="-122"/>
                <a:cs typeface="Calibri" pitchFamily="34" charset="-120"/>
              </a:rPr>
              <a:t>Every aisle on every floor is one cell wide, and every scenario is saturated on purpose — so throughput measures the floor's capacity, not responsiveness.</a:t>
            </a:r>
            <a:endParaRPr lang="en-US" sz="1150" dirty="0"/>
          </a:p>
        </p:txBody>
      </p:sp>
      <p:sp>
        <p:nvSpPr>
          <p:cNvPr id="14" name="Text 11"/>
          <p:cNvSpPr txBox="1"/>
          <p:nvPr/>
        </p:nvSpPr>
        <p:spPr>
          <a:xfrm>
            <a:off x="566928" y="6035040"/>
            <a:ext cx="544068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All five floors drawn to one scale; small is a test and animation floor, not a results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HEADLINE RESULT</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Against three published planners</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On bottleneck, the floor where the case is clearest: 16 robots, 0.8 jobs per timestep.</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pic>
        <p:nvPicPr>
          <p:cNvPr id="7" name="Image 0" descr="/home/user/aisleflow/presentation/assets/01-vs-baselines.png">    </p:cNvPr>
          <p:cNvPicPr>
            <a:picLocks noChangeAspect="1"/>
          </p:cNvPicPr>
          <p:nvPr/>
        </p:nvPicPr>
        <p:blipFill>
          <a:blip r:embed="rId1"/>
          <a:stretch>
            <a:fillRect/>
          </a:stretch>
        </p:blipFill>
        <p:spPr>
          <a:xfrm>
            <a:off x="566928" y="1737360"/>
            <a:ext cx="4846320" cy="42519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33288" y="1810512"/>
          <a:ext cx="5861304" cy="914400"/>
        </p:xfrm>
        <a:graphic>
          <a:graphicData uri="http://schemas.openxmlformats.org/drawingml/2006/table">
            <a:tbl>
              <a:tblPr/>
              <a:tblGrid>
                <a:gridCol w="3017520"/>
                <a:gridCol w="1143000"/>
                <a:gridCol w="1133856"/>
              </a:tblGrid>
              <a:tr h="329184">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Planner</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Tasks / 1000 steps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95% interval</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29184">
                <a:tc>
                  <a:txBody>
                    <a:bodyPr/>
                    <a:lstStyle/>
                    <a:p>
                      <a:pPr algn="l" indent="0" marL="0">
                        <a:buNone/>
                      </a:pPr>
                      <a:r>
                        <a:rPr lang="en-US" sz="1150" b="1" dirty="0">
                          <a:solidFill>
                            <a:srgbClr val="2A78D6"/>
                          </a:solidFill>
                          <a:latin typeface="Calibri" pitchFamily="34" charset="0"/>
                          <a:ea typeface="Calibri" pitchFamily="34" charset="-122"/>
                          <a:cs typeface="Calibri" pitchFamily="34" charset="-120"/>
                        </a:rPr>
                        <a:t>Aisleflow</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147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898781"/>
                          </a:solidFill>
                          <a:latin typeface="Calibri" pitchFamily="34" charset="0"/>
                          <a:ea typeface="Calibri" pitchFamily="34" charset="-122"/>
                          <a:cs typeface="Calibri" pitchFamily="34" charset="-120"/>
                        </a:rPr>
                        <a:t>136–156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29184">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RHCR (Li et al. 2021, PBS)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898781"/>
                          </a:solidFill>
                          <a:latin typeface="Calibri" pitchFamily="34" charset="0"/>
                          <a:ea typeface="Calibri" pitchFamily="34" charset="-122"/>
                          <a:cs typeface="Calibri" pitchFamily="34" charset="-120"/>
                        </a:rPr>
                        <a:t>94–108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29184">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Token Passing (Ma et al. 2017, Alg. 1)</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898781"/>
                          </a:solidFill>
                          <a:latin typeface="Calibri" pitchFamily="34" charset="0"/>
                          <a:ea typeface="Calibri" pitchFamily="34" charset="-122"/>
                          <a:cs typeface="Calibri" pitchFamily="34" charset="-120"/>
                        </a:rPr>
                        <a:t>90–98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29184">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TP + task swaps (Ma et al. 2017, Alg. 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898781"/>
                          </a:solidFill>
                          <a:latin typeface="Calibri" pitchFamily="34" charset="0"/>
                          <a:ea typeface="Calibri" pitchFamily="34" charset="-122"/>
                          <a:cs typeface="Calibri" pitchFamily="34" charset="-120"/>
                        </a:rPr>
                        <a:t>38–63</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9" name="Shape 5"/>
          <p:cNvSpPr/>
          <p:nvPr/>
        </p:nvSpPr>
        <p:spPr>
          <a:xfrm>
            <a:off x="5733288" y="3803904"/>
            <a:ext cx="5861304" cy="566928"/>
          </a:xfrm>
          <a:prstGeom prst="roundRect">
            <a:avLst>
              <a:gd name="adj" fmla="val 8065"/>
            </a:avLst>
          </a:prstGeom>
          <a:solidFill>
            <a:srgbClr val="2A78D6"/>
          </a:solidFill>
          <a:ln/>
        </p:spPr>
      </p:sp>
      <p:sp>
        <p:nvSpPr>
          <p:cNvPr id="10" name="Text 6"/>
          <p:cNvSpPr txBox="1"/>
          <p:nvPr/>
        </p:nvSpPr>
        <p:spPr>
          <a:xfrm>
            <a:off x="5971032" y="3931920"/>
            <a:ext cx="5385816" cy="310896"/>
          </a:xfrm>
          <a:prstGeom prst="rect">
            <a:avLst/>
          </a:prstGeom>
          <a:noFill/>
          <a:ln/>
        </p:spPr>
        <p:txBody>
          <a:bodyPr wrap="square" lIns="0" tIns="0" rIns="0" bIns="0" rtlCol="0" anchor="ctr"/>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Aisleflow's 95% bootstrap interval clears all three published planners' with no overlap.</a:t>
            </a:r>
            <a:endParaRPr lang="en-US" sz="1250" dirty="0"/>
          </a:p>
        </p:txBody>
      </p:sp>
      <p:sp>
        <p:nvSpPr>
          <p:cNvPr id="11" name="Text 7"/>
          <p:cNvSpPr txBox="1"/>
          <p:nvPr/>
        </p:nvSpPr>
        <p:spPr>
          <a:xfrm>
            <a:off x="5733288" y="4462272"/>
            <a:ext cx="5861304" cy="1572768"/>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Why the other three fall short here.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Ma et al. prove Token Passing and TPTS complete only on well-formed MAPD instances — one parking endpoint per agent. This floor has two bays for sixteen robots and seven cells that sever it, so an idle agent resting in the corridor cuts the warehouse in half. PIBT never plans a path it must reserve, so it simply displaces that agent. RHCR avoids that failure mode and still falls short here.</a:t>
            </a:r>
            <a:endParaRPr lang="en-US" sz="1150" dirty="0"/>
          </a:p>
        </p:txBody>
      </p:sp>
      <p:sp>
        <p:nvSpPr>
          <p:cNvPr id="12" name="Text 8"/>
          <p:cNvSpPr txBox="1"/>
          <p:nvPr/>
        </p:nvSpPr>
        <p:spPr>
          <a:xfrm>
            <a:off x="566928" y="6016752"/>
            <a:ext cx="484632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warehouse_bottleneck, 16 robots, 0.8 jobs per timestep. Tasks delivered per 1000 timesteps; higher is better. 5 seeds x 400 steps, identical job streams across planners. git ef0910e.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MECHANISM</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One corridor, sixteen robots, four hundred steps</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A real seeded run of the same simulator, map, robot count and job stream as the table on the previous slide.</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pic>
        <p:nvPicPr>
          <p:cNvPr id="7" name="Image 0" descr="/home/user/aisleflow/docs/gifs/01-aisleflow-bottleneck.gif">    </p:cNvPr>
          <p:cNvPicPr>
            <a:picLocks noChangeAspect="1"/>
          </p:cNvPicPr>
          <p:nvPr/>
        </p:nvPicPr>
        <p:blipFill>
          <a:blip r:embed="rId1"/>
          <a:stretch>
            <a:fillRect/>
          </a:stretch>
        </p:blipFill>
        <p:spPr>
          <a:xfrm>
            <a:off x="566928" y="1810512"/>
            <a:ext cx="6675120" cy="4059936"/>
          </a:xfrm>
          <a:prstGeom prst="rect">
            <a:avLst/>
          </a:prstGeom>
        </p:spPr>
      </p:pic>
      <p:sp>
        <p:nvSpPr>
          <p:cNvPr id="8" name="Text 5"/>
          <p:cNvSpPr txBox="1"/>
          <p:nvPr/>
        </p:nvSpPr>
        <p:spPr>
          <a:xfrm>
            <a:off x="7516368" y="1810512"/>
            <a:ext cx="4078224" cy="274320"/>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Reading the frame</a:t>
            </a:r>
            <a:endParaRPr lang="en-US" sz="1400" dirty="0"/>
          </a:p>
        </p:txBody>
      </p:sp>
      <p:sp>
        <p:nvSpPr>
          <p:cNvPr id="9" name="Shape 6"/>
          <p:cNvSpPr/>
          <p:nvPr/>
        </p:nvSpPr>
        <p:spPr>
          <a:xfrm>
            <a:off x="7516368" y="2217420"/>
            <a:ext cx="137160" cy="137160"/>
          </a:xfrm>
          <a:prstGeom prst="ellipse">
            <a:avLst/>
          </a:prstGeom>
          <a:solidFill>
            <a:srgbClr val="2A78D6"/>
          </a:solidFill>
          <a:ln/>
        </p:spPr>
      </p:sp>
      <p:sp>
        <p:nvSpPr>
          <p:cNvPr id="10" name="Text 7"/>
          <p:cNvSpPr txBox="1"/>
          <p:nvPr/>
        </p:nvSpPr>
        <p:spPr>
          <a:xfrm>
            <a:off x="7744968" y="2176272"/>
            <a:ext cx="3849624" cy="237744"/>
          </a:xfrm>
          <a:prstGeom prst="rect">
            <a:avLst/>
          </a:prstGeom>
          <a:noFill/>
          <a:ln/>
        </p:spPr>
        <p:txBody>
          <a:bodyPr wrap="square" lIns="0" tIns="0" rIns="0" bIns="0" rtlCol="0" anchor="ctr"/>
          <a:lstStyle/>
          <a:p>
            <a:pPr indent="0" marL="0">
              <a:buNone/>
            </a:pPr>
            <a:r>
              <a:rPr lang="en-US" sz="1150" b="1" dirty="0">
                <a:solidFill>
                  <a:srgbClr val="2A78D6"/>
                </a:solidFill>
                <a:latin typeface="Calibri" pitchFamily="34" charset="0"/>
                <a:ea typeface="Calibri" pitchFamily="34" charset="-122"/>
                <a:cs typeface="Calibri" pitchFamily="34" charset="-120"/>
              </a:rPr>
              <a:t>Blue — </a:t>
            </a:r>
            <a:pPr indent="0" marL="0">
              <a:buNone/>
            </a:pPr>
            <a:r>
              <a:rPr lang="en-US" sz="1150" dirty="0">
                <a:solidFill>
                  <a:srgbClr val="52514E"/>
                </a:solidFill>
                <a:latin typeface="Calibri" pitchFamily="34" charset="0"/>
                <a:ea typeface="Calibri" pitchFamily="34" charset="-122"/>
                <a:cs typeface="Calibri" pitchFamily="34" charset="-120"/>
              </a:rPr>
              <a:t>on its way to a pickup</a:t>
            </a:r>
            <a:endParaRPr lang="en-US" sz="1150" dirty="0"/>
          </a:p>
        </p:txBody>
      </p:sp>
      <p:sp>
        <p:nvSpPr>
          <p:cNvPr id="11" name="Shape 8"/>
          <p:cNvSpPr/>
          <p:nvPr/>
        </p:nvSpPr>
        <p:spPr>
          <a:xfrm>
            <a:off x="7516368" y="2510028"/>
            <a:ext cx="137160" cy="137160"/>
          </a:xfrm>
          <a:prstGeom prst="ellipse">
            <a:avLst/>
          </a:prstGeom>
          <a:solidFill>
            <a:srgbClr val="1BAF7A"/>
          </a:solidFill>
          <a:ln/>
        </p:spPr>
      </p:sp>
      <p:sp>
        <p:nvSpPr>
          <p:cNvPr id="12" name="Text 9"/>
          <p:cNvSpPr txBox="1"/>
          <p:nvPr/>
        </p:nvSpPr>
        <p:spPr>
          <a:xfrm>
            <a:off x="7744968" y="2468880"/>
            <a:ext cx="3849624" cy="237744"/>
          </a:xfrm>
          <a:prstGeom prst="rect">
            <a:avLst/>
          </a:prstGeom>
          <a:noFill/>
          <a:ln/>
        </p:spPr>
        <p:txBody>
          <a:bodyPr wrap="square" lIns="0" tIns="0" rIns="0" bIns="0" rtlCol="0" anchor="ctr"/>
          <a:lstStyle/>
          <a:p>
            <a:pPr indent="0" marL="0">
              <a:buNone/>
            </a:pPr>
            <a:r>
              <a:rPr lang="en-US" sz="1150" b="1" dirty="0">
                <a:solidFill>
                  <a:srgbClr val="1BAF7A"/>
                </a:solidFill>
                <a:latin typeface="Calibri" pitchFamily="34" charset="0"/>
                <a:ea typeface="Calibri" pitchFamily="34" charset="-122"/>
                <a:cs typeface="Calibri" pitchFamily="34" charset="-120"/>
              </a:rPr>
              <a:t>Teal — </a:t>
            </a:r>
            <a:pPr indent="0" marL="0">
              <a:buNone/>
            </a:pPr>
            <a:r>
              <a:rPr lang="en-US" sz="1150" dirty="0">
                <a:solidFill>
                  <a:srgbClr val="52514E"/>
                </a:solidFill>
                <a:latin typeface="Calibri" pitchFamily="34" charset="0"/>
                <a:ea typeface="Calibri" pitchFamily="34" charset="-122"/>
                <a:cs typeface="Calibri" pitchFamily="34" charset="-120"/>
              </a:rPr>
              <a:t>carrying a task to a delivery</a:t>
            </a:r>
            <a:endParaRPr lang="en-US" sz="1150" dirty="0"/>
          </a:p>
        </p:txBody>
      </p:sp>
      <p:sp>
        <p:nvSpPr>
          <p:cNvPr id="13" name="Shape 10"/>
          <p:cNvSpPr/>
          <p:nvPr/>
        </p:nvSpPr>
        <p:spPr>
          <a:xfrm>
            <a:off x="7516368" y="2802636"/>
            <a:ext cx="137160" cy="137160"/>
          </a:xfrm>
          <a:prstGeom prst="ellipse">
            <a:avLst/>
          </a:prstGeom>
          <a:solidFill>
            <a:srgbClr val="898781"/>
          </a:solidFill>
          <a:ln/>
        </p:spPr>
      </p:sp>
      <p:sp>
        <p:nvSpPr>
          <p:cNvPr id="14" name="Text 11"/>
          <p:cNvSpPr txBox="1"/>
          <p:nvPr/>
        </p:nvSpPr>
        <p:spPr>
          <a:xfrm>
            <a:off x="7744968" y="2761488"/>
            <a:ext cx="3849624" cy="237744"/>
          </a:xfrm>
          <a:prstGeom prst="rect">
            <a:avLst/>
          </a:prstGeom>
          <a:noFill/>
          <a:ln/>
        </p:spPr>
        <p:txBody>
          <a:bodyPr wrap="square" lIns="0" tIns="0" rIns="0" bIns="0" rtlCol="0" anchor="ctr"/>
          <a:lstStyle/>
          <a:p>
            <a:pPr indent="0" marL="0">
              <a:buNone/>
            </a:pPr>
            <a:r>
              <a:rPr lang="en-US" sz="1150" b="1" dirty="0">
                <a:solidFill>
                  <a:srgbClr val="898781"/>
                </a:solidFill>
                <a:latin typeface="Calibri" pitchFamily="34" charset="0"/>
                <a:ea typeface="Calibri" pitchFamily="34" charset="-122"/>
                <a:cs typeface="Calibri" pitchFamily="34" charset="-120"/>
              </a:rPr>
              <a:t>Grey — </a:t>
            </a:r>
            <a:pPr indent="0" marL="0">
              <a:buNone/>
            </a:pPr>
            <a:r>
              <a:rPr lang="en-US" sz="1150" dirty="0">
                <a:solidFill>
                  <a:srgbClr val="52514E"/>
                </a:solidFill>
                <a:latin typeface="Calibri" pitchFamily="34" charset="0"/>
                <a:ea typeface="Calibri" pitchFamily="34" charset="-122"/>
                <a:cs typeface="Calibri" pitchFamily="34" charset="-120"/>
              </a:rPr>
              <a:t>no task yet</a:t>
            </a:r>
            <a:endParaRPr lang="en-US" sz="1150" dirty="0"/>
          </a:p>
        </p:txBody>
      </p:sp>
      <p:sp>
        <p:nvSpPr>
          <p:cNvPr id="15" name="Shape 12"/>
          <p:cNvSpPr/>
          <p:nvPr/>
        </p:nvSpPr>
        <p:spPr>
          <a:xfrm>
            <a:off x="7516368" y="3095244"/>
            <a:ext cx="137160" cy="137160"/>
          </a:xfrm>
          <a:prstGeom prst="ellipse">
            <a:avLst/>
          </a:prstGeom>
          <a:solidFill>
            <a:srgbClr val="D03B3B"/>
          </a:solidFill>
          <a:ln/>
        </p:spPr>
      </p:sp>
      <p:sp>
        <p:nvSpPr>
          <p:cNvPr id="16" name="Text 13"/>
          <p:cNvSpPr txBox="1"/>
          <p:nvPr/>
        </p:nvSpPr>
        <p:spPr>
          <a:xfrm>
            <a:off x="7744968" y="3054096"/>
            <a:ext cx="3849624" cy="237744"/>
          </a:xfrm>
          <a:prstGeom prst="rect">
            <a:avLst/>
          </a:prstGeom>
          <a:noFill/>
          <a:ln/>
        </p:spPr>
        <p:txBody>
          <a:bodyPr wrap="square" lIns="0" tIns="0" rIns="0" bIns="0" rtlCol="0" anchor="ctr"/>
          <a:lstStyle/>
          <a:p>
            <a:pPr indent="0" marL="0">
              <a:buNone/>
            </a:pPr>
            <a:r>
              <a:rPr lang="en-US" sz="1150" b="1" dirty="0">
                <a:solidFill>
                  <a:srgbClr val="D03B3B"/>
                </a:solidFill>
                <a:latin typeface="Calibri" pitchFamily="34" charset="0"/>
                <a:ea typeface="Calibri" pitchFamily="34" charset="-122"/>
                <a:cs typeface="Calibri" pitchFamily="34" charset="-120"/>
              </a:rPr>
              <a:t>Red — </a:t>
            </a:r>
            <a:pPr indent="0" marL="0">
              <a:buNone/>
            </a:pPr>
            <a:r>
              <a:rPr lang="en-US" sz="1150" dirty="0">
                <a:solidFill>
                  <a:srgbClr val="52514E"/>
                </a:solidFill>
                <a:latin typeface="Calibri" pitchFamily="34" charset="0"/>
                <a:ea typeface="Calibri" pitchFamily="34" charset="-122"/>
                <a:cs typeface="Calibri" pitchFamily="34" charset="-120"/>
              </a:rPr>
              <a:t>has not moved for 15 timesteps</a:t>
            </a:r>
            <a:endParaRPr lang="en-US" sz="1150" dirty="0"/>
          </a:p>
        </p:txBody>
      </p:sp>
      <p:sp>
        <p:nvSpPr>
          <p:cNvPr id="17" name="Shape 14"/>
          <p:cNvSpPr/>
          <p:nvPr/>
        </p:nvSpPr>
        <p:spPr>
          <a:xfrm>
            <a:off x="7516368" y="3474720"/>
            <a:ext cx="4078224" cy="1078992"/>
          </a:xfrm>
          <a:prstGeom prst="roundRect">
            <a:avLst>
              <a:gd name="adj" fmla="val 4237"/>
            </a:avLst>
          </a:prstGeom>
          <a:solidFill>
            <a:srgbClr val="0F1113"/>
          </a:solidFill>
          <a:ln/>
        </p:spPr>
      </p:sp>
      <p:sp>
        <p:nvSpPr>
          <p:cNvPr id="18" name="Text 15"/>
          <p:cNvSpPr txBox="1"/>
          <p:nvPr/>
        </p:nvSpPr>
        <p:spPr>
          <a:xfrm>
            <a:off x="7754112" y="3602736"/>
            <a:ext cx="3602736" cy="822960"/>
          </a:xfrm>
          <a:prstGeom prst="rect">
            <a:avLst/>
          </a:prstGeom>
          <a:noFill/>
          <a:ln/>
        </p:spPr>
        <p:txBody>
          <a:bodyPr wrap="square" lIns="0" tIns="0" rIns="0" bIns="0" rtlCol="0" anchor="ctr"/>
          <a:lstStyle/>
          <a:p>
            <a:pPr indent="0" marL="0">
              <a:lnSpc>
                <a:spcPct val="112000"/>
              </a:lnSpc>
              <a:buNone/>
            </a:pPr>
            <a:r>
              <a:rPr lang="en-US" sz="1200" dirty="0">
                <a:solidFill>
                  <a:srgbClr val="E8E7E3"/>
                </a:solidFill>
                <a:latin typeface="Calibri" pitchFamily="34" charset="0"/>
                <a:ea typeface="Calibri" pitchFamily="34" charset="-122"/>
                <a:cs typeface="Calibri" pitchFamily="34" charset="-120"/>
              </a:rPr>
              <a:t>Red means stuck, and nothing else on the frame is red. A floor that jammed would fill with red and the delivered-tasks chart under it would flatten. Watch that this one does not.</a:t>
            </a:r>
            <a:endParaRPr lang="en-US" sz="1200" dirty="0"/>
          </a:p>
        </p:txBody>
      </p:sp>
      <p:sp>
        <p:nvSpPr>
          <p:cNvPr id="19" name="Text 16"/>
          <p:cNvSpPr txBox="1"/>
          <p:nvPr/>
        </p:nvSpPr>
        <p:spPr>
          <a:xfrm>
            <a:off x="7516368" y="4700016"/>
            <a:ext cx="4078224" cy="1188720"/>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What you are watching.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 blocked robot lends its rank to the robot in its way and pushes; an idle robot is displaced by the first busy one that needs its cell. So the one corridor every task must cross drains instead of gridlocking.</a:t>
            </a:r>
            <a:endParaRPr lang="en-US" sz="1150" dirty="0"/>
          </a:p>
        </p:txBody>
      </p:sp>
      <p:sp>
        <p:nvSpPr>
          <p:cNvPr id="20" name="Text 17"/>
          <p:cNvSpPr txBox="1"/>
          <p:nvPr/>
        </p:nvSpPr>
        <p:spPr>
          <a:xfrm>
            <a:off x="566928" y="5907024"/>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warehouse_bottleneck, 16 robots, arrival rate 0.8, 400 timesteps, seed 0, full_lda_pibt. Animates in slideshow. A single seeded run is one draw from the five-seed mean opposite, so it shows the mechanism rather than the average.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COMPLETE COMPARISON</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All four floors, not just the best one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The featured chart is one floor. This is the picture it has to be weighed against.</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1417320"/>
                <a:gridCol w="685800"/>
                <a:gridCol w="2331720"/>
                <a:gridCol w="1143000"/>
                <a:gridCol w="960120"/>
                <a:gridCol w="822960"/>
                <a:gridCol w="914400"/>
                <a:gridCol w="2752344"/>
              </a:tblGrid>
              <a:tr h="402336">
                <a:tc>
                  <a:txBody>
                    <a:bodyPr/>
                    <a:lstStyle/>
                    <a:p>
                      <a:pPr algn="l" indent="0" marL="0">
                        <a:buNone/>
                      </a:pPr>
                      <a:r>
                        <a:rPr lang="en-US" sz="1050" b="1" dirty="0">
                          <a:solidFill>
                            <a:srgbClr val="0B0B0B"/>
                          </a:solidFill>
                          <a:latin typeface="Arial" pitchFamily="34" charset="0"/>
                          <a:ea typeface="Arial" pitchFamily="34" charset="-122"/>
                          <a:cs typeface="Arial" pitchFamily="34" charset="-120"/>
                        </a:rPr>
                        <a:t>Floor</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Fleet</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l" indent="0" marL="0">
                        <a:buNone/>
                      </a:pPr>
                      <a:r>
                        <a:rPr lang="en-US" sz="1050" b="1" dirty="0">
                          <a:solidFill>
                            <a:srgbClr val="0B0B0B"/>
                          </a:solidFill>
                          <a:latin typeface="Arial" pitchFamily="34" charset="0"/>
                          <a:ea typeface="Arial" pitchFamily="34" charset="-122"/>
                          <a:cs typeface="Arial" pitchFamily="34" charset="-120"/>
                        </a:rPr>
                        <a:t>Best aisleflow configuration</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Aisleflow</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RHCR</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TP</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TPTS</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l" indent="0" marL="0">
                        <a:buNone/>
                      </a:pPr>
                      <a:r>
                        <a:rPr lang="en-US" sz="1050" b="1" dirty="0">
                          <a:solidFill>
                            <a:srgbClr val="0B0B0B"/>
                          </a:solidFill>
                          <a:latin typeface="Arial" pitchFamily="34" charset="0"/>
                          <a:ea typeface="Arial" pitchFamily="34" charset="-122"/>
                          <a:cs typeface="Arial" pitchFamily="34" charset="-120"/>
                        </a:rPr>
                        <a:t>Lead over the strongest baseline</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402336">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bottleneck</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full congestion config</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147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b="1" dirty="0">
                          <a:solidFill>
                            <a:srgbClr val="1BAF7A"/>
                          </a:solidFill>
                          <a:latin typeface="Calibri" pitchFamily="34" charset="0"/>
                          <a:ea typeface="Calibri" pitchFamily="34" charset="-122"/>
                          <a:cs typeface="Calibri" pitchFamily="34" charset="-120"/>
                        </a:rPr>
                        <a:t>+47% · no interval overlap</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02336">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corridors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full congestion config</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153</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+20% · inside the intervals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02336">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narrow</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plain lifelong PIBT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354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178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b="1" dirty="0">
                          <a:solidFill>
                            <a:srgbClr val="1BAF7A"/>
                          </a:solidFill>
                          <a:latin typeface="Calibri" pitchFamily="34" charset="0"/>
                          <a:ea typeface="Calibri" pitchFamily="34" charset="-122"/>
                          <a:cs typeface="Calibri" pitchFamily="34" charset="-120"/>
                        </a:rPr>
                        <a:t>+99% · no interval overlap</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402336">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plain lifelong PIBT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502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478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150" dirty="0">
                          <a:solidFill>
                            <a:srgbClr val="898781"/>
                          </a:solidFill>
                          <a:latin typeface="Calibri" pitchFamily="34" charset="0"/>
                          <a:ea typeface="Calibri" pitchFamily="34" charset="-122"/>
                          <a:cs typeface="Calibri" pitchFamily="34" charset="-120"/>
                        </a:rPr>
                        <a:t>+5% · inside the intervals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566928" y="3895344"/>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Tasks delivered per 1000 timesteps; higher is better. 5 seeds × 400 steps, identical job streams across planners. Token Passing and TPTS deliver nothing at all on corridors, which has 35 robots and no parking bays.</a:t>
            </a:r>
            <a:endParaRPr lang="en-US" sz="1050" dirty="0"/>
          </a:p>
        </p:txBody>
      </p:sp>
      <p:sp>
        <p:nvSpPr>
          <p:cNvPr id="9" name="Shape 6"/>
          <p:cNvSpPr/>
          <p:nvPr/>
        </p:nvSpPr>
        <p:spPr>
          <a:xfrm>
            <a:off x="566928" y="4407408"/>
            <a:ext cx="5330952" cy="1481328"/>
          </a:xfrm>
          <a:prstGeom prst="roundRect">
            <a:avLst>
              <a:gd name="adj" fmla="val 3086"/>
            </a:avLst>
          </a:prstGeom>
          <a:solidFill>
            <a:srgbClr val="F2F1EC"/>
          </a:solidFill>
          <a:ln/>
        </p:spPr>
      </p:sp>
      <p:sp>
        <p:nvSpPr>
          <p:cNvPr id="10" name="Text 7"/>
          <p:cNvSpPr txBox="1"/>
          <p:nvPr/>
        </p:nvSpPr>
        <p:spPr>
          <a:xfrm>
            <a:off x="786384" y="4608576"/>
            <a:ext cx="4892040" cy="274320"/>
          </a:xfrm>
          <a:prstGeom prst="rect">
            <a:avLst/>
          </a:prstGeom>
          <a:noFill/>
          <a:ln/>
        </p:spPr>
        <p:txBody>
          <a:bodyPr wrap="square" lIns="0" tIns="0" rIns="0" bIns="0" rtlCol="0" anchor="t"/>
          <a:lstStyle/>
          <a:p>
            <a:pPr indent="0" marL="0">
              <a:buNone/>
            </a:pPr>
            <a:r>
              <a:rPr lang="en-US" sz="1400" b="1" dirty="0">
                <a:solidFill>
                  <a:srgbClr val="0B0B0B"/>
                </a:solidFill>
                <a:latin typeface="Arial" pitchFamily="34" charset="0"/>
                <a:ea typeface="Arial" pitchFamily="34" charset="-122"/>
                <a:cs typeface="Arial" pitchFamily="34" charset="-120"/>
              </a:rPr>
              <a:t>Two of these wins are not ours</a:t>
            </a:r>
            <a:endParaRPr lang="en-US" sz="1400" dirty="0"/>
          </a:p>
        </p:txBody>
      </p:sp>
      <p:sp>
        <p:nvSpPr>
          <p:cNvPr id="11" name="Text 8"/>
          <p:cNvSpPr txBox="1"/>
          <p:nvPr/>
        </p:nvSpPr>
        <p:spPr>
          <a:xfrm>
            <a:off x="786384" y="4937760"/>
            <a:ext cx="4892040" cy="859536"/>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On narrow and medium the winning configuration is plain lifelong PIBT — the published algorithm this project implements, not what this project added on top of it. Slide 12 is where that gets settled, and it is the most useful finding in the study.</a:t>
            </a:r>
            <a:endParaRPr lang="en-US" sz="1150" dirty="0"/>
          </a:p>
        </p:txBody>
      </p:sp>
      <p:sp>
        <p:nvSpPr>
          <p:cNvPr id="12" name="Shape 9"/>
          <p:cNvSpPr/>
          <p:nvPr/>
        </p:nvSpPr>
        <p:spPr>
          <a:xfrm>
            <a:off x="6263640" y="4407408"/>
            <a:ext cx="5330952" cy="1481328"/>
          </a:xfrm>
          <a:prstGeom prst="roundRect">
            <a:avLst>
              <a:gd name="adj" fmla="val 3086"/>
            </a:avLst>
          </a:prstGeom>
          <a:solidFill>
            <a:srgbClr val="F2F1EC"/>
          </a:solidFill>
          <a:ln/>
        </p:spPr>
      </p:sp>
      <p:sp>
        <p:nvSpPr>
          <p:cNvPr id="13" name="Text 10"/>
          <p:cNvSpPr txBox="1"/>
          <p:nvPr/>
        </p:nvSpPr>
        <p:spPr>
          <a:xfrm>
            <a:off x="6483096" y="4608576"/>
            <a:ext cx="4892040" cy="274320"/>
          </a:xfrm>
          <a:prstGeom prst="rect">
            <a:avLst/>
          </a:prstGeom>
          <a:noFill/>
          <a:ln/>
        </p:spPr>
        <p:txBody>
          <a:bodyPr wrap="square" lIns="0" tIns="0" rIns="0" bIns="0" rtlCol="0" anchor="t"/>
          <a:lstStyle/>
          <a:p>
            <a:pPr indent="0" marL="0">
              <a:buNone/>
            </a:pPr>
            <a:r>
              <a:rPr lang="en-US" sz="1400" b="1" dirty="0">
                <a:solidFill>
                  <a:srgbClr val="0B0B0B"/>
                </a:solidFill>
                <a:latin typeface="Arial" pitchFamily="34" charset="0"/>
                <a:ea typeface="Arial" pitchFamily="34" charset="-122"/>
                <a:cs typeface="Arial" pitchFamily="34" charset="-120"/>
              </a:rPr>
              <a:t>Two of these baselines are outside their envelope</a:t>
            </a:r>
            <a:endParaRPr lang="en-US" sz="1400" dirty="0"/>
          </a:p>
        </p:txBody>
      </p:sp>
      <p:sp>
        <p:nvSpPr>
          <p:cNvPr id="14" name="Text 11"/>
          <p:cNvSpPr txBox="1"/>
          <p:nvPr/>
        </p:nvSpPr>
        <p:spPr>
          <a:xfrm>
            <a:off x="6483096" y="4937760"/>
            <a:ext cx="4892040" cy="859536"/>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Token Passing and TPTS assume a well-formed instance — one parking endpoint per agent. None of these floors provides one at these robot counts. That is stated rather than scored: RHCR shares no such assumption and is the honest comparator throughout.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COMPUTE ECONOMICS</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What the planner costs to run</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Recorded by every run in the baseline suite, and tabulated here for the first time.</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6720840" cy="914400"/>
        </p:xfrm>
        <a:graphic>
          <a:graphicData uri="http://schemas.openxmlformats.org/drawingml/2006/table">
            <a:tbl>
              <a:tblPr/>
              <a:tblGrid>
                <a:gridCol w="1371600"/>
                <a:gridCol w="640080"/>
                <a:gridCol w="1234440"/>
                <a:gridCol w="1188720"/>
                <a:gridCol w="1143000"/>
                <a:gridCol w="1143000"/>
              </a:tblGrid>
              <a:tr h="365760">
                <a:tc>
                  <a:txBody>
                    <a:bodyPr/>
                    <a:lstStyle/>
                    <a:p>
                      <a:pPr algn="l" indent="0" marL="0">
                        <a:buNone/>
                      </a:pPr>
                      <a:r>
                        <a:rPr lang="en-US" sz="1050" b="1" dirty="0">
                          <a:solidFill>
                            <a:srgbClr val="0B0B0B"/>
                          </a:solidFill>
                          <a:latin typeface="Arial" pitchFamily="34" charset="0"/>
                          <a:ea typeface="Arial" pitchFamily="34" charset="-122"/>
                          <a:cs typeface="Arial" pitchFamily="34" charset="-120"/>
                        </a:rPr>
                        <a:t>Floor</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Fleet</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Aisleflow plain</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Aisleflow full</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RHCR</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050" b="1" dirty="0">
                          <a:solidFill>
                            <a:srgbClr val="0B0B0B"/>
                          </a:solidFill>
                          <a:latin typeface="Arial" pitchFamily="34" charset="0"/>
                          <a:ea typeface="Arial" pitchFamily="34" charset="-122"/>
                          <a:cs typeface="Arial" pitchFamily="34" charset="-120"/>
                        </a:rPr>
                        <a:t>Token Passing</a:t>
                      </a:r>
                      <a:endParaRPr lang="en-US" sz="105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65760">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bottleneck</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0.43</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1.19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30.09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134.44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65760">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corridors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0.82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2.16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77.13</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122.35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65760">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narrow</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3.27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104.38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386.44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65760">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1.12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2A78D6"/>
                          </a:solidFill>
                          <a:latin typeface="Calibri" pitchFamily="34" charset="0"/>
                          <a:ea typeface="Calibri" pitchFamily="34" charset="-122"/>
                          <a:cs typeface="Calibri" pitchFamily="34" charset="-120"/>
                        </a:rPr>
                        <a:t>3.39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58.95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1245.32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566928" y="3785616"/>
            <a:ext cx="672084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Mean planner runtime in milliseconds per timestep. Lower is better.</a:t>
            </a:r>
            <a:endParaRPr lang="en-US" sz="1050" dirty="0"/>
          </a:p>
        </p:txBody>
      </p:sp>
      <p:sp>
        <p:nvSpPr>
          <p:cNvPr id="9" name="Shape 6"/>
          <p:cNvSpPr/>
          <p:nvPr/>
        </p:nvSpPr>
        <p:spPr>
          <a:xfrm>
            <a:off x="7653528" y="1810512"/>
            <a:ext cx="3941064" cy="1335024"/>
          </a:xfrm>
          <a:prstGeom prst="roundRect">
            <a:avLst>
              <a:gd name="adj" fmla="val 4110"/>
            </a:avLst>
          </a:prstGeom>
          <a:solidFill>
            <a:srgbClr val="F2F1EC"/>
          </a:solidFill>
          <a:ln/>
        </p:spPr>
      </p:sp>
      <p:sp>
        <p:nvSpPr>
          <p:cNvPr id="10" name="Text 7"/>
          <p:cNvSpPr txBox="1"/>
          <p:nvPr/>
        </p:nvSpPr>
        <p:spPr>
          <a:xfrm>
            <a:off x="7854696" y="1956816"/>
            <a:ext cx="3538728" cy="749808"/>
          </a:xfrm>
          <a:prstGeom prst="rect">
            <a:avLst/>
          </a:prstGeom>
          <a:noFill/>
          <a:ln/>
        </p:spPr>
        <p:txBody>
          <a:bodyPr wrap="square" lIns="0" tIns="0" rIns="0" bIns="0" rtlCol="0" anchor="ctr"/>
          <a:lstStyle/>
          <a:p>
            <a:pPr algn="l" indent="0" marL="0">
              <a:buNone/>
            </a:pPr>
            <a:r>
              <a:rPr lang="en-US" sz="3200" b="1" dirty="0">
                <a:solidFill>
                  <a:srgbClr val="EB6834"/>
                </a:solidFill>
                <a:latin typeface="Arial" pitchFamily="34" charset="0"/>
                <a:ea typeface="Arial" pitchFamily="34" charset="-122"/>
                <a:cs typeface="Arial" pitchFamily="34" charset="-120"/>
              </a:rPr>
              <a:t>17–36×</a:t>
            </a:r>
            <a:endParaRPr lang="en-US" sz="3200" dirty="0"/>
          </a:p>
        </p:txBody>
      </p:sp>
      <p:sp>
        <p:nvSpPr>
          <p:cNvPr id="11" name="Text 8"/>
          <p:cNvSpPr txBox="1"/>
          <p:nvPr/>
        </p:nvSpPr>
        <p:spPr>
          <a:xfrm>
            <a:off x="7854696" y="2724912"/>
            <a:ext cx="3538728" cy="310896"/>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less compute than RHCR, the strongest baseline, on every floor</a:t>
            </a:r>
            <a:endParaRPr lang="en-US" sz="1200" dirty="0"/>
          </a:p>
        </p:txBody>
      </p:sp>
      <p:sp>
        <p:nvSpPr>
          <p:cNvPr id="12" name="Shape 9"/>
          <p:cNvSpPr/>
          <p:nvPr/>
        </p:nvSpPr>
        <p:spPr>
          <a:xfrm>
            <a:off x="7653528" y="3291840"/>
            <a:ext cx="3941064" cy="1335024"/>
          </a:xfrm>
          <a:prstGeom prst="roundRect">
            <a:avLst>
              <a:gd name="adj" fmla="val 4110"/>
            </a:avLst>
          </a:prstGeom>
          <a:solidFill>
            <a:srgbClr val="F2F1EC"/>
          </a:solidFill>
          <a:ln/>
        </p:spPr>
      </p:sp>
      <p:sp>
        <p:nvSpPr>
          <p:cNvPr id="13" name="Text 10"/>
          <p:cNvSpPr txBox="1"/>
          <p:nvPr/>
        </p:nvSpPr>
        <p:spPr>
          <a:xfrm>
            <a:off x="7854696" y="3438144"/>
            <a:ext cx="3538728" cy="749808"/>
          </a:xfrm>
          <a:prstGeom prst="rect">
            <a:avLst/>
          </a:prstGeom>
          <a:noFill/>
          <a:ln/>
        </p:spPr>
        <p:txBody>
          <a:bodyPr wrap="square" lIns="0" tIns="0" rIns="0" bIns="0" rtlCol="0" anchor="ctr"/>
          <a:lstStyle/>
          <a:p>
            <a:pPr algn="l" indent="0" marL="0">
              <a:buNone/>
            </a:pPr>
            <a:r>
              <a:rPr lang="en-US" sz="3200" b="1" dirty="0">
                <a:solidFill>
                  <a:srgbClr val="EB6834"/>
                </a:solidFill>
                <a:latin typeface="Arial" pitchFamily="34" charset="0"/>
                <a:ea typeface="Arial" pitchFamily="34" charset="-122"/>
                <a:cs typeface="Arial" pitchFamily="34" charset="-120"/>
              </a:rPr>
              <a:t>57–367×</a:t>
            </a:r>
            <a:endParaRPr lang="en-US" sz="3200" dirty="0"/>
          </a:p>
        </p:txBody>
      </p:sp>
      <p:sp>
        <p:nvSpPr>
          <p:cNvPr id="14" name="Text 11"/>
          <p:cNvSpPr txBox="1"/>
          <p:nvPr/>
        </p:nvSpPr>
        <p:spPr>
          <a:xfrm>
            <a:off x="7854696" y="4206240"/>
            <a:ext cx="3538728" cy="310896"/>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less compute than Token Passing</a:t>
            </a:r>
            <a:endParaRPr lang="en-US" sz="1200" dirty="0"/>
          </a:p>
        </p:txBody>
      </p:sp>
      <p:sp>
        <p:nvSpPr>
          <p:cNvPr id="15" name="Shape 12"/>
          <p:cNvSpPr/>
          <p:nvPr/>
        </p:nvSpPr>
        <p:spPr>
          <a:xfrm>
            <a:off x="7653528" y="4773168"/>
            <a:ext cx="3941064" cy="1335024"/>
          </a:xfrm>
          <a:prstGeom prst="roundRect">
            <a:avLst>
              <a:gd name="adj" fmla="val 4110"/>
            </a:avLst>
          </a:prstGeom>
          <a:solidFill>
            <a:srgbClr val="F2F1EC"/>
          </a:solidFill>
          <a:ln/>
        </p:spPr>
      </p:sp>
      <p:sp>
        <p:nvSpPr>
          <p:cNvPr id="16" name="Text 13"/>
          <p:cNvSpPr txBox="1"/>
          <p:nvPr/>
        </p:nvSpPr>
        <p:spPr>
          <a:xfrm>
            <a:off x="7854696" y="4919472"/>
            <a:ext cx="3538728" cy="749808"/>
          </a:xfrm>
          <a:prstGeom prst="rect">
            <a:avLst/>
          </a:prstGeom>
          <a:noFill/>
          <a:ln/>
        </p:spPr>
        <p:txBody>
          <a:bodyPr wrap="square" lIns="0" tIns="0" rIns="0" bIns="0" rtlCol="0" anchor="ctr"/>
          <a:lstStyle/>
          <a:p>
            <a:pPr algn="l" indent="0" marL="0">
              <a:buNone/>
            </a:pPr>
            <a:r>
              <a:rPr lang="en-US" sz="3200" b="1" dirty="0">
                <a:solidFill>
                  <a:srgbClr val="EB6834"/>
                </a:solidFill>
                <a:latin typeface="Arial" pitchFamily="34" charset="0"/>
                <a:ea typeface="Arial" pitchFamily="34" charset="-122"/>
                <a:cs typeface="Arial" pitchFamily="34" charset="-120"/>
              </a:rPr>
              <a:t>3.4%</a:t>
            </a:r>
            <a:endParaRPr lang="en-US" sz="3200" dirty="0"/>
          </a:p>
        </p:txBody>
      </p:sp>
      <p:sp>
        <p:nvSpPr>
          <p:cNvPr id="17" name="Text 14"/>
          <p:cNvSpPr txBox="1"/>
          <p:nvPr/>
        </p:nvSpPr>
        <p:spPr>
          <a:xfrm>
            <a:off x="7854696" y="5687568"/>
            <a:ext cx="3538728" cy="310896"/>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of one CPU core to drive 40 robots at 10 Hz</a:t>
            </a:r>
            <a:endParaRPr lang="en-US" sz="1200" dirty="0"/>
          </a:p>
        </p:txBody>
      </p:sp>
      <p:sp>
        <p:nvSpPr>
          <p:cNvPr id="18" name="Shape 15"/>
          <p:cNvSpPr/>
          <p:nvPr/>
        </p:nvSpPr>
        <p:spPr>
          <a:xfrm>
            <a:off x="566928" y="4297680"/>
            <a:ext cx="6720840" cy="1481328"/>
          </a:xfrm>
          <a:prstGeom prst="roundRect">
            <a:avLst>
              <a:gd name="adj" fmla="val 3086"/>
            </a:avLst>
          </a:prstGeom>
          <a:solidFill>
            <a:srgbClr val="0F1113"/>
          </a:solidFill>
          <a:ln/>
        </p:spPr>
      </p:sp>
      <p:sp>
        <p:nvSpPr>
          <p:cNvPr id="19" name="Text 16"/>
          <p:cNvSpPr txBox="1"/>
          <p:nvPr/>
        </p:nvSpPr>
        <p:spPr>
          <a:xfrm>
            <a:off x="804672" y="4425696"/>
            <a:ext cx="6245352" cy="1225296"/>
          </a:xfrm>
          <a:prstGeom prst="rect">
            <a:avLst/>
          </a:prstGeom>
          <a:noFill/>
          <a:ln/>
        </p:spPr>
        <p:txBody>
          <a:bodyPr wrap="square" lIns="0" tIns="0" rIns="0" bIns="0" rtlCol="0" anchor="ctr"/>
          <a:lstStyle/>
          <a:p>
            <a:pPr indent="0" marL="0">
              <a:lnSpc>
                <a:spcPct val="112000"/>
              </a:lnSpc>
              <a:buNone/>
            </a:pPr>
            <a:r>
              <a:rPr lang="en-US" sz="1250" dirty="0">
                <a:solidFill>
                  <a:srgbClr val="E8E7E3"/>
                </a:solidFill>
                <a:latin typeface="Calibri" pitchFamily="34" charset="0"/>
                <a:ea typeface="Calibri" pitchFamily="34" charset="-122"/>
                <a:cs typeface="Calibri" pitchFamily="34" charset="-120"/>
              </a:rPr>
              <a:t>At 40 robots on medium, a 10 Hz control loop costs aisleflow 3.4% of one core and RHCR 59%. Token Passing needs 1.25 seconds of compute per timestep — it cannot close a 1 Hz loop at all. That is the difference between one edge box for the fleet and a machine per aisle.</a:t>
            </a:r>
            <a:endParaRPr lang="en-US" sz="1250" dirty="0"/>
          </a:p>
        </p:txBody>
      </p:sp>
      <p:sp>
        <p:nvSpPr>
          <p:cNvPr id="20" name="Text 17"/>
          <p:cNvSpPr txBox="1"/>
          <p:nvPr/>
        </p:nvSpPr>
        <p:spPr>
          <a:xfrm>
            <a:off x="566928" y="5888736"/>
            <a:ext cx="672084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Single-threaded pure Python on one host. All five planners ran in the same runtime on the same scenarios, so the ratios are the comparable quantity, not the absolute milliseconds. Ratios are taken against aisleflow's dearer configuration, so they are the conservative reading.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FLEET SIZING</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Where the next robot stops paying</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The same planner, the same sweep, two floors — and opposite capital answers.</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6720840" cy="914400"/>
        </p:xfrm>
        <a:graphic>
          <a:graphicData uri="http://schemas.openxmlformats.org/drawingml/2006/table">
            <a:tbl>
              <a:tblPr/>
              <a:tblGrid>
                <a:gridCol w="2331720"/>
                <a:gridCol w="877824"/>
                <a:gridCol w="877824"/>
                <a:gridCol w="877824"/>
                <a:gridCol w="877824"/>
                <a:gridCol w="877824"/>
              </a:tblGrid>
              <a:tr h="384048">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Floor (best configuration)</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5 robots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10 robots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20 robots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30 robots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40 robots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corridors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84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122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152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162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152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122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194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350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438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498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566928" y="2999232"/>
            <a:ext cx="672084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Tasks delivered per 1000 timesteps; bold is each floor's peak. 3 seeds × 400 steps, best configuration for that floor.</a:t>
            </a:r>
            <a:endParaRPr lang="en-US" sz="1050" dirty="0"/>
          </a:p>
        </p:txBody>
      </p:sp>
      <p:sp>
        <p:nvSpPr>
          <p:cNvPr id="9" name="Shape 6"/>
          <p:cNvSpPr/>
          <p:nvPr/>
        </p:nvSpPr>
        <p:spPr>
          <a:xfrm>
            <a:off x="7653528" y="1810512"/>
            <a:ext cx="3941064" cy="1335024"/>
          </a:xfrm>
          <a:prstGeom prst="roundRect">
            <a:avLst>
              <a:gd name="adj" fmla="val 4110"/>
            </a:avLst>
          </a:prstGeom>
          <a:solidFill>
            <a:srgbClr val="F2F1EC"/>
          </a:solidFill>
          <a:ln/>
        </p:spPr>
      </p:sp>
      <p:sp>
        <p:nvSpPr>
          <p:cNvPr id="10" name="Text 7"/>
          <p:cNvSpPr txBox="1"/>
          <p:nvPr/>
        </p:nvSpPr>
        <p:spPr>
          <a:xfrm>
            <a:off x="7854696" y="1956816"/>
            <a:ext cx="3538728" cy="749808"/>
          </a:xfrm>
          <a:prstGeom prst="rect">
            <a:avLst/>
          </a:prstGeom>
          <a:noFill/>
          <a:ln/>
        </p:spPr>
        <p:txBody>
          <a:bodyPr wrap="square" lIns="0" tIns="0" rIns="0" bIns="0" rtlCol="0" anchor="ctr"/>
          <a:lstStyle/>
          <a:p>
            <a:pPr algn="l" indent="0" marL="0">
              <a:buNone/>
            </a:pPr>
            <a:r>
              <a:rPr lang="en-US" sz="3400" b="1" dirty="0">
                <a:solidFill>
                  <a:srgbClr val="D03B3B"/>
                </a:solidFill>
                <a:latin typeface="Arial" pitchFamily="34" charset="0"/>
                <a:ea typeface="Arial" pitchFamily="34" charset="-122"/>
                <a:cs typeface="Arial" pitchFamily="34" charset="-120"/>
              </a:rPr>
              <a:t>0</a:t>
            </a:r>
            <a:endParaRPr lang="en-US" sz="3400" dirty="0"/>
          </a:p>
        </p:txBody>
      </p:sp>
      <p:sp>
        <p:nvSpPr>
          <p:cNvPr id="11" name="Text 8"/>
          <p:cNvSpPr txBox="1"/>
          <p:nvPr/>
        </p:nvSpPr>
        <p:spPr>
          <a:xfrm>
            <a:off x="7854696" y="2724912"/>
            <a:ext cx="3538728" cy="310896"/>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tasks from robots 21–40 on corridors — the second twenty delivered nothing</a:t>
            </a:r>
            <a:endParaRPr lang="en-US" sz="1200" dirty="0"/>
          </a:p>
        </p:txBody>
      </p:sp>
      <p:sp>
        <p:nvSpPr>
          <p:cNvPr id="12" name="Shape 9"/>
          <p:cNvSpPr/>
          <p:nvPr/>
        </p:nvSpPr>
        <p:spPr>
          <a:xfrm>
            <a:off x="7653528" y="3291840"/>
            <a:ext cx="3941064" cy="1335024"/>
          </a:xfrm>
          <a:prstGeom prst="roundRect">
            <a:avLst>
              <a:gd name="adj" fmla="val 4110"/>
            </a:avLst>
          </a:prstGeom>
          <a:solidFill>
            <a:srgbClr val="F2F1EC"/>
          </a:solidFill>
          <a:ln/>
        </p:spPr>
      </p:sp>
      <p:sp>
        <p:nvSpPr>
          <p:cNvPr id="13" name="Text 10"/>
          <p:cNvSpPr txBox="1"/>
          <p:nvPr/>
        </p:nvSpPr>
        <p:spPr>
          <a:xfrm>
            <a:off x="7854696" y="3438144"/>
            <a:ext cx="3538728" cy="749808"/>
          </a:xfrm>
          <a:prstGeom prst="rect">
            <a:avLst/>
          </a:prstGeom>
          <a:noFill/>
          <a:ln/>
        </p:spPr>
        <p:txBody>
          <a:bodyPr wrap="square" lIns="0" tIns="0" rIns="0" bIns="0" rtlCol="0" anchor="ctr"/>
          <a:lstStyle/>
          <a:p>
            <a:pPr algn="l" indent="0" marL="0">
              <a:buNone/>
            </a:pPr>
            <a:r>
              <a:rPr lang="en-US" sz="3400" b="1" dirty="0">
                <a:solidFill>
                  <a:srgbClr val="1BAF7A"/>
                </a:solidFill>
                <a:latin typeface="Arial" pitchFamily="34" charset="0"/>
                <a:ea typeface="Arial" pitchFamily="34" charset="-122"/>
                <a:cs typeface="Arial" pitchFamily="34" charset="-120"/>
              </a:rPr>
              <a:t>+42%</a:t>
            </a:r>
            <a:endParaRPr lang="en-US" sz="3400" dirty="0"/>
          </a:p>
        </p:txBody>
      </p:sp>
      <p:sp>
        <p:nvSpPr>
          <p:cNvPr id="14" name="Text 11"/>
          <p:cNvSpPr txBox="1"/>
          <p:nvPr/>
        </p:nvSpPr>
        <p:spPr>
          <a:xfrm>
            <a:off x="7854696" y="4206240"/>
            <a:ext cx="3538728" cy="310896"/>
          </a:xfrm>
          <a:prstGeom prst="rect">
            <a:avLst/>
          </a:prstGeom>
          <a:noFill/>
          <a:ln/>
        </p:spPr>
        <p:txBody>
          <a:bodyPr wrap="square" lIns="0" tIns="0" rIns="0" bIns="0" rtlCol="0" anchor="t"/>
          <a:lstStyle/>
          <a:p>
            <a:pPr indent="0" marL="0">
              <a:lnSpc>
                <a:spcPct val="108000"/>
              </a:lnSpc>
              <a:buNone/>
            </a:pPr>
            <a:r>
              <a:rPr lang="en-US" sz="1200" dirty="0">
                <a:solidFill>
                  <a:srgbClr val="52514E"/>
                </a:solidFill>
                <a:latin typeface="Calibri" pitchFamily="34" charset="0"/>
                <a:ea typeface="Calibri" pitchFamily="34" charset="-122"/>
                <a:cs typeface="Calibri" pitchFamily="34" charset="-120"/>
              </a:rPr>
              <a:t>from exactly the same twenty robots on medium</a:t>
            </a:r>
            <a:endParaRPr lang="en-US" sz="1200" dirty="0"/>
          </a:p>
        </p:txBody>
      </p:sp>
      <p:sp>
        <p:nvSpPr>
          <p:cNvPr id="15" name="Shape 12"/>
          <p:cNvSpPr/>
          <p:nvPr/>
        </p:nvSpPr>
        <p:spPr>
          <a:xfrm>
            <a:off x="566928" y="3584448"/>
            <a:ext cx="6720840" cy="1371600"/>
          </a:xfrm>
          <a:prstGeom prst="roundRect">
            <a:avLst>
              <a:gd name="adj" fmla="val 3333"/>
            </a:avLst>
          </a:prstGeom>
          <a:solidFill>
            <a:srgbClr val="0F1113"/>
          </a:solidFill>
          <a:ln/>
        </p:spPr>
      </p:sp>
      <p:sp>
        <p:nvSpPr>
          <p:cNvPr id="16" name="Text 13"/>
          <p:cNvSpPr txBox="1"/>
          <p:nvPr/>
        </p:nvSpPr>
        <p:spPr>
          <a:xfrm>
            <a:off x="804672" y="3712464"/>
            <a:ext cx="6245352" cy="1115568"/>
          </a:xfrm>
          <a:prstGeom prst="rect">
            <a:avLst/>
          </a:prstGeom>
          <a:noFill/>
          <a:ln/>
        </p:spPr>
        <p:txBody>
          <a:bodyPr wrap="square" lIns="0" tIns="0" rIns="0" bIns="0" rtlCol="0" anchor="ctr"/>
          <a:lstStyle/>
          <a:p>
            <a:pPr indent="0" marL="0">
              <a:lnSpc>
                <a:spcPct val="112000"/>
              </a:lnSpc>
              <a:buNone/>
            </a:pPr>
            <a:r>
              <a:rPr lang="en-US" sz="1250" dirty="0">
                <a:solidFill>
                  <a:srgbClr val="E8E7E3"/>
                </a:solidFill>
                <a:latin typeface="Calibri" pitchFamily="34" charset="0"/>
                <a:ea typeface="Calibri" pitchFamily="34" charset="-122"/>
                <a:cs typeface="Calibri" pitchFamily="34" charset="-120"/>
              </a:rPr>
              <a:t>On corridors throughput peaks at 30 robots and falls at 40: the chokepoints saturate and the extra robots become traffic. On medium it is still climbing at 40. Fleet size is a property of the layout, and getting it wrong by a factor of two is the largest single error available before anything is bought.</a:t>
            </a:r>
            <a:endParaRPr lang="en-US" sz="1250" dirty="0"/>
          </a:p>
        </p:txBody>
      </p:sp>
      <p:sp>
        <p:nvSpPr>
          <p:cNvPr id="17" name="Text 14"/>
          <p:cNvSpPr txBox="1"/>
          <p:nvPr/>
        </p:nvSpPr>
        <p:spPr>
          <a:xfrm>
            <a:off x="566928" y="5120640"/>
            <a:ext cx="11027664" cy="822960"/>
          </a:xfrm>
          <a:prstGeom prst="rect">
            <a:avLst/>
          </a:prstGeom>
          <a:noFill/>
          <a:ln/>
        </p:spPr>
        <p:txBody>
          <a:bodyPr wrap="square" lIns="0" tIns="0" rIns="0" bIns="0" rtlCol="0" anchor="t"/>
          <a:lstStyle/>
          <a:p>
            <a:pPr indent="0" marL="0">
              <a:lnSpc>
                <a:spcPct val="110000"/>
              </a:lnSpc>
              <a:buNone/>
            </a:pPr>
            <a:r>
              <a:rPr lang="en-US" sz="1200" b="1" dirty="0">
                <a:solidFill>
                  <a:srgbClr val="0B0B0B"/>
                </a:solidFill>
                <a:latin typeface="Calibri" pitchFamily="34" charset="0"/>
                <a:ea typeface="Calibri" pitchFamily="34" charset="-122"/>
                <a:cs typeface="Calibri" pitchFamily="34" charset="-120"/>
              </a:rPr>
              <a:t>Why this matters commercially. </a:t>
            </a:r>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The sweep runs in minutes on a laptop, from a map file and an arrival rate. It answers “how many robots should this floor have?” before any of them are purchased — which is a question every operator has and almost none can answer from first principles. This measurement has no figure anywhere in the documentation; it lives only in docs/data/density.json.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FINDING THAT MATTERS MOST</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Every addition helps a tight floor and hurts an open one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Read each column top to bottom: every row adds one mechanism to the row above it.</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6949440" cy="914400"/>
        </p:xfrm>
        <a:graphic>
          <a:graphicData uri="http://schemas.openxmlformats.org/drawingml/2006/table">
            <a:tbl>
              <a:tblPr/>
              <a:tblGrid>
                <a:gridCol w="2560320"/>
                <a:gridCol w="1097280"/>
                <a:gridCol w="1097280"/>
                <a:gridCol w="1097280"/>
                <a:gridCol w="1097280"/>
              </a:tblGrid>
              <a:tr h="347472">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Configuration</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bottleneck</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corridors</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narrow</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47472">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plain lifelong PIBT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0.127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0.131</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0.354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0.502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47472">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 turning cost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0.152</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0.196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0.269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0.411</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47472">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 stay-in-lane bonus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0.155</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0.181</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0.256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0.424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47472">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 crowding</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0.147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0.178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0.309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0.426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47472">
                <a:tc>
                  <a:txBody>
                    <a:bodyPr/>
                    <a:lstStyle/>
                    <a:p>
                      <a:pPr algn="l" indent="0" marL="0">
                        <a:buNone/>
                      </a:pPr>
                      <a:r>
                        <a:rPr lang="en-US" sz="1150" dirty="0">
                          <a:solidFill>
                            <a:srgbClr val="52514E"/>
                          </a:solidFill>
                          <a:latin typeface="Calibri" pitchFamily="34" charset="0"/>
                          <a:ea typeface="Calibri" pitchFamily="34" charset="-122"/>
                          <a:cs typeface="Calibri" pitchFamily="34" charset="-120"/>
                        </a:rPr>
                        <a:t>+ deadlock recovery (full)</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0.147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0.153</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0.291</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0.416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566928" y="4023360"/>
            <a:ext cx="694944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Tasks per timestep; bold blue is the best configuration for that floor. 5 seeds × 400 steps.</a:t>
            </a:r>
            <a:endParaRPr lang="en-US" sz="1050" dirty="0"/>
          </a:p>
        </p:txBody>
      </p:sp>
      <p:sp>
        <p:nvSpPr>
          <p:cNvPr id="9" name="Text 6"/>
          <p:cNvSpPr txBox="1"/>
          <p:nvPr/>
        </p:nvSpPr>
        <p:spPr>
          <a:xfrm>
            <a:off x="7836408" y="1810512"/>
            <a:ext cx="3758184" cy="274320"/>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If more were always better</a:t>
            </a:r>
            <a:endParaRPr lang="en-US" sz="1400" dirty="0"/>
          </a:p>
        </p:txBody>
      </p:sp>
      <p:sp>
        <p:nvSpPr>
          <p:cNvPr id="10" name="Text 7"/>
          <p:cNvSpPr txBox="1"/>
          <p:nvPr/>
        </p:nvSpPr>
        <p:spPr>
          <a:xfrm>
            <a:off x="7836408" y="2139696"/>
            <a:ext cx="3758184" cy="731520"/>
          </a:xfrm>
          <a:prstGeom prst="rect">
            <a:avLst/>
          </a:prstGeom>
          <a:noFill/>
          <a:ln/>
        </p:spPr>
        <p:txBody>
          <a:bodyPr wrap="square" lIns="0" tIns="0" rIns="0" bIns="0" rtlCol="0" anchor="ctr"/>
          <a:lstStyle/>
          <a:p>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…the bottom row would be bold in all four columns. It is bold in none of them. The full configuration is not the best on any floor measured.</a:t>
            </a:r>
            <a:endParaRPr lang="en-US" sz="1200" dirty="0"/>
          </a:p>
        </p:txBody>
      </p:sp>
      <p:sp>
        <p:nvSpPr>
          <p:cNvPr id="11" name="Text 8"/>
          <p:cNvSpPr txBox="1"/>
          <p:nvPr/>
        </p:nvSpPr>
        <p:spPr>
          <a:xfrm>
            <a:off x="7836408" y="2944368"/>
            <a:ext cx="3758184" cy="1554480"/>
          </a:xfrm>
          <a:prstGeom prst="rect">
            <a:avLst/>
          </a:prstGeom>
          <a:noFill/>
          <a:ln/>
        </p:spPr>
        <p:txBody>
          <a:bodyPr wrap="square" lIns="0" tIns="0" rIns="0" bIns="0" rtlCol="0" anchor="t"/>
          <a:lstStyle/>
          <a:p>
            <a:pPr marL="342900" indent="-342900">
              <a:lnSpc>
                <a:spcPct val="108000"/>
              </a:lnSpc>
              <a:spcAft>
                <a:spcPts val="800"/>
              </a:spcAft>
              <a:buSzPct val="100000"/>
              <a:buChar char="•"/>
            </a:pPr>
            <a:r>
              <a:rPr lang="en-US" sz="1150" dirty="0">
                <a:solidFill>
                  <a:srgbClr val="52514E"/>
                </a:solidFill>
                <a:latin typeface="Calibri" pitchFamily="34" charset="0"/>
                <a:ea typeface="Calibri" pitchFamily="34" charset="-122"/>
                <a:cs typeface="Calibri" pitchFamily="34" charset="-120"/>
              </a:rPr>
              <a:t>+22% on bottleneck and +50% on corridors — both have a chokepoint every route must cross.</a:t>
            </a:r>
            <a:endParaRPr lang="en-US" sz="1150" dirty="0"/>
          </a:p>
          <a:p>
            <a:pPr marL="342900" indent="-342900">
              <a:lnSpc>
                <a:spcPct val="108000"/>
              </a:lnSpc>
              <a:spcAft>
                <a:spcPts val="800"/>
              </a:spcAft>
              <a:buSzPct val="100000"/>
              <a:buChar char="•"/>
            </a:pPr>
            <a:r>
              <a:rPr lang="en-US" sz="1150" dirty="0">
                <a:solidFill>
                  <a:srgbClr val="52514E"/>
                </a:solidFill>
                <a:latin typeface="Calibri" pitchFamily="34" charset="0"/>
                <a:ea typeface="Calibri" pitchFamily="34" charset="-122"/>
                <a:cs typeface="Calibri" pitchFamily="34" charset="-120"/>
              </a:rPr>
              <a:t>−13% on narrow and −15% on medium, where there is more than one way round and plain PIBT is itself the best rung.</a:t>
            </a:r>
            <a:endParaRPr lang="en-US" sz="1150" dirty="0"/>
          </a:p>
        </p:txBody>
      </p:sp>
      <p:sp>
        <p:nvSpPr>
          <p:cNvPr id="12" name="Shape 9"/>
          <p:cNvSpPr/>
          <p:nvPr/>
        </p:nvSpPr>
        <p:spPr>
          <a:xfrm>
            <a:off x="566928" y="4572000"/>
            <a:ext cx="11027664" cy="914400"/>
          </a:xfrm>
          <a:prstGeom prst="roundRect">
            <a:avLst>
              <a:gd name="adj" fmla="val 5000"/>
            </a:avLst>
          </a:prstGeom>
          <a:solidFill>
            <a:srgbClr val="2A78D6"/>
          </a:solidFill>
          <a:ln/>
        </p:spPr>
      </p:sp>
      <p:sp>
        <p:nvSpPr>
          <p:cNvPr id="13" name="Text 10"/>
          <p:cNvSpPr txBox="1"/>
          <p:nvPr/>
        </p:nvSpPr>
        <p:spPr>
          <a:xfrm>
            <a:off x="804672" y="4700016"/>
            <a:ext cx="10552176" cy="658368"/>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This is not a defect to hide. It says the machinery is congestion machinery, and it earns its keep exactly where congestion is the binding constraint. Where there is a way round, getting out of the robots' way is the better strategy.</a:t>
            </a:r>
            <a:endParaRPr lang="en-US" sz="1350" dirty="0"/>
          </a:p>
        </p:txBody>
      </p:sp>
      <p:sp>
        <p:nvSpPr>
          <p:cNvPr id="14" name="Text 11"/>
          <p:cNvSpPr txBox="1"/>
          <p:nvPr/>
        </p:nvSpPr>
        <p:spPr>
          <a:xfrm>
            <a:off x="566928" y="5650992"/>
            <a:ext cx="11027664" cy="822960"/>
          </a:xfrm>
          <a:prstGeom prst="rect">
            <a:avLst/>
          </a:prstGeom>
          <a:noFill/>
          <a:ln/>
        </p:spPr>
        <p:txBody>
          <a:bodyPr wrap="square" lIns="0" tIns="0" rIns="0" bIns="0" rtlCol="0" anchor="t"/>
          <a:lstStyle/>
          <a:p>
            <a:pPr indent="0" marL="0">
              <a:lnSpc>
                <a:spcPct val="110000"/>
              </a:lnSpc>
              <a:buNone/>
            </a:pPr>
            <a:r>
              <a:rPr lang="en-US" sz="1200" b="1" dirty="0">
                <a:solidFill>
                  <a:srgbClr val="0B0B0B"/>
                </a:solidFill>
                <a:latin typeface="Calibri" pitchFamily="34" charset="0"/>
                <a:ea typeface="Calibri" pitchFamily="34" charset="-122"/>
                <a:cs typeface="Calibri" pitchFamily="34" charset="-120"/>
              </a:rPr>
              <a:t>The practical consequence. </a:t>
            </a:r>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Pick the configuration for the floor, not the other way round: turning_cost_only for tight maps, lifelong_pibt for open ones, full_lda_pibt as the safe middle that is never worst. It ships as the default because it carries the deadlock safety net, not because it wins the table. Turning that choice into an automatic one is Phase 1 on slide 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What measuring every number bought</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The planner had roughly 45 hand-chosen numbers across seven models, none with published justification. Every one was measured.</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5577840" cy="914400"/>
        </p:xfrm>
        <a:graphic>
          <a:graphicData uri="http://schemas.openxmlformats.org/drawingml/2006/table">
            <a:tbl>
              <a:tblPr/>
              <a:tblGrid>
                <a:gridCol w="3017520"/>
                <a:gridCol w="1280160"/>
                <a:gridCol w="1280160"/>
              </a:tblGrid>
              <a:tr h="384048">
                <a:tc>
                  <a:txBody>
                    <a:bodyPr/>
                    <a:lstStyle/>
                    <a:p>
                      <a:pPr algn="l" indent="0" marL="0">
                        <a:buNone/>
                      </a:pP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Before</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After</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Terms in the movement score</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Tunable parameters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Lines in the planner modules</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4,488</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3,249</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150" b="1" dirty="0">
                          <a:solidFill>
                            <a:srgbClr val="52514E"/>
                          </a:solidFill>
                          <a:latin typeface="Calibri" pitchFamily="34" charset="0"/>
                          <a:ea typeface="Calibri" pitchFamily="34" charset="-122"/>
                          <a:cs typeface="Calibri" pitchFamily="34" charset="-120"/>
                        </a:rPr>
                        <a:t>Throughput, per floor</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50" b="1" dirty="0">
                          <a:solidFill>
                            <a:srgbClr val="1BAF7A"/>
                          </a:solidFill>
                          <a:latin typeface="Calibri" pitchFamily="34" charset="0"/>
                          <a:ea typeface="Calibri" pitchFamily="34" charset="-122"/>
                          <a:cs typeface="Calibri" pitchFamily="34" charset="-120"/>
                        </a:rPr>
                        <a:t>+1.4% … +50.6%</a:t>
                      </a:r>
                      <a:endParaRPr lang="en-US" sz="11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566928" y="3767328"/>
            <a:ext cx="5577840"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Line count covers the planner itself, not the GUI, visualisation or experiment harness. Throughput is the full configuration across the four floors.</a:t>
            </a:r>
            <a:endParaRPr lang="en-US" sz="1050" dirty="0"/>
          </a:p>
        </p:txBody>
      </p:sp>
      <p:sp>
        <p:nvSpPr>
          <p:cNvPr id="9" name="Text 6"/>
          <p:cNvSpPr txBox="1"/>
          <p:nvPr/>
        </p:nvSpPr>
        <p:spPr>
          <a:xfrm>
            <a:off x="6464808" y="1773936"/>
            <a:ext cx="5129784" cy="274320"/>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The knobs the planner cannot do without</a:t>
            </a:r>
            <a:endParaRPr lang="en-US" sz="14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64808" y="2121408"/>
          <a:ext cx="5129784" cy="914400"/>
        </p:xfrm>
        <a:graphic>
          <a:graphicData uri="http://schemas.openxmlformats.org/drawingml/2006/table">
            <a:tbl>
              <a:tblPr/>
              <a:tblGrid>
                <a:gridCol w="3063240"/>
                <a:gridCol w="1051560"/>
                <a:gridCol w="905256"/>
              </a:tblGrid>
              <a:tr h="310896">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Knob neutralised</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Throughput</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r" indent="0" marL="0">
                        <a:buNone/>
                      </a:pPr>
                      <a:r>
                        <a:rPr lang="en-US" sz="1100" b="1" dirty="0">
                          <a:solidFill>
                            <a:srgbClr val="0B0B0B"/>
                          </a:solidFill>
                          <a:latin typeface="Arial" pitchFamily="34" charset="0"/>
                          <a:ea typeface="Arial" pitchFamily="34" charset="-122"/>
                          <a:cs typeface="Arial" pitchFamily="34" charset="-120"/>
                        </a:rPr>
                        <a:t>p</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10896">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progress_reward</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b="1" dirty="0">
                          <a:solidFill>
                            <a:srgbClr val="D03B3B"/>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dirty="0">
                          <a:solidFill>
                            <a:srgbClr val="898781"/>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10896">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require_deadlock_corroboration</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b="1" dirty="0">
                          <a:solidFill>
                            <a:srgbClr val="D03B3B"/>
                          </a:solidFill>
                          <a:latin typeface="Calibri" pitchFamily="34" charset="0"/>
                          <a:ea typeface="Calibri" pitchFamily="34" charset="-122"/>
                          <a:cs typeface="Calibri" pitchFamily="34" charset="-120"/>
                        </a:rPr>
                        <a:t>-54.1%</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dirty="0">
                          <a:solidFill>
                            <a:srgbClr val="898781"/>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10896">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priority_class_spread</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b="1" dirty="0">
                          <a:solidFill>
                            <a:srgbClr val="D03B3B"/>
                          </a:solidFill>
                          <a:latin typeface="Calibri" pitchFamily="34" charset="0"/>
                          <a:ea typeface="Calibri" pitchFamily="34" charset="-122"/>
                          <a:cs typeface="Calibri" pitchFamily="34" charset="-120"/>
                        </a:rPr>
                        <a:t>-38.7%</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dirty="0">
                          <a:solidFill>
                            <a:srgbClr val="898781"/>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10896">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reverse_multiplier</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b="1" dirty="0">
                          <a:solidFill>
                            <a:srgbClr val="D03B3B"/>
                          </a:solidFill>
                          <a:latin typeface="Calibri" pitchFamily="34" charset="0"/>
                          <a:ea typeface="Calibri" pitchFamily="34" charset="-122"/>
                          <a:cs typeface="Calibri" pitchFamily="34" charset="-120"/>
                        </a:rPr>
                        <a:t>-17.2%</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dirty="0">
                          <a:solidFill>
                            <a:srgbClr val="898781"/>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10896">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turn_penalty</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b="1" dirty="0">
                          <a:solidFill>
                            <a:srgbClr val="D03B3B"/>
                          </a:solidFill>
                          <a:latin typeface="Calibri" pitchFamily="34" charset="0"/>
                          <a:ea typeface="Calibri" pitchFamily="34" charset="-122"/>
                          <a:cs typeface="Calibri" pitchFamily="34" charset="-120"/>
                        </a:rPr>
                        <a:t>-15.1%</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r" indent="0" marL="0">
                        <a:buNone/>
                      </a:pPr>
                      <a:r>
                        <a:rPr lang="en-US" sz="1100" dirty="0">
                          <a:solidFill>
                            <a:srgbClr val="898781"/>
                          </a:solidFill>
                          <a:latin typeface="Calibri" pitchFamily="34" charset="0"/>
                          <a:ea typeface="Calibri" pitchFamily="34" charset="-122"/>
                          <a:cs typeface="Calibri" pitchFamily="34" charset="-120"/>
                        </a:rPr>
                        <a:t>0.004</a:t>
                      </a:r>
                      <a:endParaRPr lang="en-US" sz="110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11" name="Text 7"/>
          <p:cNvSpPr txBox="1"/>
          <p:nvPr/>
        </p:nvSpPr>
        <p:spPr>
          <a:xfrm>
            <a:off x="6464808" y="4096512"/>
            <a:ext cx="512978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Change in throughput when the knob is removed; the five most load-bearing of 24 variants, 10 seeds, 4 floors, paired sign-flip test.</a:t>
            </a:r>
            <a:endParaRPr lang="en-US" sz="1050" dirty="0"/>
          </a:p>
        </p:txBody>
      </p:sp>
      <p:sp>
        <p:nvSpPr>
          <p:cNvPr id="12" name="Shape 8"/>
          <p:cNvSpPr/>
          <p:nvPr/>
        </p:nvSpPr>
        <p:spPr>
          <a:xfrm>
            <a:off x="566928" y="4608576"/>
            <a:ext cx="5330952" cy="1371600"/>
          </a:xfrm>
          <a:prstGeom prst="roundRect">
            <a:avLst>
              <a:gd name="adj" fmla="val 3333"/>
            </a:avLst>
          </a:prstGeom>
          <a:solidFill>
            <a:srgbClr val="F2F1EC"/>
          </a:solidFill>
          <a:ln/>
        </p:spPr>
      </p:sp>
      <p:sp>
        <p:nvSpPr>
          <p:cNvPr id="13" name="Text 9"/>
          <p:cNvSpPr txBox="1"/>
          <p:nvPr/>
        </p:nvSpPr>
        <p:spPr>
          <a:xfrm>
            <a:off x="786384" y="4809744"/>
            <a:ext cx="4892040" cy="274320"/>
          </a:xfrm>
          <a:prstGeom prst="rect">
            <a:avLst/>
          </a:prstGeom>
          <a:noFill/>
          <a:ln/>
        </p:spPr>
        <p:txBody>
          <a:bodyPr wrap="square" lIns="0" tIns="0" rIns="0" bIns="0" rtlCol="0" anchor="t"/>
          <a:lstStyle/>
          <a:p>
            <a:pPr indent="0" marL="0">
              <a:buNone/>
            </a:pPr>
            <a:r>
              <a:rPr lang="en-US" sz="1400" b="1" dirty="0">
                <a:solidFill>
                  <a:srgbClr val="0B0B0B"/>
                </a:solidFill>
                <a:latin typeface="Arial" pitchFamily="34" charset="0"/>
                <a:ea typeface="Arial" pitchFamily="34" charset="-122"/>
                <a:cs typeface="Arial" pitchFamily="34" charset="-120"/>
              </a:rPr>
              <a:t>What the measurement deleted</a:t>
            </a:r>
            <a:endParaRPr lang="en-US" sz="1400" dirty="0"/>
          </a:p>
        </p:txBody>
      </p:sp>
      <p:sp>
        <p:nvSpPr>
          <p:cNvPr id="14" name="Text 10"/>
          <p:cNvSpPr txBox="1"/>
          <p:nvPr/>
        </p:nvSpPr>
        <p:spPr>
          <a:xfrm>
            <a:off x="786384" y="5138928"/>
            <a:ext cx="4892040" cy="74980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Five of the nine score terms were smaller than a tie-break and never changed a decision: runs without them were bit-identical on every deterministic metric, every seed, every floor. The whole aisle-direction layer — 450 lines — measured −0.3% (p = 0.95). That is noise, not a mechanism.</a:t>
            </a:r>
            <a:endParaRPr lang="en-US" sz="1150" dirty="0"/>
          </a:p>
        </p:txBody>
      </p:sp>
      <p:sp>
        <p:nvSpPr>
          <p:cNvPr id="15" name="Shape 11"/>
          <p:cNvSpPr/>
          <p:nvPr/>
        </p:nvSpPr>
        <p:spPr>
          <a:xfrm>
            <a:off x="6263640" y="4608576"/>
            <a:ext cx="5330952" cy="1371600"/>
          </a:xfrm>
          <a:prstGeom prst="roundRect">
            <a:avLst>
              <a:gd name="adj" fmla="val 3333"/>
            </a:avLst>
          </a:prstGeom>
          <a:solidFill>
            <a:srgbClr val="F2F1EC"/>
          </a:solidFill>
          <a:ln/>
        </p:spPr>
      </p:sp>
      <p:sp>
        <p:nvSpPr>
          <p:cNvPr id="16" name="Text 12"/>
          <p:cNvSpPr txBox="1"/>
          <p:nvPr/>
        </p:nvSpPr>
        <p:spPr>
          <a:xfrm>
            <a:off x="6483096" y="4809744"/>
            <a:ext cx="4892040" cy="274320"/>
          </a:xfrm>
          <a:prstGeom prst="rect">
            <a:avLst/>
          </a:prstGeom>
          <a:noFill/>
          <a:ln/>
        </p:spPr>
        <p:txBody>
          <a:bodyPr wrap="square" lIns="0" tIns="0" rIns="0" bIns="0" rtlCol="0" anchor="t"/>
          <a:lstStyle/>
          <a:p>
            <a:pPr indent="0" marL="0">
              <a:buNone/>
            </a:pPr>
            <a:r>
              <a:rPr lang="en-US" sz="1400" b="1" dirty="0">
                <a:solidFill>
                  <a:srgbClr val="0B0B0B"/>
                </a:solidFill>
                <a:latin typeface="Arial" pitchFamily="34" charset="0"/>
                <a:ea typeface="Arial" pitchFamily="34" charset="-122"/>
                <a:cs typeface="Arial" pitchFamily="34" charset="-120"/>
              </a:rPr>
              <a:t>Two bugs surfaced by measuring, not by tests</a:t>
            </a:r>
            <a:endParaRPr lang="en-US" sz="1400" dirty="0"/>
          </a:p>
        </p:txBody>
      </p:sp>
      <p:sp>
        <p:nvSpPr>
          <p:cNvPr id="17" name="Text 13"/>
          <p:cNvSpPr txBox="1"/>
          <p:nvPr/>
        </p:nvSpPr>
        <p:spPr>
          <a:xfrm>
            <a:off x="6483096" y="5138928"/>
            <a:ext cx="4892040" cy="749808"/>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 starvation rule tested a signed demand score for “&gt; 0”, so legitimate traffic voted negative and was never counted — aisles held one direction for 130 steps. And a rename sweep caught its own alias table, so every parameter override silently returned the default. No error, no warning.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3"/>
        </a:solidFill>
      </p:bgPr>
    </p:bg>
    <p:spTree>
      <p:nvGrpSpPr>
        <p:cNvPr id="1" name=""/>
        <p:cNvGrpSpPr/>
        <p:nvPr/>
      </p:nvGrpSpPr>
      <p:grpSpPr>
        <a:xfrm>
          <a:off x="0" y="0"/>
          <a:ext cx="0" cy="0"/>
          <a:chOff x="0" y="0"/>
          <a:chExt cx="0" cy="0"/>
        </a:xfrm>
      </p:grpSpPr>
      <p:sp>
        <p:nvSpPr>
          <p:cNvPr id="2" name="Shape 0"/>
          <p:cNvSpPr/>
          <p:nvPr/>
        </p:nvSpPr>
        <p:spPr>
          <a:xfrm>
            <a:off x="9829800" y="5065776"/>
            <a:ext cx="105156" cy="105156"/>
          </a:xfrm>
          <a:prstGeom prst="rect">
            <a:avLst/>
          </a:prstGeom>
          <a:solidFill>
            <a:srgbClr val="1B1E23"/>
          </a:solidFill>
          <a:ln/>
        </p:spPr>
      </p:sp>
      <p:sp>
        <p:nvSpPr>
          <p:cNvPr id="3" name="Shape 1"/>
          <p:cNvSpPr/>
          <p:nvPr/>
        </p:nvSpPr>
        <p:spPr>
          <a:xfrm>
            <a:off x="9829800" y="5239512"/>
            <a:ext cx="105156" cy="105156"/>
          </a:xfrm>
          <a:prstGeom prst="rect">
            <a:avLst/>
          </a:prstGeom>
          <a:solidFill>
            <a:srgbClr val="1B1E23"/>
          </a:solidFill>
          <a:ln/>
        </p:spPr>
      </p:sp>
      <p:sp>
        <p:nvSpPr>
          <p:cNvPr id="4" name="Shape 2"/>
          <p:cNvSpPr/>
          <p:nvPr/>
        </p:nvSpPr>
        <p:spPr>
          <a:xfrm>
            <a:off x="9829800" y="5413248"/>
            <a:ext cx="105156" cy="105156"/>
          </a:xfrm>
          <a:prstGeom prst="rect">
            <a:avLst/>
          </a:prstGeom>
          <a:solidFill>
            <a:srgbClr val="1B1E23"/>
          </a:solidFill>
          <a:ln/>
        </p:spPr>
      </p:sp>
      <p:sp>
        <p:nvSpPr>
          <p:cNvPr id="5" name="Shape 3"/>
          <p:cNvSpPr/>
          <p:nvPr/>
        </p:nvSpPr>
        <p:spPr>
          <a:xfrm>
            <a:off x="9829800" y="5586984"/>
            <a:ext cx="105156" cy="105156"/>
          </a:xfrm>
          <a:prstGeom prst="rect">
            <a:avLst/>
          </a:prstGeom>
          <a:solidFill>
            <a:srgbClr val="1B1E23"/>
          </a:solidFill>
          <a:ln/>
        </p:spPr>
      </p:sp>
      <p:sp>
        <p:nvSpPr>
          <p:cNvPr id="6" name="Shape 4"/>
          <p:cNvSpPr/>
          <p:nvPr/>
        </p:nvSpPr>
        <p:spPr>
          <a:xfrm>
            <a:off x="9829800" y="5760720"/>
            <a:ext cx="105156" cy="105156"/>
          </a:xfrm>
          <a:prstGeom prst="rect">
            <a:avLst/>
          </a:prstGeom>
          <a:solidFill>
            <a:srgbClr val="1B1E23"/>
          </a:solidFill>
          <a:ln/>
        </p:spPr>
      </p:sp>
      <p:sp>
        <p:nvSpPr>
          <p:cNvPr id="7" name="Shape 5"/>
          <p:cNvSpPr/>
          <p:nvPr/>
        </p:nvSpPr>
        <p:spPr>
          <a:xfrm>
            <a:off x="9829800" y="5934456"/>
            <a:ext cx="105156" cy="105156"/>
          </a:xfrm>
          <a:prstGeom prst="rect">
            <a:avLst/>
          </a:prstGeom>
          <a:solidFill>
            <a:srgbClr val="1B1E23"/>
          </a:solidFill>
          <a:ln/>
        </p:spPr>
      </p:sp>
      <p:sp>
        <p:nvSpPr>
          <p:cNvPr id="8" name="Shape 6"/>
          <p:cNvSpPr/>
          <p:nvPr/>
        </p:nvSpPr>
        <p:spPr>
          <a:xfrm>
            <a:off x="9829800" y="6108192"/>
            <a:ext cx="105156" cy="105156"/>
          </a:xfrm>
          <a:prstGeom prst="rect">
            <a:avLst/>
          </a:prstGeom>
          <a:solidFill>
            <a:srgbClr val="1B1E23"/>
          </a:solidFill>
          <a:ln/>
        </p:spPr>
      </p:sp>
      <p:sp>
        <p:nvSpPr>
          <p:cNvPr id="9" name="Shape 7"/>
          <p:cNvSpPr/>
          <p:nvPr/>
        </p:nvSpPr>
        <p:spPr>
          <a:xfrm>
            <a:off x="10003536" y="4892040"/>
            <a:ext cx="105156" cy="105156"/>
          </a:xfrm>
          <a:prstGeom prst="rect">
            <a:avLst/>
          </a:prstGeom>
          <a:solidFill>
            <a:srgbClr val="1B1E23"/>
          </a:solidFill>
          <a:ln/>
        </p:spPr>
      </p:sp>
      <p:sp>
        <p:nvSpPr>
          <p:cNvPr id="10" name="Shape 8"/>
          <p:cNvSpPr/>
          <p:nvPr/>
        </p:nvSpPr>
        <p:spPr>
          <a:xfrm>
            <a:off x="10003536" y="5065776"/>
            <a:ext cx="105156" cy="105156"/>
          </a:xfrm>
          <a:prstGeom prst="rect">
            <a:avLst/>
          </a:prstGeom>
          <a:solidFill>
            <a:srgbClr val="1B1E23"/>
          </a:solidFill>
          <a:ln/>
        </p:spPr>
      </p:sp>
      <p:sp>
        <p:nvSpPr>
          <p:cNvPr id="11" name="Shape 9"/>
          <p:cNvSpPr/>
          <p:nvPr/>
        </p:nvSpPr>
        <p:spPr>
          <a:xfrm>
            <a:off x="10003536" y="5239512"/>
            <a:ext cx="105156" cy="105156"/>
          </a:xfrm>
          <a:prstGeom prst="rect">
            <a:avLst/>
          </a:prstGeom>
          <a:solidFill>
            <a:srgbClr val="1B1E23"/>
          </a:solidFill>
          <a:ln/>
        </p:spPr>
      </p:sp>
      <p:sp>
        <p:nvSpPr>
          <p:cNvPr id="12" name="Shape 10"/>
          <p:cNvSpPr/>
          <p:nvPr/>
        </p:nvSpPr>
        <p:spPr>
          <a:xfrm>
            <a:off x="10003536" y="5413248"/>
            <a:ext cx="105156" cy="105156"/>
          </a:xfrm>
          <a:prstGeom prst="rect">
            <a:avLst/>
          </a:prstGeom>
          <a:solidFill>
            <a:srgbClr val="1B1E23"/>
          </a:solidFill>
          <a:ln/>
        </p:spPr>
      </p:sp>
      <p:sp>
        <p:nvSpPr>
          <p:cNvPr id="13" name="Shape 11"/>
          <p:cNvSpPr/>
          <p:nvPr/>
        </p:nvSpPr>
        <p:spPr>
          <a:xfrm>
            <a:off x="10003536" y="5586984"/>
            <a:ext cx="105156" cy="105156"/>
          </a:xfrm>
          <a:prstGeom prst="rect">
            <a:avLst/>
          </a:prstGeom>
          <a:solidFill>
            <a:srgbClr val="1B1E23"/>
          </a:solidFill>
          <a:ln/>
        </p:spPr>
      </p:sp>
      <p:sp>
        <p:nvSpPr>
          <p:cNvPr id="14" name="Shape 12"/>
          <p:cNvSpPr/>
          <p:nvPr/>
        </p:nvSpPr>
        <p:spPr>
          <a:xfrm>
            <a:off x="10003536" y="5934456"/>
            <a:ext cx="105156" cy="105156"/>
          </a:xfrm>
          <a:prstGeom prst="rect">
            <a:avLst/>
          </a:prstGeom>
          <a:solidFill>
            <a:srgbClr val="1B1E23"/>
          </a:solidFill>
          <a:ln/>
        </p:spPr>
      </p:sp>
      <p:sp>
        <p:nvSpPr>
          <p:cNvPr id="15" name="Shape 13"/>
          <p:cNvSpPr/>
          <p:nvPr/>
        </p:nvSpPr>
        <p:spPr>
          <a:xfrm>
            <a:off x="10003536" y="6108192"/>
            <a:ext cx="105156" cy="105156"/>
          </a:xfrm>
          <a:prstGeom prst="rect">
            <a:avLst/>
          </a:prstGeom>
          <a:solidFill>
            <a:srgbClr val="1B1E23"/>
          </a:solidFill>
          <a:ln/>
        </p:spPr>
      </p:sp>
      <p:sp>
        <p:nvSpPr>
          <p:cNvPr id="16" name="Shape 14"/>
          <p:cNvSpPr/>
          <p:nvPr/>
        </p:nvSpPr>
        <p:spPr>
          <a:xfrm>
            <a:off x="10177272" y="4892040"/>
            <a:ext cx="105156" cy="105156"/>
          </a:xfrm>
          <a:prstGeom prst="rect">
            <a:avLst/>
          </a:prstGeom>
          <a:solidFill>
            <a:srgbClr val="1B1E23"/>
          </a:solidFill>
          <a:ln/>
        </p:spPr>
      </p:sp>
      <p:sp>
        <p:nvSpPr>
          <p:cNvPr id="17" name="Shape 15"/>
          <p:cNvSpPr/>
          <p:nvPr/>
        </p:nvSpPr>
        <p:spPr>
          <a:xfrm>
            <a:off x="10177272" y="5065776"/>
            <a:ext cx="105156" cy="105156"/>
          </a:xfrm>
          <a:prstGeom prst="rect">
            <a:avLst/>
          </a:prstGeom>
          <a:solidFill>
            <a:srgbClr val="1B1E23"/>
          </a:solidFill>
          <a:ln/>
        </p:spPr>
      </p:sp>
      <p:sp>
        <p:nvSpPr>
          <p:cNvPr id="18" name="Shape 16"/>
          <p:cNvSpPr/>
          <p:nvPr/>
        </p:nvSpPr>
        <p:spPr>
          <a:xfrm>
            <a:off x="10177272" y="5239512"/>
            <a:ext cx="105156" cy="105156"/>
          </a:xfrm>
          <a:prstGeom prst="rect">
            <a:avLst/>
          </a:prstGeom>
          <a:solidFill>
            <a:srgbClr val="1B1E23"/>
          </a:solidFill>
          <a:ln/>
        </p:spPr>
      </p:sp>
      <p:sp>
        <p:nvSpPr>
          <p:cNvPr id="19" name="Shape 17"/>
          <p:cNvSpPr/>
          <p:nvPr/>
        </p:nvSpPr>
        <p:spPr>
          <a:xfrm>
            <a:off x="10177272" y="5413248"/>
            <a:ext cx="105156" cy="105156"/>
          </a:xfrm>
          <a:prstGeom prst="rect">
            <a:avLst/>
          </a:prstGeom>
          <a:solidFill>
            <a:srgbClr val="1B1E23"/>
          </a:solidFill>
          <a:ln/>
        </p:spPr>
      </p:sp>
      <p:sp>
        <p:nvSpPr>
          <p:cNvPr id="20" name="Shape 18"/>
          <p:cNvSpPr/>
          <p:nvPr/>
        </p:nvSpPr>
        <p:spPr>
          <a:xfrm>
            <a:off x="10177272" y="5586984"/>
            <a:ext cx="105156" cy="105156"/>
          </a:xfrm>
          <a:prstGeom prst="rect">
            <a:avLst/>
          </a:prstGeom>
          <a:solidFill>
            <a:srgbClr val="1B1E23"/>
          </a:solidFill>
          <a:ln/>
        </p:spPr>
      </p:sp>
      <p:sp>
        <p:nvSpPr>
          <p:cNvPr id="21" name="Shape 19"/>
          <p:cNvSpPr/>
          <p:nvPr/>
        </p:nvSpPr>
        <p:spPr>
          <a:xfrm>
            <a:off x="10177272" y="5760720"/>
            <a:ext cx="105156" cy="105156"/>
          </a:xfrm>
          <a:prstGeom prst="rect">
            <a:avLst/>
          </a:prstGeom>
          <a:solidFill>
            <a:srgbClr val="1B1E23"/>
          </a:solidFill>
          <a:ln/>
        </p:spPr>
      </p:sp>
      <p:sp>
        <p:nvSpPr>
          <p:cNvPr id="22" name="Shape 20"/>
          <p:cNvSpPr/>
          <p:nvPr/>
        </p:nvSpPr>
        <p:spPr>
          <a:xfrm>
            <a:off x="10177272" y="5934456"/>
            <a:ext cx="105156" cy="105156"/>
          </a:xfrm>
          <a:prstGeom prst="rect">
            <a:avLst/>
          </a:prstGeom>
          <a:solidFill>
            <a:srgbClr val="1B1E23"/>
          </a:solidFill>
          <a:ln/>
        </p:spPr>
      </p:sp>
      <p:sp>
        <p:nvSpPr>
          <p:cNvPr id="23" name="Shape 21"/>
          <p:cNvSpPr/>
          <p:nvPr/>
        </p:nvSpPr>
        <p:spPr>
          <a:xfrm>
            <a:off x="10177272" y="6108192"/>
            <a:ext cx="105156" cy="105156"/>
          </a:xfrm>
          <a:prstGeom prst="rect">
            <a:avLst/>
          </a:prstGeom>
          <a:solidFill>
            <a:srgbClr val="1B1E23"/>
          </a:solidFill>
          <a:ln/>
        </p:spPr>
      </p:sp>
      <p:sp>
        <p:nvSpPr>
          <p:cNvPr id="24" name="Shape 22"/>
          <p:cNvSpPr/>
          <p:nvPr/>
        </p:nvSpPr>
        <p:spPr>
          <a:xfrm>
            <a:off x="10351008" y="4892040"/>
            <a:ext cx="105156" cy="105156"/>
          </a:xfrm>
          <a:prstGeom prst="rect">
            <a:avLst/>
          </a:prstGeom>
          <a:solidFill>
            <a:srgbClr val="1B1E23"/>
          </a:solidFill>
          <a:ln/>
        </p:spPr>
      </p:sp>
      <p:sp>
        <p:nvSpPr>
          <p:cNvPr id="25" name="Shape 23"/>
          <p:cNvSpPr/>
          <p:nvPr/>
        </p:nvSpPr>
        <p:spPr>
          <a:xfrm>
            <a:off x="10351008" y="5065776"/>
            <a:ext cx="105156" cy="105156"/>
          </a:xfrm>
          <a:prstGeom prst="rect">
            <a:avLst/>
          </a:prstGeom>
          <a:solidFill>
            <a:srgbClr val="1B1E23"/>
          </a:solidFill>
          <a:ln/>
        </p:spPr>
      </p:sp>
      <p:sp>
        <p:nvSpPr>
          <p:cNvPr id="26" name="Shape 24"/>
          <p:cNvSpPr/>
          <p:nvPr/>
        </p:nvSpPr>
        <p:spPr>
          <a:xfrm>
            <a:off x="10351008" y="5239512"/>
            <a:ext cx="105156" cy="105156"/>
          </a:xfrm>
          <a:prstGeom prst="rect">
            <a:avLst/>
          </a:prstGeom>
          <a:solidFill>
            <a:srgbClr val="1B1E23"/>
          </a:solidFill>
          <a:ln/>
        </p:spPr>
      </p:sp>
      <p:sp>
        <p:nvSpPr>
          <p:cNvPr id="27" name="Shape 25"/>
          <p:cNvSpPr/>
          <p:nvPr/>
        </p:nvSpPr>
        <p:spPr>
          <a:xfrm>
            <a:off x="10351008" y="5413248"/>
            <a:ext cx="105156" cy="105156"/>
          </a:xfrm>
          <a:prstGeom prst="rect">
            <a:avLst/>
          </a:prstGeom>
          <a:solidFill>
            <a:srgbClr val="1B1E23"/>
          </a:solidFill>
          <a:ln/>
        </p:spPr>
      </p:sp>
      <p:sp>
        <p:nvSpPr>
          <p:cNvPr id="28" name="Shape 26"/>
          <p:cNvSpPr/>
          <p:nvPr/>
        </p:nvSpPr>
        <p:spPr>
          <a:xfrm>
            <a:off x="10351008" y="5760720"/>
            <a:ext cx="105156" cy="105156"/>
          </a:xfrm>
          <a:prstGeom prst="rect">
            <a:avLst/>
          </a:prstGeom>
          <a:solidFill>
            <a:srgbClr val="1B1E23"/>
          </a:solidFill>
          <a:ln/>
        </p:spPr>
      </p:sp>
      <p:sp>
        <p:nvSpPr>
          <p:cNvPr id="29" name="Shape 27"/>
          <p:cNvSpPr/>
          <p:nvPr/>
        </p:nvSpPr>
        <p:spPr>
          <a:xfrm>
            <a:off x="10351008" y="5934456"/>
            <a:ext cx="105156" cy="105156"/>
          </a:xfrm>
          <a:prstGeom prst="rect">
            <a:avLst/>
          </a:prstGeom>
          <a:solidFill>
            <a:srgbClr val="1B1E23"/>
          </a:solidFill>
          <a:ln/>
        </p:spPr>
      </p:sp>
      <p:sp>
        <p:nvSpPr>
          <p:cNvPr id="30" name="Shape 28"/>
          <p:cNvSpPr/>
          <p:nvPr/>
        </p:nvSpPr>
        <p:spPr>
          <a:xfrm>
            <a:off x="10351008" y="6108192"/>
            <a:ext cx="105156" cy="105156"/>
          </a:xfrm>
          <a:prstGeom prst="rect">
            <a:avLst/>
          </a:prstGeom>
          <a:solidFill>
            <a:srgbClr val="1B1E23"/>
          </a:solidFill>
          <a:ln/>
        </p:spPr>
      </p:sp>
      <p:sp>
        <p:nvSpPr>
          <p:cNvPr id="31" name="Shape 29"/>
          <p:cNvSpPr/>
          <p:nvPr/>
        </p:nvSpPr>
        <p:spPr>
          <a:xfrm>
            <a:off x="10524744" y="4892040"/>
            <a:ext cx="105156" cy="105156"/>
          </a:xfrm>
          <a:prstGeom prst="rect">
            <a:avLst/>
          </a:prstGeom>
          <a:solidFill>
            <a:srgbClr val="1B1E23"/>
          </a:solidFill>
          <a:ln/>
        </p:spPr>
      </p:sp>
      <p:sp>
        <p:nvSpPr>
          <p:cNvPr id="32" name="Shape 30"/>
          <p:cNvSpPr/>
          <p:nvPr/>
        </p:nvSpPr>
        <p:spPr>
          <a:xfrm>
            <a:off x="10524744" y="5065776"/>
            <a:ext cx="105156" cy="105156"/>
          </a:xfrm>
          <a:prstGeom prst="rect">
            <a:avLst/>
          </a:prstGeom>
          <a:solidFill>
            <a:srgbClr val="1B1E23"/>
          </a:solidFill>
          <a:ln/>
        </p:spPr>
      </p:sp>
      <p:sp>
        <p:nvSpPr>
          <p:cNvPr id="33" name="Shape 31"/>
          <p:cNvSpPr/>
          <p:nvPr/>
        </p:nvSpPr>
        <p:spPr>
          <a:xfrm>
            <a:off x="10524744" y="5239512"/>
            <a:ext cx="105156" cy="105156"/>
          </a:xfrm>
          <a:prstGeom prst="rect">
            <a:avLst/>
          </a:prstGeom>
          <a:solidFill>
            <a:srgbClr val="1B1E23"/>
          </a:solidFill>
          <a:ln/>
        </p:spPr>
      </p:sp>
      <p:sp>
        <p:nvSpPr>
          <p:cNvPr id="34" name="Shape 32"/>
          <p:cNvSpPr/>
          <p:nvPr/>
        </p:nvSpPr>
        <p:spPr>
          <a:xfrm>
            <a:off x="10524744" y="5413248"/>
            <a:ext cx="105156" cy="105156"/>
          </a:xfrm>
          <a:prstGeom prst="rect">
            <a:avLst/>
          </a:prstGeom>
          <a:solidFill>
            <a:srgbClr val="1B1E23"/>
          </a:solidFill>
          <a:ln/>
        </p:spPr>
      </p:sp>
      <p:sp>
        <p:nvSpPr>
          <p:cNvPr id="35" name="Shape 33"/>
          <p:cNvSpPr/>
          <p:nvPr/>
        </p:nvSpPr>
        <p:spPr>
          <a:xfrm>
            <a:off x="10524744" y="5586984"/>
            <a:ext cx="105156" cy="105156"/>
          </a:xfrm>
          <a:prstGeom prst="rect">
            <a:avLst/>
          </a:prstGeom>
          <a:solidFill>
            <a:srgbClr val="1B1E23"/>
          </a:solidFill>
          <a:ln/>
        </p:spPr>
      </p:sp>
      <p:sp>
        <p:nvSpPr>
          <p:cNvPr id="36" name="Shape 34"/>
          <p:cNvSpPr/>
          <p:nvPr/>
        </p:nvSpPr>
        <p:spPr>
          <a:xfrm>
            <a:off x="10524744" y="5760720"/>
            <a:ext cx="105156" cy="105156"/>
          </a:xfrm>
          <a:prstGeom prst="rect">
            <a:avLst/>
          </a:prstGeom>
          <a:solidFill>
            <a:srgbClr val="1B1E23"/>
          </a:solidFill>
          <a:ln/>
        </p:spPr>
      </p:sp>
      <p:sp>
        <p:nvSpPr>
          <p:cNvPr id="37" name="Shape 35"/>
          <p:cNvSpPr/>
          <p:nvPr/>
        </p:nvSpPr>
        <p:spPr>
          <a:xfrm>
            <a:off x="10524744" y="5934456"/>
            <a:ext cx="105156" cy="105156"/>
          </a:xfrm>
          <a:prstGeom prst="rect">
            <a:avLst/>
          </a:prstGeom>
          <a:solidFill>
            <a:srgbClr val="1B1E23"/>
          </a:solidFill>
          <a:ln/>
        </p:spPr>
      </p:sp>
      <p:sp>
        <p:nvSpPr>
          <p:cNvPr id="38" name="Shape 36"/>
          <p:cNvSpPr/>
          <p:nvPr/>
        </p:nvSpPr>
        <p:spPr>
          <a:xfrm>
            <a:off x="10524744" y="6108192"/>
            <a:ext cx="105156" cy="105156"/>
          </a:xfrm>
          <a:prstGeom prst="rect">
            <a:avLst/>
          </a:prstGeom>
          <a:solidFill>
            <a:srgbClr val="1B1E23"/>
          </a:solidFill>
          <a:ln/>
        </p:spPr>
      </p:sp>
      <p:sp>
        <p:nvSpPr>
          <p:cNvPr id="39" name="Shape 37"/>
          <p:cNvSpPr/>
          <p:nvPr/>
        </p:nvSpPr>
        <p:spPr>
          <a:xfrm>
            <a:off x="10698480" y="4892040"/>
            <a:ext cx="105156" cy="105156"/>
          </a:xfrm>
          <a:prstGeom prst="rect">
            <a:avLst/>
          </a:prstGeom>
          <a:solidFill>
            <a:srgbClr val="1B1E23"/>
          </a:solidFill>
          <a:ln/>
        </p:spPr>
      </p:sp>
      <p:sp>
        <p:nvSpPr>
          <p:cNvPr id="40" name="Shape 38"/>
          <p:cNvSpPr/>
          <p:nvPr/>
        </p:nvSpPr>
        <p:spPr>
          <a:xfrm>
            <a:off x="10698480" y="5065776"/>
            <a:ext cx="105156" cy="105156"/>
          </a:xfrm>
          <a:prstGeom prst="rect">
            <a:avLst/>
          </a:prstGeom>
          <a:solidFill>
            <a:srgbClr val="1B1E23"/>
          </a:solidFill>
          <a:ln/>
        </p:spPr>
      </p:sp>
      <p:sp>
        <p:nvSpPr>
          <p:cNvPr id="41" name="Shape 39"/>
          <p:cNvSpPr/>
          <p:nvPr/>
        </p:nvSpPr>
        <p:spPr>
          <a:xfrm>
            <a:off x="10698480" y="5239512"/>
            <a:ext cx="105156" cy="105156"/>
          </a:xfrm>
          <a:prstGeom prst="rect">
            <a:avLst/>
          </a:prstGeom>
          <a:solidFill>
            <a:srgbClr val="1B1E23"/>
          </a:solidFill>
          <a:ln/>
        </p:spPr>
      </p:sp>
      <p:sp>
        <p:nvSpPr>
          <p:cNvPr id="42" name="Shape 40"/>
          <p:cNvSpPr/>
          <p:nvPr/>
        </p:nvSpPr>
        <p:spPr>
          <a:xfrm>
            <a:off x="10698480" y="5586984"/>
            <a:ext cx="105156" cy="105156"/>
          </a:xfrm>
          <a:prstGeom prst="rect">
            <a:avLst/>
          </a:prstGeom>
          <a:solidFill>
            <a:srgbClr val="1B1E23"/>
          </a:solidFill>
          <a:ln/>
        </p:spPr>
      </p:sp>
      <p:sp>
        <p:nvSpPr>
          <p:cNvPr id="43" name="Shape 41"/>
          <p:cNvSpPr/>
          <p:nvPr/>
        </p:nvSpPr>
        <p:spPr>
          <a:xfrm>
            <a:off x="10698480" y="5760720"/>
            <a:ext cx="105156" cy="105156"/>
          </a:xfrm>
          <a:prstGeom prst="rect">
            <a:avLst/>
          </a:prstGeom>
          <a:solidFill>
            <a:srgbClr val="1B1E23"/>
          </a:solidFill>
          <a:ln/>
        </p:spPr>
      </p:sp>
      <p:sp>
        <p:nvSpPr>
          <p:cNvPr id="44" name="Shape 42"/>
          <p:cNvSpPr/>
          <p:nvPr/>
        </p:nvSpPr>
        <p:spPr>
          <a:xfrm>
            <a:off x="10698480" y="5934456"/>
            <a:ext cx="105156" cy="105156"/>
          </a:xfrm>
          <a:prstGeom prst="rect">
            <a:avLst/>
          </a:prstGeom>
          <a:solidFill>
            <a:srgbClr val="1B1E23"/>
          </a:solidFill>
          <a:ln/>
        </p:spPr>
      </p:sp>
      <p:sp>
        <p:nvSpPr>
          <p:cNvPr id="45" name="Shape 43"/>
          <p:cNvSpPr/>
          <p:nvPr/>
        </p:nvSpPr>
        <p:spPr>
          <a:xfrm>
            <a:off x="10698480" y="6108192"/>
            <a:ext cx="105156" cy="105156"/>
          </a:xfrm>
          <a:prstGeom prst="rect">
            <a:avLst/>
          </a:prstGeom>
          <a:solidFill>
            <a:srgbClr val="1B1E23"/>
          </a:solidFill>
          <a:ln/>
        </p:spPr>
      </p:sp>
      <p:sp>
        <p:nvSpPr>
          <p:cNvPr id="46" name="Shape 44"/>
          <p:cNvSpPr/>
          <p:nvPr/>
        </p:nvSpPr>
        <p:spPr>
          <a:xfrm>
            <a:off x="10872216" y="4892040"/>
            <a:ext cx="105156" cy="105156"/>
          </a:xfrm>
          <a:prstGeom prst="rect">
            <a:avLst/>
          </a:prstGeom>
          <a:solidFill>
            <a:srgbClr val="1B1E23"/>
          </a:solidFill>
          <a:ln/>
        </p:spPr>
      </p:sp>
      <p:sp>
        <p:nvSpPr>
          <p:cNvPr id="47" name="Shape 45"/>
          <p:cNvSpPr/>
          <p:nvPr/>
        </p:nvSpPr>
        <p:spPr>
          <a:xfrm>
            <a:off x="10872216" y="5065776"/>
            <a:ext cx="105156" cy="105156"/>
          </a:xfrm>
          <a:prstGeom prst="rect">
            <a:avLst/>
          </a:prstGeom>
          <a:solidFill>
            <a:srgbClr val="1B1E23"/>
          </a:solidFill>
          <a:ln/>
        </p:spPr>
      </p:sp>
      <p:sp>
        <p:nvSpPr>
          <p:cNvPr id="48" name="Shape 46"/>
          <p:cNvSpPr/>
          <p:nvPr/>
        </p:nvSpPr>
        <p:spPr>
          <a:xfrm>
            <a:off x="10872216" y="5239512"/>
            <a:ext cx="105156" cy="105156"/>
          </a:xfrm>
          <a:prstGeom prst="rect">
            <a:avLst/>
          </a:prstGeom>
          <a:solidFill>
            <a:srgbClr val="1B1E23"/>
          </a:solidFill>
          <a:ln/>
        </p:spPr>
      </p:sp>
      <p:sp>
        <p:nvSpPr>
          <p:cNvPr id="49" name="Shape 47"/>
          <p:cNvSpPr/>
          <p:nvPr/>
        </p:nvSpPr>
        <p:spPr>
          <a:xfrm>
            <a:off x="10872216" y="5413248"/>
            <a:ext cx="105156" cy="105156"/>
          </a:xfrm>
          <a:prstGeom prst="rect">
            <a:avLst/>
          </a:prstGeom>
          <a:solidFill>
            <a:srgbClr val="1B1E23"/>
          </a:solidFill>
          <a:ln/>
        </p:spPr>
      </p:sp>
      <p:sp>
        <p:nvSpPr>
          <p:cNvPr id="50" name="Shape 48"/>
          <p:cNvSpPr/>
          <p:nvPr/>
        </p:nvSpPr>
        <p:spPr>
          <a:xfrm>
            <a:off x="10872216" y="5586984"/>
            <a:ext cx="105156" cy="105156"/>
          </a:xfrm>
          <a:prstGeom prst="rect">
            <a:avLst/>
          </a:prstGeom>
          <a:solidFill>
            <a:srgbClr val="1B1E23"/>
          </a:solidFill>
          <a:ln/>
        </p:spPr>
      </p:sp>
      <p:sp>
        <p:nvSpPr>
          <p:cNvPr id="51" name="Shape 49"/>
          <p:cNvSpPr/>
          <p:nvPr/>
        </p:nvSpPr>
        <p:spPr>
          <a:xfrm>
            <a:off x="10872216" y="5760720"/>
            <a:ext cx="105156" cy="105156"/>
          </a:xfrm>
          <a:prstGeom prst="rect">
            <a:avLst/>
          </a:prstGeom>
          <a:solidFill>
            <a:srgbClr val="1B1E23"/>
          </a:solidFill>
          <a:ln/>
        </p:spPr>
      </p:sp>
      <p:sp>
        <p:nvSpPr>
          <p:cNvPr id="52" name="Shape 50"/>
          <p:cNvSpPr/>
          <p:nvPr/>
        </p:nvSpPr>
        <p:spPr>
          <a:xfrm>
            <a:off x="10872216" y="5934456"/>
            <a:ext cx="105156" cy="105156"/>
          </a:xfrm>
          <a:prstGeom prst="rect">
            <a:avLst/>
          </a:prstGeom>
          <a:solidFill>
            <a:srgbClr val="1B1E23"/>
          </a:solidFill>
          <a:ln/>
        </p:spPr>
      </p:sp>
      <p:sp>
        <p:nvSpPr>
          <p:cNvPr id="53" name="Shape 51"/>
          <p:cNvSpPr/>
          <p:nvPr/>
        </p:nvSpPr>
        <p:spPr>
          <a:xfrm>
            <a:off x="10872216" y="6108192"/>
            <a:ext cx="105156" cy="105156"/>
          </a:xfrm>
          <a:prstGeom prst="rect">
            <a:avLst/>
          </a:prstGeom>
          <a:solidFill>
            <a:srgbClr val="1B1E23"/>
          </a:solidFill>
          <a:ln/>
        </p:spPr>
      </p:sp>
      <p:sp>
        <p:nvSpPr>
          <p:cNvPr id="54" name="Shape 52"/>
          <p:cNvSpPr/>
          <p:nvPr/>
        </p:nvSpPr>
        <p:spPr>
          <a:xfrm>
            <a:off x="11045952" y="4892040"/>
            <a:ext cx="105156" cy="105156"/>
          </a:xfrm>
          <a:prstGeom prst="rect">
            <a:avLst/>
          </a:prstGeom>
          <a:solidFill>
            <a:srgbClr val="1B1E23"/>
          </a:solidFill>
          <a:ln/>
        </p:spPr>
      </p:sp>
      <p:sp>
        <p:nvSpPr>
          <p:cNvPr id="55" name="Shape 53"/>
          <p:cNvSpPr/>
          <p:nvPr/>
        </p:nvSpPr>
        <p:spPr>
          <a:xfrm>
            <a:off x="11045952" y="5065776"/>
            <a:ext cx="105156" cy="105156"/>
          </a:xfrm>
          <a:prstGeom prst="rect">
            <a:avLst/>
          </a:prstGeom>
          <a:solidFill>
            <a:srgbClr val="1B1E23"/>
          </a:solidFill>
          <a:ln/>
        </p:spPr>
      </p:sp>
      <p:sp>
        <p:nvSpPr>
          <p:cNvPr id="56" name="Shape 54"/>
          <p:cNvSpPr/>
          <p:nvPr/>
        </p:nvSpPr>
        <p:spPr>
          <a:xfrm>
            <a:off x="11045952" y="5413248"/>
            <a:ext cx="105156" cy="105156"/>
          </a:xfrm>
          <a:prstGeom prst="rect">
            <a:avLst/>
          </a:prstGeom>
          <a:solidFill>
            <a:srgbClr val="1B1E23"/>
          </a:solidFill>
          <a:ln/>
        </p:spPr>
      </p:sp>
      <p:sp>
        <p:nvSpPr>
          <p:cNvPr id="57" name="Shape 55"/>
          <p:cNvSpPr/>
          <p:nvPr/>
        </p:nvSpPr>
        <p:spPr>
          <a:xfrm>
            <a:off x="11045952" y="5586984"/>
            <a:ext cx="105156" cy="105156"/>
          </a:xfrm>
          <a:prstGeom prst="rect">
            <a:avLst/>
          </a:prstGeom>
          <a:solidFill>
            <a:srgbClr val="1B1E23"/>
          </a:solidFill>
          <a:ln/>
        </p:spPr>
      </p:sp>
      <p:sp>
        <p:nvSpPr>
          <p:cNvPr id="58" name="Shape 56"/>
          <p:cNvSpPr/>
          <p:nvPr/>
        </p:nvSpPr>
        <p:spPr>
          <a:xfrm>
            <a:off x="11045952" y="5760720"/>
            <a:ext cx="105156" cy="105156"/>
          </a:xfrm>
          <a:prstGeom prst="rect">
            <a:avLst/>
          </a:prstGeom>
          <a:solidFill>
            <a:srgbClr val="1B1E23"/>
          </a:solidFill>
          <a:ln/>
        </p:spPr>
      </p:sp>
      <p:sp>
        <p:nvSpPr>
          <p:cNvPr id="59" name="Shape 57"/>
          <p:cNvSpPr/>
          <p:nvPr/>
        </p:nvSpPr>
        <p:spPr>
          <a:xfrm>
            <a:off x="11045952" y="5934456"/>
            <a:ext cx="105156" cy="105156"/>
          </a:xfrm>
          <a:prstGeom prst="rect">
            <a:avLst/>
          </a:prstGeom>
          <a:solidFill>
            <a:srgbClr val="1B1E23"/>
          </a:solidFill>
          <a:ln/>
        </p:spPr>
      </p:sp>
      <p:sp>
        <p:nvSpPr>
          <p:cNvPr id="60" name="Shape 58"/>
          <p:cNvSpPr/>
          <p:nvPr/>
        </p:nvSpPr>
        <p:spPr>
          <a:xfrm>
            <a:off x="11045952" y="6108192"/>
            <a:ext cx="105156" cy="105156"/>
          </a:xfrm>
          <a:prstGeom prst="rect">
            <a:avLst/>
          </a:prstGeom>
          <a:solidFill>
            <a:srgbClr val="1B1E23"/>
          </a:solidFill>
          <a:ln/>
        </p:spPr>
      </p:sp>
      <p:sp>
        <p:nvSpPr>
          <p:cNvPr id="61" name="Shape 59"/>
          <p:cNvSpPr/>
          <p:nvPr/>
        </p:nvSpPr>
        <p:spPr>
          <a:xfrm>
            <a:off x="11219688" y="4892040"/>
            <a:ext cx="105156" cy="105156"/>
          </a:xfrm>
          <a:prstGeom prst="rect">
            <a:avLst/>
          </a:prstGeom>
          <a:solidFill>
            <a:srgbClr val="1B1E23"/>
          </a:solidFill>
          <a:ln/>
        </p:spPr>
      </p:sp>
      <p:sp>
        <p:nvSpPr>
          <p:cNvPr id="62" name="Shape 60"/>
          <p:cNvSpPr/>
          <p:nvPr/>
        </p:nvSpPr>
        <p:spPr>
          <a:xfrm>
            <a:off x="11219688" y="5065776"/>
            <a:ext cx="105156" cy="105156"/>
          </a:xfrm>
          <a:prstGeom prst="rect">
            <a:avLst/>
          </a:prstGeom>
          <a:solidFill>
            <a:srgbClr val="1B1E23"/>
          </a:solidFill>
          <a:ln/>
        </p:spPr>
      </p:sp>
      <p:sp>
        <p:nvSpPr>
          <p:cNvPr id="63" name="Shape 61"/>
          <p:cNvSpPr/>
          <p:nvPr/>
        </p:nvSpPr>
        <p:spPr>
          <a:xfrm>
            <a:off x="11219688" y="5239512"/>
            <a:ext cx="105156" cy="105156"/>
          </a:xfrm>
          <a:prstGeom prst="rect">
            <a:avLst/>
          </a:prstGeom>
          <a:solidFill>
            <a:srgbClr val="1B1E23"/>
          </a:solidFill>
          <a:ln/>
        </p:spPr>
      </p:sp>
      <p:sp>
        <p:nvSpPr>
          <p:cNvPr id="64" name="Shape 62"/>
          <p:cNvSpPr/>
          <p:nvPr/>
        </p:nvSpPr>
        <p:spPr>
          <a:xfrm>
            <a:off x="11219688" y="5413248"/>
            <a:ext cx="105156" cy="105156"/>
          </a:xfrm>
          <a:prstGeom prst="rect">
            <a:avLst/>
          </a:prstGeom>
          <a:solidFill>
            <a:srgbClr val="1B1E23"/>
          </a:solidFill>
          <a:ln/>
        </p:spPr>
      </p:sp>
      <p:sp>
        <p:nvSpPr>
          <p:cNvPr id="65" name="Shape 63"/>
          <p:cNvSpPr/>
          <p:nvPr/>
        </p:nvSpPr>
        <p:spPr>
          <a:xfrm>
            <a:off x="11219688" y="5586984"/>
            <a:ext cx="105156" cy="105156"/>
          </a:xfrm>
          <a:prstGeom prst="rect">
            <a:avLst/>
          </a:prstGeom>
          <a:solidFill>
            <a:srgbClr val="1B1E23"/>
          </a:solidFill>
          <a:ln/>
        </p:spPr>
      </p:sp>
      <p:sp>
        <p:nvSpPr>
          <p:cNvPr id="66" name="Shape 64"/>
          <p:cNvSpPr/>
          <p:nvPr/>
        </p:nvSpPr>
        <p:spPr>
          <a:xfrm>
            <a:off x="11219688" y="5760720"/>
            <a:ext cx="105156" cy="105156"/>
          </a:xfrm>
          <a:prstGeom prst="rect">
            <a:avLst/>
          </a:prstGeom>
          <a:solidFill>
            <a:srgbClr val="1B1E23"/>
          </a:solidFill>
          <a:ln/>
        </p:spPr>
      </p:sp>
      <p:sp>
        <p:nvSpPr>
          <p:cNvPr id="67" name="Shape 65"/>
          <p:cNvSpPr/>
          <p:nvPr/>
        </p:nvSpPr>
        <p:spPr>
          <a:xfrm>
            <a:off x="11219688" y="5934456"/>
            <a:ext cx="105156" cy="105156"/>
          </a:xfrm>
          <a:prstGeom prst="rect">
            <a:avLst/>
          </a:prstGeom>
          <a:solidFill>
            <a:srgbClr val="1B1E23"/>
          </a:solidFill>
          <a:ln/>
        </p:spPr>
      </p:sp>
      <p:sp>
        <p:nvSpPr>
          <p:cNvPr id="68" name="Shape 66"/>
          <p:cNvSpPr/>
          <p:nvPr/>
        </p:nvSpPr>
        <p:spPr>
          <a:xfrm>
            <a:off x="11393424" y="4892040"/>
            <a:ext cx="105156" cy="105156"/>
          </a:xfrm>
          <a:prstGeom prst="rect">
            <a:avLst/>
          </a:prstGeom>
          <a:solidFill>
            <a:srgbClr val="1B1E23"/>
          </a:solidFill>
          <a:ln/>
        </p:spPr>
      </p:sp>
      <p:sp>
        <p:nvSpPr>
          <p:cNvPr id="69" name="Shape 67"/>
          <p:cNvSpPr/>
          <p:nvPr/>
        </p:nvSpPr>
        <p:spPr>
          <a:xfrm>
            <a:off x="11393424" y="5239512"/>
            <a:ext cx="105156" cy="105156"/>
          </a:xfrm>
          <a:prstGeom prst="rect">
            <a:avLst/>
          </a:prstGeom>
          <a:solidFill>
            <a:srgbClr val="1B1E23"/>
          </a:solidFill>
          <a:ln/>
        </p:spPr>
      </p:sp>
      <p:sp>
        <p:nvSpPr>
          <p:cNvPr id="70" name="Shape 68"/>
          <p:cNvSpPr/>
          <p:nvPr/>
        </p:nvSpPr>
        <p:spPr>
          <a:xfrm>
            <a:off x="11393424" y="5413248"/>
            <a:ext cx="105156" cy="105156"/>
          </a:xfrm>
          <a:prstGeom prst="rect">
            <a:avLst/>
          </a:prstGeom>
          <a:solidFill>
            <a:srgbClr val="1B1E23"/>
          </a:solidFill>
          <a:ln/>
        </p:spPr>
      </p:sp>
      <p:sp>
        <p:nvSpPr>
          <p:cNvPr id="71" name="Shape 69"/>
          <p:cNvSpPr/>
          <p:nvPr/>
        </p:nvSpPr>
        <p:spPr>
          <a:xfrm>
            <a:off x="11393424" y="5586984"/>
            <a:ext cx="105156" cy="105156"/>
          </a:xfrm>
          <a:prstGeom prst="rect">
            <a:avLst/>
          </a:prstGeom>
          <a:solidFill>
            <a:srgbClr val="1B1E23"/>
          </a:solidFill>
          <a:ln/>
        </p:spPr>
      </p:sp>
      <p:sp>
        <p:nvSpPr>
          <p:cNvPr id="72" name="Shape 70"/>
          <p:cNvSpPr/>
          <p:nvPr/>
        </p:nvSpPr>
        <p:spPr>
          <a:xfrm>
            <a:off x="11393424" y="5760720"/>
            <a:ext cx="105156" cy="105156"/>
          </a:xfrm>
          <a:prstGeom prst="rect">
            <a:avLst/>
          </a:prstGeom>
          <a:solidFill>
            <a:srgbClr val="1B1E23"/>
          </a:solidFill>
          <a:ln/>
        </p:spPr>
      </p:sp>
      <p:sp>
        <p:nvSpPr>
          <p:cNvPr id="73" name="Shape 71"/>
          <p:cNvSpPr/>
          <p:nvPr/>
        </p:nvSpPr>
        <p:spPr>
          <a:xfrm>
            <a:off x="11393424" y="5934456"/>
            <a:ext cx="105156" cy="105156"/>
          </a:xfrm>
          <a:prstGeom prst="rect">
            <a:avLst/>
          </a:prstGeom>
          <a:solidFill>
            <a:srgbClr val="1B1E23"/>
          </a:solidFill>
          <a:ln/>
        </p:spPr>
      </p:sp>
      <p:sp>
        <p:nvSpPr>
          <p:cNvPr id="74" name="Shape 72"/>
          <p:cNvSpPr/>
          <p:nvPr/>
        </p:nvSpPr>
        <p:spPr>
          <a:xfrm>
            <a:off x="11393424" y="6108192"/>
            <a:ext cx="105156" cy="105156"/>
          </a:xfrm>
          <a:prstGeom prst="rect">
            <a:avLst/>
          </a:prstGeom>
          <a:solidFill>
            <a:srgbClr val="1B1E23"/>
          </a:solidFill>
          <a:ln/>
        </p:spPr>
      </p:sp>
      <p:sp>
        <p:nvSpPr>
          <p:cNvPr id="75" name="Shape 73"/>
          <p:cNvSpPr/>
          <p:nvPr/>
        </p:nvSpPr>
        <p:spPr>
          <a:xfrm>
            <a:off x="11567160" y="4892040"/>
            <a:ext cx="105156" cy="105156"/>
          </a:xfrm>
          <a:prstGeom prst="rect">
            <a:avLst/>
          </a:prstGeom>
          <a:solidFill>
            <a:srgbClr val="1B1E23"/>
          </a:solidFill>
          <a:ln/>
        </p:spPr>
      </p:sp>
      <p:sp>
        <p:nvSpPr>
          <p:cNvPr id="76" name="Shape 74"/>
          <p:cNvSpPr/>
          <p:nvPr/>
        </p:nvSpPr>
        <p:spPr>
          <a:xfrm>
            <a:off x="11567160" y="5065776"/>
            <a:ext cx="105156" cy="105156"/>
          </a:xfrm>
          <a:prstGeom prst="rect">
            <a:avLst/>
          </a:prstGeom>
          <a:solidFill>
            <a:srgbClr val="1B1E23"/>
          </a:solidFill>
          <a:ln/>
        </p:spPr>
      </p:sp>
      <p:sp>
        <p:nvSpPr>
          <p:cNvPr id="77" name="Shape 75"/>
          <p:cNvSpPr/>
          <p:nvPr/>
        </p:nvSpPr>
        <p:spPr>
          <a:xfrm>
            <a:off x="11567160" y="5239512"/>
            <a:ext cx="105156" cy="105156"/>
          </a:xfrm>
          <a:prstGeom prst="rect">
            <a:avLst/>
          </a:prstGeom>
          <a:solidFill>
            <a:srgbClr val="1B1E23"/>
          </a:solidFill>
          <a:ln/>
        </p:spPr>
      </p:sp>
      <p:sp>
        <p:nvSpPr>
          <p:cNvPr id="78" name="Shape 76"/>
          <p:cNvSpPr/>
          <p:nvPr/>
        </p:nvSpPr>
        <p:spPr>
          <a:xfrm>
            <a:off x="11567160" y="5413248"/>
            <a:ext cx="105156" cy="105156"/>
          </a:xfrm>
          <a:prstGeom prst="rect">
            <a:avLst/>
          </a:prstGeom>
          <a:solidFill>
            <a:srgbClr val="1B1E23"/>
          </a:solidFill>
          <a:ln/>
        </p:spPr>
      </p:sp>
      <p:sp>
        <p:nvSpPr>
          <p:cNvPr id="79" name="Shape 77"/>
          <p:cNvSpPr/>
          <p:nvPr/>
        </p:nvSpPr>
        <p:spPr>
          <a:xfrm>
            <a:off x="11567160" y="5586984"/>
            <a:ext cx="105156" cy="105156"/>
          </a:xfrm>
          <a:prstGeom prst="rect">
            <a:avLst/>
          </a:prstGeom>
          <a:solidFill>
            <a:srgbClr val="1B1E23"/>
          </a:solidFill>
          <a:ln/>
        </p:spPr>
      </p:sp>
      <p:sp>
        <p:nvSpPr>
          <p:cNvPr id="80" name="Shape 78"/>
          <p:cNvSpPr/>
          <p:nvPr/>
        </p:nvSpPr>
        <p:spPr>
          <a:xfrm>
            <a:off x="11567160" y="5760720"/>
            <a:ext cx="105156" cy="105156"/>
          </a:xfrm>
          <a:prstGeom prst="rect">
            <a:avLst/>
          </a:prstGeom>
          <a:solidFill>
            <a:srgbClr val="1B1E23"/>
          </a:solidFill>
          <a:ln/>
        </p:spPr>
      </p:sp>
      <p:sp>
        <p:nvSpPr>
          <p:cNvPr id="81" name="Shape 79"/>
          <p:cNvSpPr/>
          <p:nvPr/>
        </p:nvSpPr>
        <p:spPr>
          <a:xfrm>
            <a:off x="11567160" y="6108192"/>
            <a:ext cx="105156" cy="105156"/>
          </a:xfrm>
          <a:prstGeom prst="rect">
            <a:avLst/>
          </a:prstGeom>
          <a:solidFill>
            <a:srgbClr val="1B1E23"/>
          </a:solidFill>
          <a:ln/>
        </p:spPr>
      </p:sp>
      <p:sp>
        <p:nvSpPr>
          <p:cNvPr id="82" name="Text 80"/>
          <p:cNvSpPr txBox="1"/>
          <p:nvPr/>
        </p:nvSpPr>
        <p:spPr>
          <a:xfrm>
            <a:off x="566928" y="2331720"/>
            <a:ext cx="11027664" cy="256032"/>
          </a:xfrm>
          <a:prstGeom prst="rect">
            <a:avLst/>
          </a:prstGeom>
          <a:noFill/>
          <a:ln/>
        </p:spPr>
        <p:txBody>
          <a:bodyPr wrap="square" lIns="0" tIns="0" rIns="0" bIns="0" rtlCol="0" anchor="ctr"/>
          <a:lstStyle/>
          <a:p>
            <a:pPr indent="0" marL="0">
              <a:buNone/>
            </a:pPr>
            <a:r>
              <a:rPr lang="en-US" sz="1200" b="1" spc="240" kern="0" dirty="0">
                <a:solidFill>
                  <a:srgbClr val="EB6834"/>
                </a:solidFill>
                <a:latin typeface="Calibri" pitchFamily="34" charset="0"/>
                <a:ea typeface="Calibri" pitchFamily="34" charset="-122"/>
                <a:cs typeface="Calibri" pitchFamily="34" charset="-120"/>
              </a:rPr>
              <a:t>PART TWO</a:t>
            </a:r>
            <a:endParaRPr lang="en-US" sz="1200" dirty="0"/>
          </a:p>
        </p:txBody>
      </p:sp>
      <p:sp>
        <p:nvSpPr>
          <p:cNvPr id="83" name="Text 81"/>
          <p:cNvSpPr txBox="1"/>
          <p:nvPr/>
        </p:nvSpPr>
        <p:spPr>
          <a:xfrm>
            <a:off x="566928" y="2670048"/>
            <a:ext cx="8822131"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From result to commercial value</a:t>
            </a:r>
            <a:endParaRPr lang="en-US" sz="4000" dirty="0"/>
          </a:p>
        </p:txBody>
      </p:sp>
      <p:sp>
        <p:nvSpPr>
          <p:cNvPr id="84" name="Text 82"/>
          <p:cNvSpPr txBox="1"/>
          <p:nvPr/>
        </p:nvSpPr>
        <p:spPr>
          <a:xfrm>
            <a:off x="566928" y="3529584"/>
            <a:ext cx="6065215" cy="731520"/>
          </a:xfrm>
          <a:prstGeom prst="rect">
            <a:avLst/>
          </a:prstGeom>
          <a:noFill/>
          <a:ln/>
        </p:spPr>
        <p:txBody>
          <a:bodyPr wrap="square" lIns="0" tIns="0" rIns="0" bIns="0" rtlCol="0" anchor="ctr"/>
          <a:lstStyle/>
          <a:p>
            <a:pPr indent="0" marL="0">
              <a:lnSpc>
                <a:spcPct val="115000"/>
              </a:lnSpc>
              <a:buNone/>
            </a:pPr>
            <a:r>
              <a:rPr lang="en-US" sz="1500" dirty="0">
                <a:solidFill>
                  <a:srgbClr val="9B9992"/>
                </a:solidFill>
                <a:latin typeface="Calibri" pitchFamily="34" charset="0"/>
                <a:ea typeface="Calibri" pitchFamily="34" charset="-122"/>
                <a:cs typeface="Calibri" pitchFamily="34" charset="-120"/>
              </a:rPr>
              <a:t>Three measured levers, what a pilot would have to establish to price them, and what stands between a simulator and a warehouse floor.</a:t>
            </a:r>
            <a:endParaRPr lang="en-US" sz="1500" dirty="0"/>
          </a:p>
        </p:txBody>
      </p:sp>
      <p:sp>
        <p:nvSpPr>
          <p:cNvPr id="85" name="Text 8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9B9992"/>
                </a:solidFill>
                <a:latin typeface="Calibri" pitchFamily="34" charset="0"/>
                <a:ea typeface="Calibri" pitchFamily="34" charset="-122"/>
                <a:cs typeface="Calibri" pitchFamily="34" charset="-120"/>
              </a:rPr>
              <a:t>14</a:t>
            </a:r>
            <a:endParaRPr lang="en-US" sz="1000" dirty="0"/>
          </a:p>
        </p:txBody>
      </p:sp>
      <p:sp>
        <p:nvSpPr>
          <p:cNvPr id="86" name="Text 8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9B9992"/>
                </a:solidFill>
                <a:latin typeface="Calibri" pitchFamily="34" charset="0"/>
                <a:ea typeface="Calibri" pitchFamily="34" charset="-122"/>
                <a:cs typeface="Calibri" pitchFamily="34" charset="-120"/>
              </a:rPr>
              <a:t>aisleflow · research review · @ef0910e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OPPORTUNITY</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Three routes to value from one codebase</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Each rests on a measured number from the first half of this deck, and none of them requires new hardware.</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10512"/>
            <a:ext cx="3468624" cy="2944368"/>
          </a:xfrm>
          <a:prstGeom prst="roundRect">
            <a:avLst>
              <a:gd name="adj" fmla="val 1553"/>
            </a:avLst>
          </a:prstGeom>
          <a:solidFill>
            <a:srgbClr val="F2F1EC"/>
          </a:solidFill>
          <a:ln/>
        </p:spPr>
      </p:sp>
      <p:sp>
        <p:nvSpPr>
          <p:cNvPr id="8" name="Shape 6"/>
          <p:cNvSpPr/>
          <p:nvPr/>
        </p:nvSpPr>
        <p:spPr>
          <a:xfrm>
            <a:off x="786384" y="2011680"/>
            <a:ext cx="384048" cy="384048"/>
          </a:xfrm>
          <a:prstGeom prst="ellipse">
            <a:avLst/>
          </a:prstGeom>
          <a:solidFill>
            <a:srgbClr val="EB6834"/>
          </a:solidFill>
          <a:ln/>
        </p:spPr>
      </p:sp>
      <p:sp>
        <p:nvSpPr>
          <p:cNvPr id="9" name="Text 7"/>
          <p:cNvSpPr txBox="1"/>
          <p:nvPr/>
        </p:nvSpPr>
        <p:spPr>
          <a:xfrm>
            <a:off x="78638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786384" y="2542032"/>
            <a:ext cx="3029712" cy="56692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Capacity per robot, in our own fleet</a:t>
            </a:r>
            <a:endParaRPr lang="en-US" sz="1500" dirty="0"/>
          </a:p>
        </p:txBody>
      </p:sp>
      <p:sp>
        <p:nvSpPr>
          <p:cNvPr id="11" name="Text 9"/>
          <p:cNvSpPr txBox="1"/>
          <p:nvPr/>
        </p:nvSpPr>
        <p:spPr>
          <a:xfrm>
            <a:off x="786384" y="3163824"/>
            <a:ext cx="3029712" cy="1499616"/>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On floors where a chokepoint binds, configuration alone moves throughput 22–50% against identical hardware. The lever is the planner, not the robot: no new sensors, no new drive train, a software change to a fleet that already exists.</a:t>
            </a:r>
            <a:endParaRPr lang="en-US" sz="1150" dirty="0"/>
          </a:p>
        </p:txBody>
      </p:sp>
      <p:sp>
        <p:nvSpPr>
          <p:cNvPr id="12" name="Text 10"/>
          <p:cNvSpPr txBox="1"/>
          <p:nvPr/>
        </p:nvSpPr>
        <p:spPr>
          <a:xfrm>
            <a:off x="786384" y="4846320"/>
            <a:ext cx="3029712" cy="237744"/>
          </a:xfrm>
          <a:prstGeom prst="rect">
            <a:avLst/>
          </a:prstGeom>
          <a:noFill/>
          <a:ln/>
        </p:spPr>
        <p:txBody>
          <a:bodyPr wrap="square" lIns="0" tIns="0" rIns="0" bIns="0" rtlCol="0" anchor="ctr"/>
          <a:lstStyle/>
          <a:p>
            <a:pPr indent="0" marL="0">
              <a:buNone/>
            </a:pPr>
            <a:r>
              <a:rPr lang="en-US" sz="1050" i="1" dirty="0">
                <a:solidFill>
                  <a:srgbClr val="2A78D6"/>
                </a:solidFill>
                <a:latin typeface="Calibri" pitchFamily="34" charset="0"/>
                <a:ea typeface="Calibri" pitchFamily="34" charset="-122"/>
                <a:cs typeface="Calibri" pitchFamily="34" charset="-120"/>
              </a:rPr>
              <a:t>Rests on: the ablation ladder, slide 12</a:t>
            </a:r>
            <a:endParaRPr lang="en-US" sz="1050" dirty="0"/>
          </a:p>
        </p:txBody>
      </p:sp>
      <p:sp>
        <p:nvSpPr>
          <p:cNvPr id="13" name="Shape 11"/>
          <p:cNvSpPr/>
          <p:nvPr/>
        </p:nvSpPr>
        <p:spPr>
          <a:xfrm>
            <a:off x="4346448" y="1810512"/>
            <a:ext cx="3468624" cy="2944368"/>
          </a:xfrm>
          <a:prstGeom prst="roundRect">
            <a:avLst>
              <a:gd name="adj" fmla="val 1553"/>
            </a:avLst>
          </a:prstGeom>
          <a:solidFill>
            <a:srgbClr val="F2F1EC"/>
          </a:solidFill>
          <a:ln/>
        </p:spPr>
      </p:sp>
      <p:sp>
        <p:nvSpPr>
          <p:cNvPr id="14" name="Shape 12"/>
          <p:cNvSpPr/>
          <p:nvPr/>
        </p:nvSpPr>
        <p:spPr>
          <a:xfrm>
            <a:off x="4565904" y="2011680"/>
            <a:ext cx="384048" cy="384048"/>
          </a:xfrm>
          <a:prstGeom prst="ellipse">
            <a:avLst/>
          </a:prstGeom>
          <a:solidFill>
            <a:srgbClr val="EB6834"/>
          </a:solidFill>
          <a:ln/>
        </p:spPr>
      </p:sp>
      <p:sp>
        <p:nvSpPr>
          <p:cNvPr id="15" name="Text 13"/>
          <p:cNvSpPr txBox="1"/>
          <p:nvPr/>
        </p:nvSpPr>
        <p:spPr>
          <a:xfrm>
            <a:off x="456590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txBox="1"/>
          <p:nvPr/>
        </p:nvSpPr>
        <p:spPr>
          <a:xfrm>
            <a:off x="4565904" y="2542032"/>
            <a:ext cx="3029712" cy="56692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The planner as a licensable component</a:t>
            </a:r>
            <a:endParaRPr lang="en-US" sz="1500" dirty="0"/>
          </a:p>
        </p:txBody>
      </p:sp>
      <p:sp>
        <p:nvSpPr>
          <p:cNvPr id="17" name="Text 15"/>
          <p:cNvSpPr txBox="1"/>
          <p:nvPr/>
        </p:nvSpPr>
        <p:spPr>
          <a:xfrm>
            <a:off x="4565904" y="3163824"/>
            <a:ext cx="3029712" cy="1499616"/>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No runtime dependencies, pure standard library, MIT, Python 3.10+ — and a planner that closes a 10 Hz loop for 40 robots inside 4% of one core. One file tree, one CLI, one JSON API, no fleet-server requirement: an integration story an OEM can accept.</a:t>
            </a:r>
            <a:endParaRPr lang="en-US" sz="1150" dirty="0"/>
          </a:p>
        </p:txBody>
      </p:sp>
      <p:sp>
        <p:nvSpPr>
          <p:cNvPr id="18" name="Text 16"/>
          <p:cNvSpPr txBox="1"/>
          <p:nvPr/>
        </p:nvSpPr>
        <p:spPr>
          <a:xfrm>
            <a:off x="4565904" y="4846320"/>
            <a:ext cx="3029712" cy="237744"/>
          </a:xfrm>
          <a:prstGeom prst="rect">
            <a:avLst/>
          </a:prstGeom>
          <a:noFill/>
          <a:ln/>
        </p:spPr>
        <p:txBody>
          <a:bodyPr wrap="square" lIns="0" tIns="0" rIns="0" bIns="0" rtlCol="0" anchor="ctr"/>
          <a:lstStyle/>
          <a:p>
            <a:pPr indent="0" marL="0">
              <a:buNone/>
            </a:pPr>
            <a:r>
              <a:rPr lang="en-US" sz="1050" i="1" dirty="0">
                <a:solidFill>
                  <a:srgbClr val="2A78D6"/>
                </a:solidFill>
                <a:latin typeface="Calibri" pitchFamily="34" charset="0"/>
                <a:ea typeface="Calibri" pitchFamily="34" charset="-122"/>
                <a:cs typeface="Calibri" pitchFamily="34" charset="-120"/>
              </a:rPr>
              <a:t>Rests on: compute economics, slide 10</a:t>
            </a:r>
            <a:endParaRPr lang="en-US" sz="1050" dirty="0"/>
          </a:p>
        </p:txBody>
      </p:sp>
      <p:sp>
        <p:nvSpPr>
          <p:cNvPr id="19" name="Shape 17"/>
          <p:cNvSpPr/>
          <p:nvPr/>
        </p:nvSpPr>
        <p:spPr>
          <a:xfrm>
            <a:off x="8125968" y="1810512"/>
            <a:ext cx="3468624" cy="2944368"/>
          </a:xfrm>
          <a:prstGeom prst="roundRect">
            <a:avLst>
              <a:gd name="adj" fmla="val 1553"/>
            </a:avLst>
          </a:prstGeom>
          <a:solidFill>
            <a:srgbClr val="F2F1EC"/>
          </a:solidFill>
          <a:ln/>
        </p:spPr>
      </p:sp>
      <p:sp>
        <p:nvSpPr>
          <p:cNvPr id="20" name="Shape 18"/>
          <p:cNvSpPr/>
          <p:nvPr/>
        </p:nvSpPr>
        <p:spPr>
          <a:xfrm>
            <a:off x="8345424" y="2011680"/>
            <a:ext cx="384048" cy="384048"/>
          </a:xfrm>
          <a:prstGeom prst="ellipse">
            <a:avLst/>
          </a:prstGeom>
          <a:solidFill>
            <a:srgbClr val="EB6834"/>
          </a:solidFill>
          <a:ln/>
        </p:spPr>
      </p:sp>
      <p:sp>
        <p:nvSpPr>
          <p:cNvPr id="21" name="Text 19"/>
          <p:cNvSpPr txBox="1"/>
          <p:nvPr/>
        </p:nvSpPr>
        <p:spPr>
          <a:xfrm>
            <a:off x="834542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345424" y="2542032"/>
            <a:ext cx="3029712" cy="566928"/>
          </a:xfrm>
          <a:prstGeom prst="rect">
            <a:avLst/>
          </a:prstGeom>
          <a:noFill/>
          <a:ln/>
        </p:spPr>
        <p:txBody>
          <a:bodyPr wrap="square" lIns="0" tIns="0" rIns="0" bIns="0" rtlCol="0" anchor="t"/>
          <a:lstStyle/>
          <a:p>
            <a:pPr indent="0" marL="0">
              <a:buNone/>
            </a:pPr>
            <a:r>
              <a:rPr lang="en-US" sz="1500" b="1" dirty="0">
                <a:solidFill>
                  <a:srgbClr val="0B0B0B"/>
                </a:solidFill>
                <a:latin typeface="Arial" pitchFamily="34" charset="0"/>
                <a:ea typeface="Arial" pitchFamily="34" charset="-122"/>
                <a:cs typeface="Arial" pitchFamily="34" charset="-120"/>
              </a:rPr>
              <a:t>The harness as a site-design instrument</a:t>
            </a:r>
            <a:endParaRPr lang="en-US" sz="1500" dirty="0"/>
          </a:p>
        </p:txBody>
      </p:sp>
      <p:sp>
        <p:nvSpPr>
          <p:cNvPr id="23" name="Text 21"/>
          <p:cNvSpPr txBox="1"/>
          <p:nvPr/>
        </p:nvSpPr>
        <p:spPr>
          <a:xfrm>
            <a:off x="8345424" y="3163824"/>
            <a:ext cx="3029712" cy="1499616"/>
          </a:xfrm>
          <a:prstGeom prst="rect">
            <a:avLst/>
          </a:prstGeom>
          <a:noFill/>
          <a:ln/>
        </p:spPr>
        <p:txBody>
          <a:bodyPr wrap="square" lIns="0" tIns="0" rIns="0" bIns="0" rtlCol="0" anchor="t"/>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The density sweep answers “how many robots should this floor have?” before any are bought; the ablation ladder answers “which configuration should it run?”. Both take minutes on a laptop, from a map file and an arrival rate. That is a pre-sales and commissioning tool, not an experiment runner.</a:t>
            </a:r>
            <a:endParaRPr lang="en-US" sz="1150" dirty="0"/>
          </a:p>
        </p:txBody>
      </p:sp>
      <p:sp>
        <p:nvSpPr>
          <p:cNvPr id="24" name="Text 22"/>
          <p:cNvSpPr txBox="1"/>
          <p:nvPr/>
        </p:nvSpPr>
        <p:spPr>
          <a:xfrm>
            <a:off x="8345424" y="4846320"/>
            <a:ext cx="3029712" cy="237744"/>
          </a:xfrm>
          <a:prstGeom prst="rect">
            <a:avLst/>
          </a:prstGeom>
          <a:noFill/>
          <a:ln/>
        </p:spPr>
        <p:txBody>
          <a:bodyPr wrap="square" lIns="0" tIns="0" rIns="0" bIns="0" rtlCol="0" anchor="ctr"/>
          <a:lstStyle/>
          <a:p>
            <a:pPr indent="0" marL="0">
              <a:buNone/>
            </a:pPr>
            <a:r>
              <a:rPr lang="en-US" sz="1050" i="1" dirty="0">
                <a:solidFill>
                  <a:srgbClr val="2A78D6"/>
                </a:solidFill>
                <a:latin typeface="Calibri" pitchFamily="34" charset="0"/>
                <a:ea typeface="Calibri" pitchFamily="34" charset="-122"/>
                <a:cs typeface="Calibri" pitchFamily="34" charset="-120"/>
              </a:rPr>
              <a:t>Rests on: fleet sizing, slide 11</a:t>
            </a:r>
            <a:endParaRPr lang="en-US" sz="1050" dirty="0"/>
          </a:p>
        </p:txBody>
      </p:sp>
      <p:sp>
        <p:nvSpPr>
          <p:cNvPr id="25" name="Shape 23"/>
          <p:cNvSpPr/>
          <p:nvPr/>
        </p:nvSpPr>
        <p:spPr>
          <a:xfrm>
            <a:off x="566928" y="5266944"/>
            <a:ext cx="11027664" cy="749808"/>
          </a:xfrm>
          <a:prstGeom prst="roundRect">
            <a:avLst>
              <a:gd name="adj" fmla="val 6098"/>
            </a:avLst>
          </a:prstGeom>
          <a:solidFill>
            <a:srgbClr val="0F1113"/>
          </a:solidFill>
          <a:ln/>
        </p:spPr>
      </p:sp>
      <p:sp>
        <p:nvSpPr>
          <p:cNvPr id="26" name="Text 24"/>
          <p:cNvSpPr txBox="1"/>
          <p:nvPr/>
        </p:nvSpPr>
        <p:spPr>
          <a:xfrm>
            <a:off x="804672" y="5394960"/>
            <a:ext cx="10552176" cy="493776"/>
          </a:xfrm>
          <a:prstGeom prst="rect">
            <a:avLst/>
          </a:prstGeom>
          <a:noFill/>
          <a:ln/>
        </p:spPr>
        <p:txBody>
          <a:bodyPr wrap="square" lIns="0" tIns="0" rIns="0" bIns="0" rtlCol="0" anchor="ctr"/>
          <a:lstStyle/>
          <a:p>
            <a:pPr indent="0" marL="0">
              <a:lnSpc>
                <a:spcPct val="112000"/>
              </a:lnSpc>
              <a:buNone/>
            </a:pPr>
            <a:r>
              <a:rPr lang="en-US" sz="1300" dirty="0">
                <a:solidFill>
                  <a:srgbClr val="E8E7E3"/>
                </a:solidFill>
                <a:latin typeface="Calibri" pitchFamily="34" charset="0"/>
                <a:ea typeface="Calibri" pitchFamily="34" charset="-122"/>
                <a:cs typeface="Calibri" pitchFamily="34" charset="-120"/>
              </a:rPr>
              <a:t>The third route is the one the study uniquely enables. Nothing else here answers, from a floor plan alone, that on corridors the 21st through 40th robot deliver nothing at all.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MAKING THE CASE</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The levers are measured. Pricing them is the pilot.</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This study contains no cost, currency or real-site data, so nothing here is expressed in money — and nothing should be until a floor supplies the basis.</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Text 5"/>
          <p:cNvSpPr txBox="1"/>
          <p:nvPr/>
        </p:nvSpPr>
        <p:spPr>
          <a:xfrm>
            <a:off x="566928" y="1810512"/>
            <a:ext cx="5285232" cy="27432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What has been measured</a:t>
            </a:r>
            <a:endParaRPr lang="en-US" sz="1500" dirty="0"/>
          </a:p>
        </p:txBody>
      </p:sp>
      <p:sp>
        <p:nvSpPr>
          <p:cNvPr id="8" name="Shape 6"/>
          <p:cNvSpPr/>
          <p:nvPr/>
        </p:nvSpPr>
        <p:spPr>
          <a:xfrm>
            <a:off x="566928" y="2194560"/>
            <a:ext cx="310896" cy="310896"/>
          </a:xfrm>
          <a:prstGeom prst="ellipse">
            <a:avLst/>
          </a:prstGeom>
          <a:solidFill>
            <a:srgbClr val="2A78D6"/>
          </a:solidFill>
          <a:ln/>
        </p:spPr>
      </p:sp>
      <p:sp>
        <p:nvSpPr>
          <p:cNvPr id="9" name="Text 7"/>
          <p:cNvSpPr txBox="1"/>
          <p:nvPr/>
        </p:nvSpPr>
        <p:spPr>
          <a:xfrm>
            <a:off x="566928" y="21945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txBox="1"/>
          <p:nvPr/>
        </p:nvSpPr>
        <p:spPr>
          <a:xfrm>
            <a:off x="1024128" y="2176272"/>
            <a:ext cx="4828032" cy="987552"/>
          </a:xfrm>
          <a:prstGeom prst="rect">
            <a:avLst/>
          </a:prstGeom>
          <a:noFill/>
          <a:ln/>
        </p:spPr>
        <p:txBody>
          <a:bodyPr wrap="square" lIns="0" tIns="0" rIns="0" bIns="0" rtlCol="0" anchor="t"/>
          <a:lstStyle/>
          <a:p>
            <a:pPr indent="0" marL="0">
              <a:lnSpc>
                <a:spcPct val="110000"/>
              </a:lnSpc>
              <a:buNone/>
            </a:pPr>
            <a:r>
              <a:rPr lang="en-US" sz="1200" b="1" dirty="0">
                <a:solidFill>
                  <a:srgbClr val="2A78D6"/>
                </a:solidFill>
                <a:latin typeface="Calibri" pitchFamily="34" charset="0"/>
                <a:ea typeface="Calibri" pitchFamily="34" charset="-122"/>
                <a:cs typeface="Calibri" pitchFamily="34" charset="-120"/>
              </a:rPr>
              <a:t>Throughput. </a:t>
            </a:r>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+47% over the strongest published planner on the chokepoint floor, and 22–50% from configuration alone against plain PIBT on the two floors where congestion binds.</a:t>
            </a:r>
            <a:endParaRPr lang="en-US" sz="1200" dirty="0"/>
          </a:p>
        </p:txBody>
      </p:sp>
      <p:sp>
        <p:nvSpPr>
          <p:cNvPr id="11" name="Shape 9"/>
          <p:cNvSpPr/>
          <p:nvPr/>
        </p:nvSpPr>
        <p:spPr>
          <a:xfrm>
            <a:off x="566928" y="3255264"/>
            <a:ext cx="310896" cy="310896"/>
          </a:xfrm>
          <a:prstGeom prst="ellipse">
            <a:avLst/>
          </a:prstGeom>
          <a:solidFill>
            <a:srgbClr val="2A78D6"/>
          </a:solidFill>
          <a:ln/>
        </p:spPr>
      </p:sp>
      <p:sp>
        <p:nvSpPr>
          <p:cNvPr id="12" name="Text 10"/>
          <p:cNvSpPr txBox="1"/>
          <p:nvPr/>
        </p:nvSpPr>
        <p:spPr>
          <a:xfrm>
            <a:off x="566928" y="32552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txBox="1"/>
          <p:nvPr/>
        </p:nvSpPr>
        <p:spPr>
          <a:xfrm>
            <a:off x="1024128" y="3236976"/>
            <a:ext cx="4828032" cy="987552"/>
          </a:xfrm>
          <a:prstGeom prst="rect">
            <a:avLst/>
          </a:prstGeom>
          <a:noFill/>
          <a:ln/>
        </p:spPr>
        <p:txBody>
          <a:bodyPr wrap="square" lIns="0" tIns="0" rIns="0" bIns="0" rtlCol="0" anchor="t"/>
          <a:lstStyle/>
          <a:p>
            <a:pPr indent="0" marL="0">
              <a:lnSpc>
                <a:spcPct val="110000"/>
              </a:lnSpc>
              <a:buNone/>
            </a:pPr>
            <a:r>
              <a:rPr lang="en-US" sz="1200" b="1" dirty="0">
                <a:solidFill>
                  <a:srgbClr val="2A78D6"/>
                </a:solidFill>
                <a:latin typeface="Calibri" pitchFamily="34" charset="0"/>
                <a:ea typeface="Calibri" pitchFamily="34" charset="-122"/>
                <a:cs typeface="Calibri" pitchFamily="34" charset="-120"/>
              </a:rPr>
              <a:t>Compute. </a:t>
            </a:r>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17–36× less than RHCR and 57–367× less than Token Passing, on every floor measured.</a:t>
            </a:r>
            <a:endParaRPr lang="en-US" sz="1200" dirty="0"/>
          </a:p>
        </p:txBody>
      </p:sp>
      <p:sp>
        <p:nvSpPr>
          <p:cNvPr id="14" name="Shape 12"/>
          <p:cNvSpPr/>
          <p:nvPr/>
        </p:nvSpPr>
        <p:spPr>
          <a:xfrm>
            <a:off x="566928" y="4315968"/>
            <a:ext cx="310896" cy="310896"/>
          </a:xfrm>
          <a:prstGeom prst="ellipse">
            <a:avLst/>
          </a:prstGeom>
          <a:solidFill>
            <a:srgbClr val="2A78D6"/>
          </a:solidFill>
          <a:ln/>
        </p:spPr>
      </p:sp>
      <p:sp>
        <p:nvSpPr>
          <p:cNvPr id="15" name="Text 13"/>
          <p:cNvSpPr txBox="1"/>
          <p:nvPr/>
        </p:nvSpPr>
        <p:spPr>
          <a:xfrm>
            <a:off x="566928" y="4315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txBox="1"/>
          <p:nvPr/>
        </p:nvSpPr>
        <p:spPr>
          <a:xfrm>
            <a:off x="1024128" y="4297680"/>
            <a:ext cx="4828032" cy="987552"/>
          </a:xfrm>
          <a:prstGeom prst="rect">
            <a:avLst/>
          </a:prstGeom>
          <a:noFill/>
          <a:ln/>
        </p:spPr>
        <p:txBody>
          <a:bodyPr wrap="square" lIns="0" tIns="0" rIns="0" bIns="0" rtlCol="0" anchor="t"/>
          <a:lstStyle/>
          <a:p>
            <a:pPr indent="0" marL="0">
              <a:lnSpc>
                <a:spcPct val="110000"/>
              </a:lnSpc>
              <a:buNone/>
            </a:pPr>
            <a:r>
              <a:rPr lang="en-US" sz="1200" b="1" dirty="0">
                <a:solidFill>
                  <a:srgbClr val="2A78D6"/>
                </a:solidFill>
                <a:latin typeface="Calibri" pitchFamily="34" charset="0"/>
                <a:ea typeface="Calibri" pitchFamily="34" charset="-122"/>
                <a:cs typeface="Calibri" pitchFamily="34" charset="-120"/>
              </a:rPr>
              <a:t>Capital. </a:t>
            </a:r>
            <a:pPr indent="0" marL="0">
              <a:lnSpc>
                <a:spcPct val="110000"/>
              </a:lnSpc>
              <a:buNone/>
            </a:pPr>
            <a:r>
              <a:rPr lang="en-US" sz="1200" dirty="0">
                <a:solidFill>
                  <a:srgbClr val="52514E"/>
                </a:solidFill>
                <a:latin typeface="Calibri" pitchFamily="34" charset="0"/>
                <a:ea typeface="Calibri" pitchFamily="34" charset="-122"/>
                <a:cs typeface="Calibri" pitchFamily="34" charset="-120"/>
              </a:rPr>
              <a:t>A measured marginal return per robot: on corridors it peaks at 30 robots and the next ten take throughput back down, while on medium it is still positive at 40.</a:t>
            </a:r>
            <a:endParaRPr lang="en-US" sz="1200" dirty="0"/>
          </a:p>
        </p:txBody>
      </p:sp>
      <p:sp>
        <p:nvSpPr>
          <p:cNvPr id="17" name="Text 15"/>
          <p:cNvSpPr txBox="1"/>
          <p:nvPr/>
        </p:nvSpPr>
        <p:spPr>
          <a:xfrm>
            <a:off x="6309360" y="1810512"/>
            <a:ext cx="5285232" cy="274320"/>
          </a:xfrm>
          <a:prstGeom prst="rect">
            <a:avLst/>
          </a:prstGeom>
          <a:noFill/>
          <a:ln/>
        </p:spPr>
        <p:txBody>
          <a:bodyPr wrap="square" lIns="0" tIns="0" rIns="0" bIns="0" rtlCol="0" anchor="ctr"/>
          <a:lstStyle/>
          <a:p>
            <a:pPr indent="0" marL="0">
              <a:buNone/>
            </a:pPr>
            <a:r>
              <a:rPr lang="en-US" sz="1500" b="1" dirty="0">
                <a:solidFill>
                  <a:srgbClr val="EB6834"/>
                </a:solidFill>
                <a:latin typeface="Arial" pitchFamily="34" charset="0"/>
                <a:ea typeface="Arial" pitchFamily="34" charset="-122"/>
                <a:cs typeface="Arial" pitchFamily="34" charset="-120"/>
              </a:rPr>
              <a:t>What a pilot has to establish</a:t>
            </a:r>
            <a:endParaRPr lang="en-US" sz="1500" dirty="0"/>
          </a:p>
        </p:txBody>
      </p:sp>
      <p:sp>
        <p:nvSpPr>
          <p:cNvPr id="18" name="Text 16"/>
          <p:cNvSpPr txBox="1"/>
          <p:nvPr/>
        </p:nvSpPr>
        <p:spPr>
          <a:xfrm>
            <a:off x="6309360" y="2176272"/>
            <a:ext cx="5285232" cy="822960"/>
          </a:xfrm>
          <a:prstGeom prst="rect">
            <a:avLst/>
          </a:prstGeom>
          <a:noFill/>
          <a:ln/>
        </p:spPr>
        <p:txBody>
          <a:bodyPr wrap="square" lIns="0" tIns="0" rIns="0" bIns="0" rtlCol="0" anchor="t"/>
          <a:lstStyle/>
          <a:p>
            <a:pPr indent="0" marL="0">
              <a:lnSpc>
                <a:spcPct val="110000"/>
              </a:lnSpc>
              <a:buNone/>
            </a:pPr>
            <a:r>
              <a:rPr lang="en-US" sz="1150" b="1" dirty="0">
                <a:solidFill>
                  <a:srgbClr val="EB6834"/>
                </a:solidFill>
                <a:latin typeface="Calibri" pitchFamily="34" charset="0"/>
                <a:ea typeface="Calibri" pitchFamily="34" charset="-122"/>
                <a:cs typeface="Calibri" pitchFamily="34" charset="-120"/>
              </a:rPr>
              <a:t>The floor's real structure.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Aisle lengths, articulation points, route multiplicity — which side of the ladder a customer's layout falls on decides the configuration, and therefore the size of the lever. lda-pibt inspect already computes all of it from a map file.</a:t>
            </a:r>
            <a:endParaRPr lang="en-US" sz="1150" dirty="0"/>
          </a:p>
        </p:txBody>
      </p:sp>
      <p:sp>
        <p:nvSpPr>
          <p:cNvPr id="19" name="Text 17"/>
          <p:cNvSpPr txBox="1"/>
          <p:nvPr/>
        </p:nvSpPr>
        <p:spPr>
          <a:xfrm>
            <a:off x="6309360" y="3035808"/>
            <a:ext cx="5285232" cy="822960"/>
          </a:xfrm>
          <a:prstGeom prst="rect">
            <a:avLst/>
          </a:prstGeom>
          <a:noFill/>
          <a:ln/>
        </p:spPr>
        <p:txBody>
          <a:bodyPr wrap="square" lIns="0" tIns="0" rIns="0" bIns="0" rtlCol="0" anchor="t"/>
          <a:lstStyle/>
          <a:p>
            <a:pPr indent="0" marL="0">
              <a:lnSpc>
                <a:spcPct val="110000"/>
              </a:lnSpc>
              <a:buNone/>
            </a:pPr>
            <a:r>
              <a:rPr lang="en-US" sz="1150" b="1" dirty="0">
                <a:solidFill>
                  <a:srgbClr val="EB6834"/>
                </a:solidFill>
                <a:latin typeface="Calibri" pitchFamily="34" charset="0"/>
                <a:ea typeface="Calibri" pitchFamily="34" charset="-122"/>
                <a:cs typeface="Calibri" pitchFamily="34" charset="-120"/>
              </a:rPr>
              <a:t>A real job stream.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Arrival rate, spatial distribution, and whether the site actually runs saturated. Every number here is measured under saturation; a site with slack has different binding constraints.</a:t>
            </a:r>
            <a:endParaRPr lang="en-US" sz="1150" dirty="0"/>
          </a:p>
        </p:txBody>
      </p:sp>
      <p:sp>
        <p:nvSpPr>
          <p:cNvPr id="20" name="Text 18"/>
          <p:cNvSpPr txBox="1"/>
          <p:nvPr/>
        </p:nvSpPr>
        <p:spPr>
          <a:xfrm>
            <a:off x="6309360" y="3895344"/>
            <a:ext cx="5285232" cy="822960"/>
          </a:xfrm>
          <a:prstGeom prst="rect">
            <a:avLst/>
          </a:prstGeom>
          <a:noFill/>
          <a:ln/>
        </p:spPr>
        <p:txBody>
          <a:bodyPr wrap="square" lIns="0" tIns="0" rIns="0" bIns="0" rtlCol="0" anchor="t"/>
          <a:lstStyle/>
          <a:p>
            <a:pPr indent="0" marL="0">
              <a:lnSpc>
                <a:spcPct val="110000"/>
              </a:lnSpc>
              <a:buNone/>
            </a:pPr>
            <a:r>
              <a:rPr lang="en-US" sz="1150" b="1" dirty="0">
                <a:solidFill>
                  <a:srgbClr val="EB6834"/>
                </a:solidFill>
                <a:latin typeface="Calibri" pitchFamily="34" charset="0"/>
                <a:ea typeface="Calibri" pitchFamily="34" charset="-122"/>
                <a:cs typeface="Calibri" pitchFamily="34" charset="-120"/>
              </a:rPr>
              <a:t>The sim-to-real gap.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How much simulated throughput survives kinematics, acceleration, localisation error and charging. Slide 18 is the list; nobody knows the size of it yet.</a:t>
            </a:r>
            <a:endParaRPr lang="en-US" sz="1150" dirty="0"/>
          </a:p>
        </p:txBody>
      </p:sp>
      <p:sp>
        <p:nvSpPr>
          <p:cNvPr id="21" name="Text 19"/>
          <p:cNvSpPr txBox="1"/>
          <p:nvPr/>
        </p:nvSpPr>
        <p:spPr>
          <a:xfrm>
            <a:off x="6309360" y="4754880"/>
            <a:ext cx="5285232" cy="822960"/>
          </a:xfrm>
          <a:prstGeom prst="rect">
            <a:avLst/>
          </a:prstGeom>
          <a:noFill/>
          <a:ln/>
        </p:spPr>
        <p:txBody>
          <a:bodyPr wrap="square" lIns="0" tIns="0" rIns="0" bIns="0" rtlCol="0" anchor="t"/>
          <a:lstStyle/>
          <a:p>
            <a:pPr indent="0" marL="0">
              <a:lnSpc>
                <a:spcPct val="110000"/>
              </a:lnSpc>
              <a:buNone/>
            </a:pPr>
            <a:r>
              <a:rPr lang="en-US" sz="1150" b="1" dirty="0">
                <a:solidFill>
                  <a:srgbClr val="EB6834"/>
                </a:solidFill>
                <a:latin typeface="Calibri" pitchFamily="34" charset="0"/>
                <a:ea typeface="Calibri" pitchFamily="34" charset="-122"/>
                <a:cs typeface="Calibri" pitchFamily="34" charset="-120"/>
              </a:rPr>
              <a:t>The cost basis.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Robot capital, floor space, labour and energy. None of it is in this study, which is why none of the above is a currency figure.</a:t>
            </a:r>
            <a:endParaRPr lang="en-US" sz="1150" dirty="0"/>
          </a:p>
        </p:txBody>
      </p:sp>
      <p:sp>
        <p:nvSpPr>
          <p:cNvPr id="22" name="Text 20"/>
          <p:cNvSpPr txBox="1"/>
          <p:nvPr/>
        </p:nvSpPr>
        <p:spPr>
          <a:xfrm>
            <a:off x="566928" y="5724144"/>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Every figure on the left is relative throughput or relative compute on four synthetic floors. That is what the study measures, and the claim is bounded by it.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What this study does not establish</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Stated in full, because the value of the honest finding on slide 12 depends on this list being complete.</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10512"/>
            <a:ext cx="3468624" cy="1975104"/>
          </a:xfrm>
          <a:prstGeom prst="roundRect">
            <a:avLst>
              <a:gd name="adj" fmla="val 2315"/>
            </a:avLst>
          </a:prstGeom>
          <a:solidFill>
            <a:srgbClr val="F2F1EC"/>
          </a:solidFill>
          <a:ln/>
        </p:spPr>
      </p:sp>
      <p:sp>
        <p:nvSpPr>
          <p:cNvPr id="8" name="Shape 6"/>
          <p:cNvSpPr/>
          <p:nvPr/>
        </p:nvSpPr>
        <p:spPr>
          <a:xfrm>
            <a:off x="786384" y="2011680"/>
            <a:ext cx="384048" cy="384048"/>
          </a:xfrm>
          <a:prstGeom prst="ellipse">
            <a:avLst/>
          </a:prstGeom>
          <a:solidFill>
            <a:srgbClr val="D03B3B"/>
          </a:solidFill>
          <a:ln/>
        </p:spPr>
      </p:sp>
      <p:sp>
        <p:nvSpPr>
          <p:cNvPr id="9" name="Text 7"/>
          <p:cNvSpPr txBox="1"/>
          <p:nvPr/>
        </p:nvSpPr>
        <p:spPr>
          <a:xfrm>
            <a:off x="78638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786384" y="2542032"/>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Four floors, all synthetic</a:t>
            </a:r>
            <a:endParaRPr lang="en-US" sz="1350" dirty="0"/>
          </a:p>
        </p:txBody>
      </p:sp>
      <p:sp>
        <p:nvSpPr>
          <p:cNvPr id="11" name="Text 9"/>
          <p:cNvSpPr txBox="1"/>
          <p:nvPr/>
        </p:nvSpPr>
        <p:spPr>
          <a:xfrm>
            <a:off x="786384" y="2871216"/>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Every conclusion is about four maps at the robot counts and arrival rates in the dataset. A knob inert here may matter on a floor with longer, tighter corridors.</a:t>
            </a:r>
            <a:endParaRPr lang="en-US" sz="1100" dirty="0"/>
          </a:p>
        </p:txBody>
      </p:sp>
      <p:sp>
        <p:nvSpPr>
          <p:cNvPr id="12" name="Shape 10"/>
          <p:cNvSpPr/>
          <p:nvPr/>
        </p:nvSpPr>
        <p:spPr>
          <a:xfrm>
            <a:off x="4346448" y="1810512"/>
            <a:ext cx="3468624" cy="1975104"/>
          </a:xfrm>
          <a:prstGeom prst="roundRect">
            <a:avLst>
              <a:gd name="adj" fmla="val 2315"/>
            </a:avLst>
          </a:prstGeom>
          <a:solidFill>
            <a:srgbClr val="F2F1EC"/>
          </a:solidFill>
          <a:ln/>
        </p:spPr>
      </p:sp>
      <p:sp>
        <p:nvSpPr>
          <p:cNvPr id="13" name="Shape 11"/>
          <p:cNvSpPr/>
          <p:nvPr/>
        </p:nvSpPr>
        <p:spPr>
          <a:xfrm>
            <a:off x="4565904" y="2011680"/>
            <a:ext cx="384048" cy="384048"/>
          </a:xfrm>
          <a:prstGeom prst="ellipse">
            <a:avLst/>
          </a:prstGeom>
          <a:solidFill>
            <a:srgbClr val="D03B3B"/>
          </a:solidFill>
          <a:ln/>
        </p:spPr>
      </p:sp>
      <p:sp>
        <p:nvSpPr>
          <p:cNvPr id="14" name="Text 12"/>
          <p:cNvSpPr txBox="1"/>
          <p:nvPr/>
        </p:nvSpPr>
        <p:spPr>
          <a:xfrm>
            <a:off x="456590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565904" y="2542032"/>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Simulation only</a:t>
            </a:r>
            <a:endParaRPr lang="en-US" sz="1350" dirty="0"/>
          </a:p>
        </p:txBody>
      </p:sp>
      <p:sp>
        <p:nvSpPr>
          <p:cNvPr id="16" name="Text 14"/>
          <p:cNvSpPr txBox="1"/>
          <p:nvPr/>
        </p:nvSpPr>
        <p:spPr>
          <a:xfrm>
            <a:off x="4565904" y="2871216"/>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A discrete grid, synchronous unit-speed moves, perfect localisation. No acceleration, no battery, no robot failures, no humans on the floor.</a:t>
            </a:r>
            <a:endParaRPr lang="en-US" sz="1100" dirty="0"/>
          </a:p>
        </p:txBody>
      </p:sp>
      <p:sp>
        <p:nvSpPr>
          <p:cNvPr id="17" name="Shape 15"/>
          <p:cNvSpPr/>
          <p:nvPr/>
        </p:nvSpPr>
        <p:spPr>
          <a:xfrm>
            <a:off x="8125968" y="1810512"/>
            <a:ext cx="3468624" cy="1975104"/>
          </a:xfrm>
          <a:prstGeom prst="roundRect">
            <a:avLst>
              <a:gd name="adj" fmla="val 2315"/>
            </a:avLst>
          </a:prstGeom>
          <a:solidFill>
            <a:srgbClr val="F2F1EC"/>
          </a:solidFill>
          <a:ln/>
        </p:spPr>
      </p:sp>
      <p:sp>
        <p:nvSpPr>
          <p:cNvPr id="18" name="Shape 16"/>
          <p:cNvSpPr/>
          <p:nvPr/>
        </p:nvSpPr>
        <p:spPr>
          <a:xfrm>
            <a:off x="8345424" y="2011680"/>
            <a:ext cx="384048" cy="384048"/>
          </a:xfrm>
          <a:prstGeom prst="ellipse">
            <a:avLst/>
          </a:prstGeom>
          <a:solidFill>
            <a:srgbClr val="D03B3B"/>
          </a:solidFill>
          <a:ln/>
        </p:spPr>
      </p:sp>
      <p:sp>
        <p:nvSpPr>
          <p:cNvPr id="19" name="Text 17"/>
          <p:cNvSpPr txBox="1"/>
          <p:nvPr/>
        </p:nvSpPr>
        <p:spPr>
          <a:xfrm>
            <a:off x="8345424"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345424" y="2542032"/>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Everything is saturated</a:t>
            </a:r>
            <a:endParaRPr lang="en-US" sz="1350" dirty="0"/>
          </a:p>
        </p:txBody>
      </p:sp>
      <p:sp>
        <p:nvSpPr>
          <p:cNvPr id="21" name="Text 19"/>
          <p:cNvSpPr txBox="1"/>
          <p:nvPr/>
        </p:nvSpPr>
        <p:spPr>
          <a:xfrm>
            <a:off x="8345424" y="2871216"/>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Jobs arrive faster than any planner clears them, so throughput measures capacity, not responsiveness, and service time is a function of run length rather than a comparable quantity.</a:t>
            </a:r>
            <a:endParaRPr lang="en-US" sz="1100" dirty="0"/>
          </a:p>
        </p:txBody>
      </p:sp>
      <p:sp>
        <p:nvSpPr>
          <p:cNvPr id="22" name="Shape 20"/>
          <p:cNvSpPr/>
          <p:nvPr/>
        </p:nvSpPr>
        <p:spPr>
          <a:xfrm>
            <a:off x="566928" y="3931920"/>
            <a:ext cx="3468624" cy="1975104"/>
          </a:xfrm>
          <a:prstGeom prst="roundRect">
            <a:avLst>
              <a:gd name="adj" fmla="val 2315"/>
            </a:avLst>
          </a:prstGeom>
          <a:solidFill>
            <a:srgbClr val="F2F1EC"/>
          </a:solidFill>
          <a:ln/>
        </p:spPr>
      </p:sp>
      <p:sp>
        <p:nvSpPr>
          <p:cNvPr id="23" name="Shape 21"/>
          <p:cNvSpPr/>
          <p:nvPr/>
        </p:nvSpPr>
        <p:spPr>
          <a:xfrm>
            <a:off x="786384" y="4133088"/>
            <a:ext cx="384048" cy="384048"/>
          </a:xfrm>
          <a:prstGeom prst="ellipse">
            <a:avLst/>
          </a:prstGeom>
          <a:solidFill>
            <a:srgbClr val="D03B3B"/>
          </a:solidFill>
          <a:ln/>
        </p:spPr>
      </p:sp>
      <p:sp>
        <p:nvSpPr>
          <p:cNvPr id="24" name="Text 22"/>
          <p:cNvSpPr txBox="1"/>
          <p:nvPr/>
        </p:nvSpPr>
        <p:spPr>
          <a:xfrm>
            <a:off x="786384"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786384" y="4663440"/>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Two baselines are handicapped</a:t>
            </a:r>
            <a:endParaRPr lang="en-US" sz="1350" dirty="0"/>
          </a:p>
        </p:txBody>
      </p:sp>
      <p:sp>
        <p:nvSpPr>
          <p:cNvPr id="26" name="Text 24"/>
          <p:cNvSpPr txBox="1"/>
          <p:nvPr/>
        </p:nvSpPr>
        <p:spPr>
          <a:xfrm>
            <a:off x="786384" y="4992624"/>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Token Passing and TPTS are proven complete only on well-formed instances, and none of these floors provides one. RHCR shares no such assumption and is the honest comparator.</a:t>
            </a:r>
            <a:endParaRPr lang="en-US" sz="1100" dirty="0"/>
          </a:p>
        </p:txBody>
      </p:sp>
      <p:sp>
        <p:nvSpPr>
          <p:cNvPr id="27" name="Shape 25"/>
          <p:cNvSpPr/>
          <p:nvPr/>
        </p:nvSpPr>
        <p:spPr>
          <a:xfrm>
            <a:off x="4346448" y="3931920"/>
            <a:ext cx="3468624" cy="1975104"/>
          </a:xfrm>
          <a:prstGeom prst="roundRect">
            <a:avLst>
              <a:gd name="adj" fmla="val 2315"/>
            </a:avLst>
          </a:prstGeom>
          <a:solidFill>
            <a:srgbClr val="F2F1EC"/>
          </a:solidFill>
          <a:ln/>
        </p:spPr>
      </p:sp>
      <p:sp>
        <p:nvSpPr>
          <p:cNvPr id="28" name="Shape 26"/>
          <p:cNvSpPr/>
          <p:nvPr/>
        </p:nvSpPr>
        <p:spPr>
          <a:xfrm>
            <a:off x="4565904" y="4133088"/>
            <a:ext cx="384048" cy="384048"/>
          </a:xfrm>
          <a:prstGeom prst="ellipse">
            <a:avLst/>
          </a:prstGeom>
          <a:solidFill>
            <a:srgbClr val="D03B3B"/>
          </a:solidFill>
          <a:ln/>
        </p:spPr>
      </p:sp>
      <p:sp>
        <p:nvSpPr>
          <p:cNvPr id="29" name="Text 27"/>
          <p:cNvSpPr txBox="1"/>
          <p:nvPr/>
        </p:nvSpPr>
        <p:spPr>
          <a:xfrm>
            <a:off x="4565904"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txBox="1"/>
          <p:nvPr/>
        </p:nvSpPr>
        <p:spPr>
          <a:xfrm>
            <a:off x="4565904" y="4663440"/>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No multiple-comparison correction</a:t>
            </a:r>
            <a:endParaRPr lang="en-US" sz="1350" dirty="0"/>
          </a:p>
        </p:txBody>
      </p:sp>
      <p:sp>
        <p:nvSpPr>
          <p:cNvPr id="31" name="Text 29"/>
          <p:cNvSpPr txBox="1"/>
          <p:nvPr/>
        </p:nvSpPr>
        <p:spPr>
          <a:xfrm>
            <a:off x="4565904" y="4992624"/>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23 knobs at α = 0.05 means roughly one false positive is expected. The load-bearing findings clear that by a distance; the marginal ones are suggestive, not settled.</a:t>
            </a:r>
            <a:endParaRPr lang="en-US" sz="1100" dirty="0"/>
          </a:p>
        </p:txBody>
      </p:sp>
      <p:sp>
        <p:nvSpPr>
          <p:cNvPr id="32" name="Shape 30"/>
          <p:cNvSpPr/>
          <p:nvPr/>
        </p:nvSpPr>
        <p:spPr>
          <a:xfrm>
            <a:off x="8125968" y="3931920"/>
            <a:ext cx="3468624" cy="1975104"/>
          </a:xfrm>
          <a:prstGeom prst="roundRect">
            <a:avLst>
              <a:gd name="adj" fmla="val 2315"/>
            </a:avLst>
          </a:prstGeom>
          <a:solidFill>
            <a:srgbClr val="F2F1EC"/>
          </a:solidFill>
          <a:ln/>
        </p:spPr>
      </p:sp>
      <p:sp>
        <p:nvSpPr>
          <p:cNvPr id="33" name="Shape 31"/>
          <p:cNvSpPr/>
          <p:nvPr/>
        </p:nvSpPr>
        <p:spPr>
          <a:xfrm>
            <a:off x="8345424" y="4133088"/>
            <a:ext cx="384048" cy="384048"/>
          </a:xfrm>
          <a:prstGeom prst="ellipse">
            <a:avLst/>
          </a:prstGeom>
          <a:solidFill>
            <a:srgbClr val="D03B3B"/>
          </a:solidFill>
          <a:ln/>
        </p:spPr>
      </p:sp>
      <p:sp>
        <p:nvSpPr>
          <p:cNvPr id="34" name="Text 32"/>
          <p:cNvSpPr txBox="1"/>
          <p:nvPr/>
        </p:nvSpPr>
        <p:spPr>
          <a:xfrm>
            <a:off x="8345424"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3"/>
          <p:cNvSpPr txBox="1"/>
          <p:nvPr/>
        </p:nvSpPr>
        <p:spPr>
          <a:xfrm>
            <a:off x="8345424" y="4663440"/>
            <a:ext cx="3029712" cy="274320"/>
          </a:xfrm>
          <a:prstGeom prst="rect">
            <a:avLst/>
          </a:prstGeom>
          <a:noFill/>
          <a:ln/>
        </p:spPr>
        <p:txBody>
          <a:bodyPr wrap="square" lIns="0" tIns="0" rIns="0" bIns="0" rtlCol="0" anchor="t"/>
          <a:lstStyle/>
          <a:p>
            <a:pPr indent="0" marL="0">
              <a:buNone/>
            </a:pPr>
            <a:r>
              <a:rPr lang="en-US" sz="1350" b="1" dirty="0">
                <a:solidFill>
                  <a:srgbClr val="0B0B0B"/>
                </a:solidFill>
                <a:latin typeface="Arial" pitchFamily="34" charset="0"/>
                <a:ea typeface="Arial" pitchFamily="34" charset="-122"/>
                <a:cs typeface="Arial" pitchFamily="34" charset="-120"/>
              </a:rPr>
              <a:t>Pooling hides disagreement</a:t>
            </a:r>
            <a:endParaRPr lang="en-US" sz="1350" dirty="0"/>
          </a:p>
        </p:txBody>
      </p:sp>
      <p:sp>
        <p:nvSpPr>
          <p:cNvPr id="36" name="Text 34"/>
          <p:cNvSpPr txBox="1"/>
          <p:nvPr/>
        </p:nvSpPr>
        <p:spPr>
          <a:xfrm>
            <a:off x="8345424" y="4992624"/>
            <a:ext cx="3029712" cy="822960"/>
          </a:xfrm>
          <a:prstGeom prst="rect">
            <a:avLst/>
          </a:prstGeom>
          <a:noFill/>
          <a:ln/>
        </p:spPr>
        <p:txBody>
          <a:bodyPr wrap="square" lIns="0" tIns="0" rIns="0" bIns="0" rtlCol="0" anchor="t"/>
          <a:lstStyle/>
          <a:p>
            <a:pPr indent="0" marL="0">
              <a:lnSpc>
                <a:spcPct val="110000"/>
              </a:lnSpc>
              <a:buNone/>
            </a:pPr>
            <a:r>
              <a:rPr lang="en-US" sz="1100" dirty="0">
                <a:solidFill>
                  <a:srgbClr val="52514E"/>
                </a:solidFill>
                <a:latin typeface="Calibri" pitchFamily="34" charset="0"/>
                <a:ea typeface="Calibri" pitchFamily="34" charset="-122"/>
                <a:cs typeface="Calibri" pitchFamily="34" charset="-120"/>
              </a:rPr>
              <a:t>A knob can help on one floor, hurt on another and average to zero. The sensitivity table carries a worst-map column for exactly this reason.</a:t>
            </a:r>
            <a:endParaRPr lang="en-US" sz="1100" dirty="0"/>
          </a:p>
        </p:txBody>
      </p:sp>
      <p:sp>
        <p:nvSpPr>
          <p:cNvPr id="37" name="Text 35"/>
          <p:cNvSpPr txBox="1"/>
          <p:nvPr/>
        </p:nvSpPr>
        <p:spPr>
          <a:xfrm>
            <a:off x="566928" y="6163056"/>
            <a:ext cx="11027664" cy="420624"/>
          </a:xfrm>
          <a:prstGeom prst="rect">
            <a:avLst/>
          </a:prstGeom>
          <a:noFill/>
          <a:ln/>
        </p:spPr>
        <p:txBody>
          <a:bodyPr wrap="square" lIns="0" tIns="0" rIns="0" bIns="0" rtlCol="0" anchor="t"/>
          <a:lstStyle/>
          <a:p>
            <a:pPr indent="0" marL="0">
              <a:lnSpc>
                <a:spcPct val="110000"/>
              </a:lnSpc>
              <a:buNone/>
            </a:pPr>
            <a:r>
              <a:rPr lang="en-US" sz="1050" i="1" dirty="0">
                <a:solidFill>
                  <a:srgbClr val="898781"/>
                </a:solidFill>
                <a:latin typeface="Calibri" pitchFamily="34" charset="0"/>
                <a:ea typeface="Calibri" pitchFamily="34" charset="-122"/>
                <a:cs typeface="Calibri" pitchFamily="34" charset="-120"/>
              </a:rPr>
              <a:t>Every caveat above is taken from the results page's own caveats section, not added for this deck.</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GAP ANALYSIS</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What stands between this and a warehouse floor</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None of these is a research risk. All of them are work, and none has been started.</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Text 5"/>
          <p:cNvSpPr txBox="1"/>
          <p:nvPr/>
        </p:nvSpPr>
        <p:spPr>
          <a:xfrm>
            <a:off x="566928" y="1810512"/>
            <a:ext cx="5285232" cy="27432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Planner-side</a:t>
            </a:r>
            <a:endParaRPr lang="en-US" sz="1500" dirty="0"/>
          </a:p>
        </p:txBody>
      </p:sp>
      <p:sp>
        <p:nvSpPr>
          <p:cNvPr id="8" name="Text 6"/>
          <p:cNvSpPr txBox="1"/>
          <p:nvPr/>
        </p:nvSpPr>
        <p:spPr>
          <a:xfrm>
            <a:off x="566928" y="2212848"/>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Continuous time and kinematics.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Acceleration, turning radius, non-unit speeds. The score's tier structure assumes a move changes distance by exactly one — that assumption has to be re-earned, not merely relaxed.</a:t>
            </a:r>
            <a:endParaRPr lang="en-US" sz="1150" dirty="0"/>
          </a:p>
        </p:txBody>
      </p:sp>
      <p:sp>
        <p:nvSpPr>
          <p:cNvPr id="9" name="Text 7"/>
          <p:cNvSpPr txBox="1"/>
          <p:nvPr/>
        </p:nvSpPr>
        <p:spPr>
          <a:xfrm>
            <a:off x="566928" y="3145536"/>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Heterogeneous fleets.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Mixed speeds and footprints. Rank and pushing both assume interchangeable agents today.</a:t>
            </a:r>
            <a:endParaRPr lang="en-US" sz="1150" dirty="0"/>
          </a:p>
        </p:txBody>
      </p:sp>
      <p:sp>
        <p:nvSpPr>
          <p:cNvPr id="10" name="Text 8"/>
          <p:cNvSpPr txBox="1"/>
          <p:nvPr/>
        </p:nvSpPr>
        <p:spPr>
          <a:xfrm>
            <a:off x="566928" y="4078224"/>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Battery and charging.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 robot that must charge is a task class the assignment model does not have.</a:t>
            </a:r>
            <a:endParaRPr lang="en-US" sz="1150" dirty="0"/>
          </a:p>
        </p:txBody>
      </p:sp>
      <p:sp>
        <p:nvSpPr>
          <p:cNvPr id="11" name="Text 9"/>
          <p:cNvSpPr txBox="1"/>
          <p:nvPr/>
        </p:nvSpPr>
        <p:spPr>
          <a:xfrm>
            <a:off x="566928" y="5010912"/>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Failure handling.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A robot that stops permanently is an obstacle the graph does not know about, on a floor where seven cells can sever the warehouse.</a:t>
            </a:r>
            <a:endParaRPr lang="en-US" sz="1150" dirty="0"/>
          </a:p>
        </p:txBody>
      </p:sp>
      <p:sp>
        <p:nvSpPr>
          <p:cNvPr id="12" name="Text 10"/>
          <p:cNvSpPr txBox="1"/>
          <p:nvPr/>
        </p:nvSpPr>
        <p:spPr>
          <a:xfrm>
            <a:off x="6309360" y="1810512"/>
            <a:ext cx="5285232" cy="274320"/>
          </a:xfrm>
          <a:prstGeom prst="rect">
            <a:avLst/>
          </a:prstGeom>
          <a:noFill/>
          <a:ln/>
        </p:spPr>
        <p:txBody>
          <a:bodyPr wrap="square" lIns="0" tIns="0" rIns="0" bIns="0" rtlCol="0" anchor="ctr"/>
          <a:lstStyle/>
          <a:p>
            <a:pPr indent="0" marL="0">
              <a:buNone/>
            </a:pPr>
            <a:r>
              <a:rPr lang="en-US" sz="1500" b="1" dirty="0">
                <a:solidFill>
                  <a:srgbClr val="EB6834"/>
                </a:solidFill>
                <a:latin typeface="Arial" pitchFamily="34" charset="0"/>
                <a:ea typeface="Arial" pitchFamily="34" charset="-122"/>
                <a:cs typeface="Arial" pitchFamily="34" charset="-120"/>
              </a:rPr>
              <a:t>System-side</a:t>
            </a:r>
            <a:endParaRPr lang="en-US" sz="1500" dirty="0"/>
          </a:p>
        </p:txBody>
      </p:sp>
      <p:sp>
        <p:nvSpPr>
          <p:cNvPr id="13" name="Text 11"/>
          <p:cNvSpPr txBox="1"/>
          <p:nvPr/>
        </p:nvSpPr>
        <p:spPr>
          <a:xfrm>
            <a:off x="6309360" y="2212848"/>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WMS / WES integration.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The job stream today is a Poisson generator. A real one has priorities, deadlines, batching and cut-off times.</a:t>
            </a:r>
            <a:endParaRPr lang="en-US" sz="1150" dirty="0"/>
          </a:p>
        </p:txBody>
      </p:sp>
      <p:sp>
        <p:nvSpPr>
          <p:cNvPr id="14" name="Text 12"/>
          <p:cNvSpPr txBox="1"/>
          <p:nvPr/>
        </p:nvSpPr>
        <p:spPr>
          <a:xfrm>
            <a:off x="6309360" y="3145536"/>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Real layout ingestion.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From CAD or a site survey to the grid the planner reasons about, including what the survey gets wrong.</a:t>
            </a:r>
            <a:endParaRPr lang="en-US" sz="1150" dirty="0"/>
          </a:p>
        </p:txBody>
      </p:sp>
      <p:sp>
        <p:nvSpPr>
          <p:cNvPr id="15" name="Text 13"/>
          <p:cNvSpPr txBox="1"/>
          <p:nvPr/>
        </p:nvSpPr>
        <p:spPr>
          <a:xfrm>
            <a:off x="6309360" y="4078224"/>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Execution error.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What happens when the commanded joint move is not the executed one — the collision guarantee is a guarantee about the plan.</a:t>
            </a:r>
            <a:endParaRPr lang="en-US" sz="1150" dirty="0"/>
          </a:p>
        </p:txBody>
      </p:sp>
      <p:sp>
        <p:nvSpPr>
          <p:cNvPr id="16" name="Text 14"/>
          <p:cNvSpPr txBox="1"/>
          <p:nvPr/>
        </p:nvSpPr>
        <p:spPr>
          <a:xfrm>
            <a:off x="6309360" y="5010912"/>
            <a:ext cx="5285232" cy="896112"/>
          </a:xfrm>
          <a:prstGeom prst="rect">
            <a:avLst/>
          </a:prstGeom>
          <a:noFill/>
          <a:ln/>
        </p:spPr>
        <p:txBody>
          <a:bodyPr wrap="square" lIns="0" tIns="0" rIns="0" bIns="0" rtlCol="0" anchor="t"/>
          <a:lstStyle/>
          <a:p>
            <a:pPr indent="0" marL="0">
              <a:lnSpc>
                <a:spcPct val="110000"/>
              </a:lnSpc>
              <a:buNone/>
            </a:pPr>
            <a:r>
              <a:rPr lang="en-US" sz="1150" b="1" dirty="0">
                <a:solidFill>
                  <a:srgbClr val="0B0B0B"/>
                </a:solidFill>
                <a:latin typeface="Calibri" pitchFamily="34" charset="0"/>
                <a:ea typeface="Calibri" pitchFamily="34" charset="-122"/>
                <a:cs typeface="Calibri" pitchFamily="34" charset="-120"/>
              </a:rPr>
              <a:t>The safety case. </a:t>
            </a:r>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Humans on the floor, and whatever certification the deployment context demands.</a:t>
            </a:r>
            <a:endParaRPr lang="en-US" sz="1150" dirty="0"/>
          </a:p>
        </p:txBody>
      </p:sp>
      <p:sp>
        <p:nvSpPr>
          <p:cNvPr id="17" name="Shape 15"/>
          <p:cNvSpPr/>
          <p:nvPr/>
        </p:nvSpPr>
        <p:spPr>
          <a:xfrm>
            <a:off x="566928" y="6016752"/>
            <a:ext cx="11027664" cy="566928"/>
          </a:xfrm>
          <a:prstGeom prst="roundRect">
            <a:avLst>
              <a:gd name="adj" fmla="val 8065"/>
            </a:avLst>
          </a:prstGeom>
          <a:solidFill>
            <a:srgbClr val="F2F1EC"/>
          </a:solidFill>
          <a:ln/>
        </p:spPr>
      </p:sp>
      <p:sp>
        <p:nvSpPr>
          <p:cNvPr id="18" name="Text 16"/>
          <p:cNvSpPr txBox="1"/>
          <p:nvPr/>
        </p:nvSpPr>
        <p:spPr>
          <a:xfrm>
            <a:off x="804672" y="6144768"/>
            <a:ext cx="10552176" cy="310896"/>
          </a:xfrm>
          <a:prstGeom prst="rect">
            <a:avLst/>
          </a:prstGeom>
          <a:noFill/>
          <a:ln/>
        </p:spPr>
        <p:txBody>
          <a:bodyPr wrap="square" lIns="0" tIns="0" rIns="0" bIns="0" rtlCol="0" anchor="ctr"/>
          <a:lstStyle/>
          <a:p>
            <a:pPr indent="0" marL="0">
              <a:lnSpc>
                <a:spcPct val="112000"/>
              </a:lnSpc>
              <a:buNone/>
            </a:pPr>
            <a:r>
              <a:rPr lang="en-US" sz="1250" dirty="0">
                <a:solidFill>
                  <a:srgbClr val="0B0B0B"/>
                </a:solidFill>
                <a:latin typeface="Calibri" pitchFamily="34" charset="0"/>
                <a:ea typeface="Calibri" pitchFamily="34" charset="-122"/>
                <a:cs typeface="Calibri" pitchFamily="34" charset="-120"/>
              </a:rPr>
              <a:t>The collision guarantee is a guarantee about the plan, not about the robots. Everything in the right-hand column is what turns one into the other.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Four phases, each with the thing that would kill it</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Sequenced so the cheapest phase is also the one that tests the study's central claim.</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sp>
        <p:nvSpPr>
          <p:cNvPr id="7" name="Shape 5"/>
          <p:cNvSpPr/>
          <p:nvPr/>
        </p:nvSpPr>
        <p:spPr>
          <a:xfrm>
            <a:off x="566928" y="1810512"/>
            <a:ext cx="2564892" cy="3401568"/>
          </a:xfrm>
          <a:prstGeom prst="roundRect">
            <a:avLst>
              <a:gd name="adj" fmla="val 1783"/>
            </a:avLst>
          </a:prstGeom>
          <a:solidFill>
            <a:srgbClr val="F2F1EC"/>
          </a:solidFill>
          <a:ln/>
        </p:spPr>
      </p:sp>
      <p:sp>
        <p:nvSpPr>
          <p:cNvPr id="8" name="Shape 6"/>
          <p:cNvSpPr/>
          <p:nvPr/>
        </p:nvSpPr>
        <p:spPr>
          <a:xfrm>
            <a:off x="768096" y="2011680"/>
            <a:ext cx="365760" cy="365760"/>
          </a:xfrm>
          <a:prstGeom prst="ellipse">
            <a:avLst/>
          </a:prstGeom>
          <a:solidFill>
            <a:srgbClr val="EB6834"/>
          </a:solidFill>
          <a:ln/>
        </p:spPr>
      </p:sp>
      <p:sp>
        <p:nvSpPr>
          <p:cNvPr id="9" name="Text 7"/>
          <p:cNvSpPr txBox="1"/>
          <p:nvPr/>
        </p:nvSpPr>
        <p:spPr>
          <a:xfrm>
            <a:off x="768096"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207008" y="2048256"/>
            <a:ext cx="1741932" cy="274320"/>
          </a:xfrm>
          <a:prstGeom prst="rect">
            <a:avLst/>
          </a:prstGeom>
          <a:noFill/>
          <a:ln/>
        </p:spPr>
        <p:txBody>
          <a:bodyPr wrap="square" lIns="0" tIns="0" rIns="0" bIns="0" rtlCol="0" anchor="ctr"/>
          <a:lstStyle/>
          <a:p>
            <a:pPr indent="0" marL="0">
              <a:buNone/>
            </a:pPr>
            <a:r>
              <a:rPr lang="en-US" sz="1050" b="1" dirty="0">
                <a:solidFill>
                  <a:srgbClr val="EB6834"/>
                </a:solidFill>
                <a:latin typeface="Calibri" pitchFamily="34" charset="0"/>
                <a:ea typeface="Calibri" pitchFamily="34" charset="-122"/>
                <a:cs typeface="Calibri" pitchFamily="34" charset="-120"/>
              </a:rPr>
              <a:t>Phase 1 · 0–3 months</a:t>
            </a:r>
            <a:endParaRPr lang="en-US" sz="1050" dirty="0"/>
          </a:p>
        </p:txBody>
      </p:sp>
      <p:sp>
        <p:nvSpPr>
          <p:cNvPr id="11" name="Text 9"/>
          <p:cNvSpPr txBox="1"/>
          <p:nvPr/>
        </p:nvSpPr>
        <p:spPr>
          <a:xfrm>
            <a:off x="768096" y="2505456"/>
            <a:ext cx="2162556"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Auto-configuration</a:t>
            </a:r>
            <a:endParaRPr lang="en-US" sz="1600" dirty="0"/>
          </a:p>
        </p:txBody>
      </p:sp>
      <p:sp>
        <p:nvSpPr>
          <p:cNvPr id="12" name="Text 10"/>
          <p:cNvSpPr txBox="1"/>
          <p:nvPr/>
        </p:nvSpPr>
        <p:spPr>
          <a:xfrm>
            <a:off x="768096" y="2871216"/>
            <a:ext cx="2162556" cy="1463040"/>
          </a:xfrm>
          <a:prstGeom prst="rect">
            <a:avLst/>
          </a:prstGeom>
          <a:noFill/>
          <a:ln/>
        </p:spPr>
        <p:txBody>
          <a:bodyPr wrap="square" lIns="0" tIns="0" rIns="0" bIns="0" rtlCol="0" anchor="ctr"/>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Classify a floor from its structure and pick the configuration for it. The predictive features already exist: lda-pibt inspect computes articulation points, aisle lengths, junction counts and route multiplicity today.</a:t>
            </a:r>
            <a:endParaRPr lang="en-US" sz="1150" dirty="0"/>
          </a:p>
        </p:txBody>
      </p:sp>
      <p:sp>
        <p:nvSpPr>
          <p:cNvPr id="13" name="Text 11"/>
          <p:cNvSpPr txBox="1"/>
          <p:nvPr/>
        </p:nvSpPr>
        <p:spPr>
          <a:xfrm>
            <a:off x="768096" y="4389120"/>
            <a:ext cx="2162556" cy="713232"/>
          </a:xfrm>
          <a:prstGeom prst="rect">
            <a:avLst/>
          </a:prstGeom>
          <a:noFill/>
          <a:ln/>
        </p:spPr>
        <p:txBody>
          <a:bodyPr wrap="square" lIns="0" tIns="0" rIns="0" bIns="0" rtlCol="0" anchor="ctr"/>
          <a:lstStyle/>
          <a:p>
            <a:pPr indent="0" marL="0">
              <a:lnSpc>
                <a:spcPct val="106000"/>
              </a:lnSpc>
              <a:buNone/>
            </a:pPr>
            <a:r>
              <a:rPr lang="en-US" sz="1050" b="1" dirty="0">
                <a:solidFill>
                  <a:srgbClr val="D03B3B"/>
                </a:solidFill>
                <a:latin typeface="Calibri" pitchFamily="34" charset="0"/>
                <a:ea typeface="Calibri" pitchFamily="34" charset="-122"/>
                <a:cs typeface="Calibri" pitchFamily="34" charset="-120"/>
              </a:rPr>
              <a:t>Gate. </a:t>
            </a:r>
            <a:pPr indent="0" marL="0">
              <a:lnSpc>
                <a:spcPct val="106000"/>
              </a:lnSpc>
              <a:buNone/>
            </a:pPr>
            <a:r>
              <a:rPr lang="en-US" sz="1050" dirty="0">
                <a:solidFill>
                  <a:srgbClr val="52514E"/>
                </a:solidFill>
                <a:latin typeface="Calibri" pitchFamily="34" charset="0"/>
                <a:ea typeface="Calibri" pitchFamily="34" charset="-122"/>
                <a:cs typeface="Calibri" pitchFamily="34" charset="-120"/>
              </a:rPr>
              <a:t>Kill if the ladder's two regimes do not separate on structure alone across a wider map set.</a:t>
            </a:r>
            <a:endParaRPr lang="en-US" sz="1050" dirty="0"/>
          </a:p>
        </p:txBody>
      </p:sp>
      <p:sp>
        <p:nvSpPr>
          <p:cNvPr id="14" name="Shape 12"/>
          <p:cNvSpPr/>
          <p:nvPr/>
        </p:nvSpPr>
        <p:spPr>
          <a:xfrm>
            <a:off x="3387852" y="1810512"/>
            <a:ext cx="2564892" cy="3401568"/>
          </a:xfrm>
          <a:prstGeom prst="roundRect">
            <a:avLst>
              <a:gd name="adj" fmla="val 1783"/>
            </a:avLst>
          </a:prstGeom>
          <a:solidFill>
            <a:srgbClr val="F2F1EC"/>
          </a:solidFill>
          <a:ln/>
        </p:spPr>
      </p:sp>
      <p:sp>
        <p:nvSpPr>
          <p:cNvPr id="15" name="Shape 13"/>
          <p:cNvSpPr/>
          <p:nvPr/>
        </p:nvSpPr>
        <p:spPr>
          <a:xfrm>
            <a:off x="3589020" y="2011680"/>
            <a:ext cx="365760" cy="365760"/>
          </a:xfrm>
          <a:prstGeom prst="ellipse">
            <a:avLst/>
          </a:prstGeom>
          <a:solidFill>
            <a:srgbClr val="EB6834"/>
          </a:solidFill>
          <a:ln/>
        </p:spPr>
      </p:sp>
      <p:sp>
        <p:nvSpPr>
          <p:cNvPr id="16" name="Text 14"/>
          <p:cNvSpPr txBox="1"/>
          <p:nvPr/>
        </p:nvSpPr>
        <p:spPr>
          <a:xfrm>
            <a:off x="3589020"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4027932" y="2048256"/>
            <a:ext cx="1741932" cy="274320"/>
          </a:xfrm>
          <a:prstGeom prst="rect">
            <a:avLst/>
          </a:prstGeom>
          <a:noFill/>
          <a:ln/>
        </p:spPr>
        <p:txBody>
          <a:bodyPr wrap="square" lIns="0" tIns="0" rIns="0" bIns="0" rtlCol="0" anchor="ctr"/>
          <a:lstStyle/>
          <a:p>
            <a:pPr indent="0" marL="0">
              <a:buNone/>
            </a:pPr>
            <a:r>
              <a:rPr lang="en-US" sz="1050" b="1" dirty="0">
                <a:solidFill>
                  <a:srgbClr val="EB6834"/>
                </a:solidFill>
                <a:latin typeface="Calibri" pitchFamily="34" charset="0"/>
                <a:ea typeface="Calibri" pitchFamily="34" charset="-122"/>
                <a:cs typeface="Calibri" pitchFamily="34" charset="-120"/>
              </a:rPr>
              <a:t>Phase 2 · 3–6 months</a:t>
            </a:r>
            <a:endParaRPr lang="en-US" sz="1050" dirty="0"/>
          </a:p>
        </p:txBody>
      </p:sp>
      <p:sp>
        <p:nvSpPr>
          <p:cNvPr id="18" name="Text 16"/>
          <p:cNvSpPr txBox="1"/>
          <p:nvPr/>
        </p:nvSpPr>
        <p:spPr>
          <a:xfrm>
            <a:off x="3589020" y="2505456"/>
            <a:ext cx="2162556"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Fidelity</a:t>
            </a:r>
            <a:endParaRPr lang="en-US" sz="1600" dirty="0"/>
          </a:p>
        </p:txBody>
      </p:sp>
      <p:sp>
        <p:nvSpPr>
          <p:cNvPr id="19" name="Text 17"/>
          <p:cNvSpPr txBox="1"/>
          <p:nvPr/>
        </p:nvSpPr>
        <p:spPr>
          <a:xfrm>
            <a:off x="3589020" y="2871216"/>
            <a:ext cx="2162556" cy="1463040"/>
          </a:xfrm>
          <a:prstGeom prst="rect">
            <a:avLst/>
          </a:prstGeom>
          <a:noFill/>
          <a:ln/>
        </p:spPr>
        <p:txBody>
          <a:bodyPr wrap="square" lIns="0" tIns="0" rIns="0" bIns="0" rtlCol="0" anchor="ctr"/>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Kinematics, heterogeneous speeds, battery and charging. Then a real layout and a real job trace from a partner, replacing the synthetic floors and the Poisson generator.</a:t>
            </a:r>
            <a:endParaRPr lang="en-US" sz="1150" dirty="0"/>
          </a:p>
        </p:txBody>
      </p:sp>
      <p:sp>
        <p:nvSpPr>
          <p:cNvPr id="20" name="Text 18"/>
          <p:cNvSpPr txBox="1"/>
          <p:nvPr/>
        </p:nvSpPr>
        <p:spPr>
          <a:xfrm>
            <a:off x="3589020" y="4389120"/>
            <a:ext cx="2162556" cy="713232"/>
          </a:xfrm>
          <a:prstGeom prst="rect">
            <a:avLst/>
          </a:prstGeom>
          <a:noFill/>
          <a:ln/>
        </p:spPr>
        <p:txBody>
          <a:bodyPr wrap="square" lIns="0" tIns="0" rIns="0" bIns="0" rtlCol="0" anchor="ctr"/>
          <a:lstStyle/>
          <a:p>
            <a:pPr indent="0" marL="0">
              <a:lnSpc>
                <a:spcPct val="106000"/>
              </a:lnSpc>
              <a:buNone/>
            </a:pPr>
            <a:r>
              <a:rPr lang="en-US" sz="1050" b="1" dirty="0">
                <a:solidFill>
                  <a:srgbClr val="D03B3B"/>
                </a:solidFill>
                <a:latin typeface="Calibri" pitchFamily="34" charset="0"/>
                <a:ea typeface="Calibri" pitchFamily="34" charset="-122"/>
                <a:cs typeface="Calibri" pitchFamily="34" charset="-120"/>
              </a:rPr>
              <a:t>Gate. </a:t>
            </a:r>
            <a:pPr indent="0" marL="0">
              <a:lnSpc>
                <a:spcPct val="106000"/>
              </a:lnSpc>
              <a:buNone/>
            </a:pPr>
            <a:r>
              <a:rPr lang="en-US" sz="1050" dirty="0">
                <a:solidFill>
                  <a:srgbClr val="52514E"/>
                </a:solidFill>
                <a:latin typeface="Calibri" pitchFamily="34" charset="0"/>
                <a:ea typeface="Calibri" pitchFamily="34" charset="-122"/>
                <a:cs typeface="Calibri" pitchFamily="34" charset="-120"/>
              </a:rPr>
              <a:t>Kill if the ordering of configurations inverts on contact with a real layout.</a:t>
            </a:r>
            <a:endParaRPr lang="en-US" sz="1050" dirty="0"/>
          </a:p>
        </p:txBody>
      </p:sp>
      <p:sp>
        <p:nvSpPr>
          <p:cNvPr id="21" name="Shape 19"/>
          <p:cNvSpPr/>
          <p:nvPr/>
        </p:nvSpPr>
        <p:spPr>
          <a:xfrm>
            <a:off x="6208776" y="1810512"/>
            <a:ext cx="2564892" cy="3401568"/>
          </a:xfrm>
          <a:prstGeom prst="roundRect">
            <a:avLst>
              <a:gd name="adj" fmla="val 1783"/>
            </a:avLst>
          </a:prstGeom>
          <a:solidFill>
            <a:srgbClr val="F2F1EC"/>
          </a:solidFill>
          <a:ln/>
        </p:spPr>
      </p:sp>
      <p:sp>
        <p:nvSpPr>
          <p:cNvPr id="22" name="Shape 20"/>
          <p:cNvSpPr/>
          <p:nvPr/>
        </p:nvSpPr>
        <p:spPr>
          <a:xfrm>
            <a:off x="6409944" y="2011680"/>
            <a:ext cx="365760" cy="365760"/>
          </a:xfrm>
          <a:prstGeom prst="ellipse">
            <a:avLst/>
          </a:prstGeom>
          <a:solidFill>
            <a:srgbClr val="EB6834"/>
          </a:solidFill>
          <a:ln/>
        </p:spPr>
      </p:sp>
      <p:sp>
        <p:nvSpPr>
          <p:cNvPr id="23" name="Text 21"/>
          <p:cNvSpPr txBox="1"/>
          <p:nvPr/>
        </p:nvSpPr>
        <p:spPr>
          <a:xfrm>
            <a:off x="6409944"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txBox="1"/>
          <p:nvPr/>
        </p:nvSpPr>
        <p:spPr>
          <a:xfrm>
            <a:off x="6848856" y="2048256"/>
            <a:ext cx="1741932" cy="274320"/>
          </a:xfrm>
          <a:prstGeom prst="rect">
            <a:avLst/>
          </a:prstGeom>
          <a:noFill/>
          <a:ln/>
        </p:spPr>
        <p:txBody>
          <a:bodyPr wrap="square" lIns="0" tIns="0" rIns="0" bIns="0" rtlCol="0" anchor="ctr"/>
          <a:lstStyle/>
          <a:p>
            <a:pPr indent="0" marL="0">
              <a:buNone/>
            </a:pPr>
            <a:r>
              <a:rPr lang="en-US" sz="1050" b="1" dirty="0">
                <a:solidFill>
                  <a:srgbClr val="EB6834"/>
                </a:solidFill>
                <a:latin typeface="Calibri" pitchFamily="34" charset="0"/>
                <a:ea typeface="Calibri" pitchFamily="34" charset="-122"/>
                <a:cs typeface="Calibri" pitchFamily="34" charset="-120"/>
              </a:rPr>
              <a:t>Phase 3 · 6–12 months</a:t>
            </a:r>
            <a:endParaRPr lang="en-US" sz="1050" dirty="0"/>
          </a:p>
        </p:txBody>
      </p:sp>
      <p:sp>
        <p:nvSpPr>
          <p:cNvPr id="25" name="Text 23"/>
          <p:cNvSpPr txBox="1"/>
          <p:nvPr/>
        </p:nvSpPr>
        <p:spPr>
          <a:xfrm>
            <a:off x="6409944" y="2505456"/>
            <a:ext cx="2162556"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Hardware in the loop</a:t>
            </a:r>
            <a:endParaRPr lang="en-US" sz="1600" dirty="0"/>
          </a:p>
        </p:txBody>
      </p:sp>
      <p:sp>
        <p:nvSpPr>
          <p:cNvPr id="26" name="Text 24"/>
          <p:cNvSpPr txBox="1"/>
          <p:nvPr/>
        </p:nvSpPr>
        <p:spPr>
          <a:xfrm>
            <a:off x="6409944" y="2871216"/>
            <a:ext cx="2162556" cy="1463040"/>
          </a:xfrm>
          <a:prstGeom prst="rect">
            <a:avLst/>
          </a:prstGeom>
          <a:noFill/>
          <a:ln/>
        </p:spPr>
        <p:txBody>
          <a:bodyPr wrap="square" lIns="0" tIns="0" rIns="0" bIns="0" rtlCol="0" anchor="ctr"/>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One partner site, one aisle block, the sim-to-real gap measured rather than assumed — against the interval the simulator predicts for that floor and fleet.</a:t>
            </a:r>
            <a:endParaRPr lang="en-US" sz="1150" dirty="0"/>
          </a:p>
        </p:txBody>
      </p:sp>
      <p:sp>
        <p:nvSpPr>
          <p:cNvPr id="27" name="Text 25"/>
          <p:cNvSpPr txBox="1"/>
          <p:nvPr/>
        </p:nvSpPr>
        <p:spPr>
          <a:xfrm>
            <a:off x="6409944" y="4389120"/>
            <a:ext cx="2162556" cy="713232"/>
          </a:xfrm>
          <a:prstGeom prst="rect">
            <a:avLst/>
          </a:prstGeom>
          <a:noFill/>
          <a:ln/>
        </p:spPr>
        <p:txBody>
          <a:bodyPr wrap="square" lIns="0" tIns="0" rIns="0" bIns="0" rtlCol="0" anchor="ctr"/>
          <a:lstStyle/>
          <a:p>
            <a:pPr indent="0" marL="0">
              <a:lnSpc>
                <a:spcPct val="106000"/>
              </a:lnSpc>
              <a:buNone/>
            </a:pPr>
            <a:r>
              <a:rPr lang="en-US" sz="1050" b="1" dirty="0">
                <a:solidFill>
                  <a:srgbClr val="D03B3B"/>
                </a:solidFill>
                <a:latin typeface="Calibri" pitchFamily="34" charset="0"/>
                <a:ea typeface="Calibri" pitchFamily="34" charset="-122"/>
                <a:cs typeface="Calibri" pitchFamily="34" charset="-120"/>
              </a:rPr>
              <a:t>Gate. </a:t>
            </a:r>
            <a:pPr indent="0" marL="0">
              <a:lnSpc>
                <a:spcPct val="106000"/>
              </a:lnSpc>
              <a:buNone/>
            </a:pPr>
            <a:r>
              <a:rPr lang="en-US" sz="1050" dirty="0">
                <a:solidFill>
                  <a:srgbClr val="52514E"/>
                </a:solidFill>
                <a:latin typeface="Calibri" pitchFamily="34" charset="0"/>
                <a:ea typeface="Calibri" pitchFamily="34" charset="-122"/>
                <a:cs typeface="Calibri" pitchFamily="34" charset="-120"/>
              </a:rPr>
              <a:t>Kill if measured throughput falls outside what configuration can recover.</a:t>
            </a:r>
            <a:endParaRPr lang="en-US" sz="1050" dirty="0"/>
          </a:p>
        </p:txBody>
      </p:sp>
      <p:sp>
        <p:nvSpPr>
          <p:cNvPr id="28" name="Shape 26"/>
          <p:cNvSpPr/>
          <p:nvPr/>
        </p:nvSpPr>
        <p:spPr>
          <a:xfrm>
            <a:off x="9029700" y="1810512"/>
            <a:ext cx="2564892" cy="3401568"/>
          </a:xfrm>
          <a:prstGeom prst="roundRect">
            <a:avLst>
              <a:gd name="adj" fmla="val 1783"/>
            </a:avLst>
          </a:prstGeom>
          <a:solidFill>
            <a:srgbClr val="F2F1EC"/>
          </a:solidFill>
          <a:ln/>
        </p:spPr>
      </p:sp>
      <p:sp>
        <p:nvSpPr>
          <p:cNvPr id="29" name="Shape 27"/>
          <p:cNvSpPr/>
          <p:nvPr/>
        </p:nvSpPr>
        <p:spPr>
          <a:xfrm>
            <a:off x="9230868" y="2011680"/>
            <a:ext cx="365760" cy="365760"/>
          </a:xfrm>
          <a:prstGeom prst="ellipse">
            <a:avLst/>
          </a:prstGeom>
          <a:solidFill>
            <a:srgbClr val="EB6834"/>
          </a:solidFill>
          <a:ln/>
        </p:spPr>
      </p:sp>
      <p:sp>
        <p:nvSpPr>
          <p:cNvPr id="30" name="Text 28"/>
          <p:cNvSpPr txBox="1"/>
          <p:nvPr/>
        </p:nvSpPr>
        <p:spPr>
          <a:xfrm>
            <a:off x="9230868"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txBox="1"/>
          <p:nvPr/>
        </p:nvSpPr>
        <p:spPr>
          <a:xfrm>
            <a:off x="9669780" y="2048256"/>
            <a:ext cx="1741932" cy="274320"/>
          </a:xfrm>
          <a:prstGeom prst="rect">
            <a:avLst/>
          </a:prstGeom>
          <a:noFill/>
          <a:ln/>
        </p:spPr>
        <p:txBody>
          <a:bodyPr wrap="square" lIns="0" tIns="0" rIns="0" bIns="0" rtlCol="0" anchor="ctr"/>
          <a:lstStyle/>
          <a:p>
            <a:pPr indent="0" marL="0">
              <a:buNone/>
            </a:pPr>
            <a:r>
              <a:rPr lang="en-US" sz="1050" b="1" dirty="0">
                <a:solidFill>
                  <a:srgbClr val="EB6834"/>
                </a:solidFill>
                <a:latin typeface="Calibri" pitchFamily="34" charset="0"/>
                <a:ea typeface="Calibri" pitchFamily="34" charset="-122"/>
                <a:cs typeface="Calibri" pitchFamily="34" charset="-120"/>
              </a:rPr>
              <a:t>Phase 4 · 12 months +</a:t>
            </a:r>
            <a:endParaRPr lang="en-US" sz="1050" dirty="0"/>
          </a:p>
        </p:txBody>
      </p:sp>
      <p:sp>
        <p:nvSpPr>
          <p:cNvPr id="32" name="Text 30"/>
          <p:cNvSpPr txBox="1"/>
          <p:nvPr/>
        </p:nvSpPr>
        <p:spPr>
          <a:xfrm>
            <a:off x="9230868" y="2505456"/>
            <a:ext cx="2162556" cy="310896"/>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Productise</a:t>
            </a:r>
            <a:endParaRPr lang="en-US" sz="1600" dirty="0"/>
          </a:p>
        </p:txBody>
      </p:sp>
      <p:sp>
        <p:nvSpPr>
          <p:cNvPr id="33" name="Text 31"/>
          <p:cNvSpPr txBox="1"/>
          <p:nvPr/>
        </p:nvSpPr>
        <p:spPr>
          <a:xfrm>
            <a:off x="9230868" y="2871216"/>
            <a:ext cx="2162556" cy="1463040"/>
          </a:xfrm>
          <a:prstGeom prst="rect">
            <a:avLst/>
          </a:prstGeom>
          <a:noFill/>
          <a:ln/>
        </p:spPr>
        <p:txBody>
          <a:bodyPr wrap="square" lIns="0" tIns="0" rIns="0" bIns="0" rtlCol="0" anchor="ctr"/>
          <a:lstStyle/>
          <a:p>
            <a:pPr indent="0" marL="0">
              <a:lnSpc>
                <a:spcPct val="110000"/>
              </a:lnSpc>
              <a:buNone/>
            </a:pPr>
            <a:r>
              <a:rPr lang="en-US" sz="1150" dirty="0">
                <a:solidFill>
                  <a:srgbClr val="52514E"/>
                </a:solidFill>
                <a:latin typeface="Calibri" pitchFamily="34" charset="0"/>
                <a:ea typeface="Calibri" pitchFamily="34" charset="-122"/>
                <a:cs typeface="Calibri" pitchFamily="34" charset="-120"/>
              </a:rPr>
              <a:t>Ship the harness as a site-design and fleet-sizing tool, and the planner as the component behind it — the two routes to value that do not require owning the robot.</a:t>
            </a:r>
            <a:endParaRPr lang="en-US" sz="1150" dirty="0"/>
          </a:p>
        </p:txBody>
      </p:sp>
      <p:sp>
        <p:nvSpPr>
          <p:cNvPr id="34" name="Text 32"/>
          <p:cNvSpPr txBox="1"/>
          <p:nvPr/>
        </p:nvSpPr>
        <p:spPr>
          <a:xfrm>
            <a:off x="9230868" y="4389120"/>
            <a:ext cx="2162556" cy="713232"/>
          </a:xfrm>
          <a:prstGeom prst="rect">
            <a:avLst/>
          </a:prstGeom>
          <a:noFill/>
          <a:ln/>
        </p:spPr>
        <p:txBody>
          <a:bodyPr wrap="square" lIns="0" tIns="0" rIns="0" bIns="0" rtlCol="0" anchor="ctr"/>
          <a:lstStyle/>
          <a:p>
            <a:pPr indent="0" marL="0">
              <a:lnSpc>
                <a:spcPct val="106000"/>
              </a:lnSpc>
              <a:buNone/>
            </a:pPr>
            <a:r>
              <a:rPr lang="en-US" sz="1050" b="1" dirty="0">
                <a:solidFill>
                  <a:srgbClr val="D03B3B"/>
                </a:solidFill>
                <a:latin typeface="Calibri" pitchFamily="34" charset="0"/>
                <a:ea typeface="Calibri" pitchFamily="34" charset="-122"/>
                <a:cs typeface="Calibri" pitchFamily="34" charset="-120"/>
              </a:rPr>
              <a:t>Gate. </a:t>
            </a:r>
            <a:pPr indent="0" marL="0">
              <a:lnSpc>
                <a:spcPct val="106000"/>
              </a:lnSpc>
              <a:buNone/>
            </a:pPr>
            <a:r>
              <a:rPr lang="en-US" sz="1050" dirty="0">
                <a:solidFill>
                  <a:srgbClr val="52514E"/>
                </a:solidFill>
                <a:latin typeface="Calibri" pitchFamily="34" charset="0"/>
                <a:ea typeface="Calibri" pitchFamily="34" charset="-122"/>
                <a:cs typeface="Calibri" pitchFamily="34" charset="-120"/>
              </a:rPr>
              <a:t>Gated on Phase 3, not on Phase 1 or 2.</a:t>
            </a:r>
            <a:endParaRPr lang="en-US" sz="1050" dirty="0"/>
          </a:p>
        </p:txBody>
      </p:sp>
      <p:sp>
        <p:nvSpPr>
          <p:cNvPr id="35" name="Shape 33"/>
          <p:cNvSpPr/>
          <p:nvPr/>
        </p:nvSpPr>
        <p:spPr>
          <a:xfrm>
            <a:off x="566928" y="5431536"/>
            <a:ext cx="11027664" cy="566928"/>
          </a:xfrm>
          <a:prstGeom prst="roundRect">
            <a:avLst>
              <a:gd name="adj" fmla="val 8065"/>
            </a:avLst>
          </a:prstGeom>
          <a:solidFill>
            <a:srgbClr val="0F1113"/>
          </a:solidFill>
          <a:ln/>
        </p:spPr>
      </p:sp>
      <p:sp>
        <p:nvSpPr>
          <p:cNvPr id="36" name="Text 34"/>
          <p:cNvSpPr txBox="1"/>
          <p:nvPr/>
        </p:nvSpPr>
        <p:spPr>
          <a:xfrm>
            <a:off x="804672" y="5559552"/>
            <a:ext cx="10552176" cy="310896"/>
          </a:xfrm>
          <a:prstGeom prst="rect">
            <a:avLst/>
          </a:prstGeom>
          <a:noFill/>
          <a:ln/>
        </p:spPr>
        <p:txBody>
          <a:bodyPr wrap="square" lIns="0" tIns="0" rIns="0" bIns="0" rtlCol="0" anchor="ctr"/>
          <a:lstStyle/>
          <a:p>
            <a:pPr indent="0" marL="0">
              <a:lnSpc>
                <a:spcPct val="112000"/>
              </a:lnSpc>
              <a:buNone/>
            </a:pPr>
            <a:r>
              <a:rPr lang="en-US" sz="1250" dirty="0">
                <a:solidFill>
                  <a:srgbClr val="E8E7E3"/>
                </a:solidFill>
                <a:latin typeface="Calibri" pitchFamily="34" charset="0"/>
                <a:ea typeface="Calibri" pitchFamily="34" charset="-122"/>
                <a:cs typeface="Calibri" pitchFamily="34" charset="-120"/>
              </a:rPr>
              <a:t>Phase 1 is the one to fund first: it is the direct product of the study's central finding, most of its machinery already exists, and it fails fast and cheaply if the finding does not generalise.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3"/>
        </a:solidFill>
      </p:bgPr>
    </p:bg>
    <p:spTree>
      <p:nvGrpSpPr>
        <p:cNvPr id="1" name=""/>
        <p:cNvGrpSpPr/>
        <p:nvPr/>
      </p:nvGrpSpPr>
      <p:grpSpPr>
        <a:xfrm>
          <a:off x="0" y="0"/>
          <a:ext cx="0" cy="0"/>
          <a:chOff x="0" y="0"/>
          <a:chExt cx="0" cy="0"/>
        </a:xfrm>
      </p:grpSpPr>
      <p:sp>
        <p:nvSpPr>
          <p:cNvPr id="2" name="Shape 0"/>
          <p:cNvSpPr/>
          <p:nvPr/>
        </p:nvSpPr>
        <p:spPr>
          <a:xfrm>
            <a:off x="9829800" y="5065776"/>
            <a:ext cx="105156" cy="105156"/>
          </a:xfrm>
          <a:prstGeom prst="rect">
            <a:avLst/>
          </a:prstGeom>
          <a:solidFill>
            <a:srgbClr val="1B1E23"/>
          </a:solidFill>
          <a:ln/>
        </p:spPr>
      </p:sp>
      <p:sp>
        <p:nvSpPr>
          <p:cNvPr id="3" name="Shape 1"/>
          <p:cNvSpPr/>
          <p:nvPr/>
        </p:nvSpPr>
        <p:spPr>
          <a:xfrm>
            <a:off x="9829800" y="5239512"/>
            <a:ext cx="105156" cy="105156"/>
          </a:xfrm>
          <a:prstGeom prst="rect">
            <a:avLst/>
          </a:prstGeom>
          <a:solidFill>
            <a:srgbClr val="1B1E23"/>
          </a:solidFill>
          <a:ln/>
        </p:spPr>
      </p:sp>
      <p:sp>
        <p:nvSpPr>
          <p:cNvPr id="4" name="Shape 2"/>
          <p:cNvSpPr/>
          <p:nvPr/>
        </p:nvSpPr>
        <p:spPr>
          <a:xfrm>
            <a:off x="9829800" y="5413248"/>
            <a:ext cx="105156" cy="105156"/>
          </a:xfrm>
          <a:prstGeom prst="rect">
            <a:avLst/>
          </a:prstGeom>
          <a:solidFill>
            <a:srgbClr val="1B1E23"/>
          </a:solidFill>
          <a:ln/>
        </p:spPr>
      </p:sp>
      <p:sp>
        <p:nvSpPr>
          <p:cNvPr id="5" name="Shape 3"/>
          <p:cNvSpPr/>
          <p:nvPr/>
        </p:nvSpPr>
        <p:spPr>
          <a:xfrm>
            <a:off x="9829800" y="5586984"/>
            <a:ext cx="105156" cy="105156"/>
          </a:xfrm>
          <a:prstGeom prst="rect">
            <a:avLst/>
          </a:prstGeom>
          <a:solidFill>
            <a:srgbClr val="1B1E23"/>
          </a:solidFill>
          <a:ln/>
        </p:spPr>
      </p:sp>
      <p:sp>
        <p:nvSpPr>
          <p:cNvPr id="6" name="Shape 4"/>
          <p:cNvSpPr/>
          <p:nvPr/>
        </p:nvSpPr>
        <p:spPr>
          <a:xfrm>
            <a:off x="9829800" y="5760720"/>
            <a:ext cx="105156" cy="105156"/>
          </a:xfrm>
          <a:prstGeom prst="rect">
            <a:avLst/>
          </a:prstGeom>
          <a:solidFill>
            <a:srgbClr val="1B1E23"/>
          </a:solidFill>
          <a:ln/>
        </p:spPr>
      </p:sp>
      <p:sp>
        <p:nvSpPr>
          <p:cNvPr id="7" name="Shape 5"/>
          <p:cNvSpPr/>
          <p:nvPr/>
        </p:nvSpPr>
        <p:spPr>
          <a:xfrm>
            <a:off x="9829800" y="5934456"/>
            <a:ext cx="105156" cy="105156"/>
          </a:xfrm>
          <a:prstGeom prst="rect">
            <a:avLst/>
          </a:prstGeom>
          <a:solidFill>
            <a:srgbClr val="1B1E23"/>
          </a:solidFill>
          <a:ln/>
        </p:spPr>
      </p:sp>
      <p:sp>
        <p:nvSpPr>
          <p:cNvPr id="8" name="Shape 6"/>
          <p:cNvSpPr/>
          <p:nvPr/>
        </p:nvSpPr>
        <p:spPr>
          <a:xfrm>
            <a:off x="9829800" y="6108192"/>
            <a:ext cx="105156" cy="105156"/>
          </a:xfrm>
          <a:prstGeom prst="rect">
            <a:avLst/>
          </a:prstGeom>
          <a:solidFill>
            <a:srgbClr val="1B1E23"/>
          </a:solidFill>
          <a:ln/>
        </p:spPr>
      </p:sp>
      <p:sp>
        <p:nvSpPr>
          <p:cNvPr id="9" name="Shape 7"/>
          <p:cNvSpPr/>
          <p:nvPr/>
        </p:nvSpPr>
        <p:spPr>
          <a:xfrm>
            <a:off x="10003536" y="4892040"/>
            <a:ext cx="105156" cy="105156"/>
          </a:xfrm>
          <a:prstGeom prst="rect">
            <a:avLst/>
          </a:prstGeom>
          <a:solidFill>
            <a:srgbClr val="1B1E23"/>
          </a:solidFill>
          <a:ln/>
        </p:spPr>
      </p:sp>
      <p:sp>
        <p:nvSpPr>
          <p:cNvPr id="10" name="Shape 8"/>
          <p:cNvSpPr/>
          <p:nvPr/>
        </p:nvSpPr>
        <p:spPr>
          <a:xfrm>
            <a:off x="10003536" y="5065776"/>
            <a:ext cx="105156" cy="105156"/>
          </a:xfrm>
          <a:prstGeom prst="rect">
            <a:avLst/>
          </a:prstGeom>
          <a:solidFill>
            <a:srgbClr val="1B1E23"/>
          </a:solidFill>
          <a:ln/>
        </p:spPr>
      </p:sp>
      <p:sp>
        <p:nvSpPr>
          <p:cNvPr id="11" name="Shape 9"/>
          <p:cNvSpPr/>
          <p:nvPr/>
        </p:nvSpPr>
        <p:spPr>
          <a:xfrm>
            <a:off x="10003536" y="5239512"/>
            <a:ext cx="105156" cy="105156"/>
          </a:xfrm>
          <a:prstGeom prst="rect">
            <a:avLst/>
          </a:prstGeom>
          <a:solidFill>
            <a:srgbClr val="1B1E23"/>
          </a:solidFill>
          <a:ln/>
        </p:spPr>
      </p:sp>
      <p:sp>
        <p:nvSpPr>
          <p:cNvPr id="12" name="Shape 10"/>
          <p:cNvSpPr/>
          <p:nvPr/>
        </p:nvSpPr>
        <p:spPr>
          <a:xfrm>
            <a:off x="10003536" y="5413248"/>
            <a:ext cx="105156" cy="105156"/>
          </a:xfrm>
          <a:prstGeom prst="rect">
            <a:avLst/>
          </a:prstGeom>
          <a:solidFill>
            <a:srgbClr val="1B1E23"/>
          </a:solidFill>
          <a:ln/>
        </p:spPr>
      </p:sp>
      <p:sp>
        <p:nvSpPr>
          <p:cNvPr id="13" name="Shape 11"/>
          <p:cNvSpPr/>
          <p:nvPr/>
        </p:nvSpPr>
        <p:spPr>
          <a:xfrm>
            <a:off x="10003536" y="5586984"/>
            <a:ext cx="105156" cy="105156"/>
          </a:xfrm>
          <a:prstGeom prst="rect">
            <a:avLst/>
          </a:prstGeom>
          <a:solidFill>
            <a:srgbClr val="1B1E23"/>
          </a:solidFill>
          <a:ln/>
        </p:spPr>
      </p:sp>
      <p:sp>
        <p:nvSpPr>
          <p:cNvPr id="14" name="Shape 12"/>
          <p:cNvSpPr/>
          <p:nvPr/>
        </p:nvSpPr>
        <p:spPr>
          <a:xfrm>
            <a:off x="10003536" y="5934456"/>
            <a:ext cx="105156" cy="105156"/>
          </a:xfrm>
          <a:prstGeom prst="rect">
            <a:avLst/>
          </a:prstGeom>
          <a:solidFill>
            <a:srgbClr val="1B1E23"/>
          </a:solidFill>
          <a:ln/>
        </p:spPr>
      </p:sp>
      <p:sp>
        <p:nvSpPr>
          <p:cNvPr id="15" name="Shape 13"/>
          <p:cNvSpPr/>
          <p:nvPr/>
        </p:nvSpPr>
        <p:spPr>
          <a:xfrm>
            <a:off x="10003536" y="6108192"/>
            <a:ext cx="105156" cy="105156"/>
          </a:xfrm>
          <a:prstGeom prst="rect">
            <a:avLst/>
          </a:prstGeom>
          <a:solidFill>
            <a:srgbClr val="1B1E23"/>
          </a:solidFill>
          <a:ln/>
        </p:spPr>
      </p:sp>
      <p:sp>
        <p:nvSpPr>
          <p:cNvPr id="16" name="Shape 14"/>
          <p:cNvSpPr/>
          <p:nvPr/>
        </p:nvSpPr>
        <p:spPr>
          <a:xfrm>
            <a:off x="10177272" y="4892040"/>
            <a:ext cx="105156" cy="105156"/>
          </a:xfrm>
          <a:prstGeom prst="rect">
            <a:avLst/>
          </a:prstGeom>
          <a:solidFill>
            <a:srgbClr val="1B1E23"/>
          </a:solidFill>
          <a:ln/>
        </p:spPr>
      </p:sp>
      <p:sp>
        <p:nvSpPr>
          <p:cNvPr id="17" name="Shape 15"/>
          <p:cNvSpPr/>
          <p:nvPr/>
        </p:nvSpPr>
        <p:spPr>
          <a:xfrm>
            <a:off x="10177272" y="5065776"/>
            <a:ext cx="105156" cy="105156"/>
          </a:xfrm>
          <a:prstGeom prst="rect">
            <a:avLst/>
          </a:prstGeom>
          <a:solidFill>
            <a:srgbClr val="1B1E23"/>
          </a:solidFill>
          <a:ln/>
        </p:spPr>
      </p:sp>
      <p:sp>
        <p:nvSpPr>
          <p:cNvPr id="18" name="Shape 16"/>
          <p:cNvSpPr/>
          <p:nvPr/>
        </p:nvSpPr>
        <p:spPr>
          <a:xfrm>
            <a:off x="10177272" y="5239512"/>
            <a:ext cx="105156" cy="105156"/>
          </a:xfrm>
          <a:prstGeom prst="rect">
            <a:avLst/>
          </a:prstGeom>
          <a:solidFill>
            <a:srgbClr val="1B1E23"/>
          </a:solidFill>
          <a:ln/>
        </p:spPr>
      </p:sp>
      <p:sp>
        <p:nvSpPr>
          <p:cNvPr id="19" name="Shape 17"/>
          <p:cNvSpPr/>
          <p:nvPr/>
        </p:nvSpPr>
        <p:spPr>
          <a:xfrm>
            <a:off x="10177272" y="5413248"/>
            <a:ext cx="105156" cy="105156"/>
          </a:xfrm>
          <a:prstGeom prst="rect">
            <a:avLst/>
          </a:prstGeom>
          <a:solidFill>
            <a:srgbClr val="1B1E23"/>
          </a:solidFill>
          <a:ln/>
        </p:spPr>
      </p:sp>
      <p:sp>
        <p:nvSpPr>
          <p:cNvPr id="20" name="Shape 18"/>
          <p:cNvSpPr/>
          <p:nvPr/>
        </p:nvSpPr>
        <p:spPr>
          <a:xfrm>
            <a:off x="10177272" y="5586984"/>
            <a:ext cx="105156" cy="105156"/>
          </a:xfrm>
          <a:prstGeom prst="rect">
            <a:avLst/>
          </a:prstGeom>
          <a:solidFill>
            <a:srgbClr val="1B1E23"/>
          </a:solidFill>
          <a:ln/>
        </p:spPr>
      </p:sp>
      <p:sp>
        <p:nvSpPr>
          <p:cNvPr id="21" name="Shape 19"/>
          <p:cNvSpPr/>
          <p:nvPr/>
        </p:nvSpPr>
        <p:spPr>
          <a:xfrm>
            <a:off x="10177272" y="5760720"/>
            <a:ext cx="105156" cy="105156"/>
          </a:xfrm>
          <a:prstGeom prst="rect">
            <a:avLst/>
          </a:prstGeom>
          <a:solidFill>
            <a:srgbClr val="1B1E23"/>
          </a:solidFill>
          <a:ln/>
        </p:spPr>
      </p:sp>
      <p:sp>
        <p:nvSpPr>
          <p:cNvPr id="22" name="Shape 20"/>
          <p:cNvSpPr/>
          <p:nvPr/>
        </p:nvSpPr>
        <p:spPr>
          <a:xfrm>
            <a:off x="10177272" y="5934456"/>
            <a:ext cx="105156" cy="105156"/>
          </a:xfrm>
          <a:prstGeom prst="rect">
            <a:avLst/>
          </a:prstGeom>
          <a:solidFill>
            <a:srgbClr val="1B1E23"/>
          </a:solidFill>
          <a:ln/>
        </p:spPr>
      </p:sp>
      <p:sp>
        <p:nvSpPr>
          <p:cNvPr id="23" name="Shape 21"/>
          <p:cNvSpPr/>
          <p:nvPr/>
        </p:nvSpPr>
        <p:spPr>
          <a:xfrm>
            <a:off x="10177272" y="6108192"/>
            <a:ext cx="105156" cy="105156"/>
          </a:xfrm>
          <a:prstGeom prst="rect">
            <a:avLst/>
          </a:prstGeom>
          <a:solidFill>
            <a:srgbClr val="1B1E23"/>
          </a:solidFill>
          <a:ln/>
        </p:spPr>
      </p:sp>
      <p:sp>
        <p:nvSpPr>
          <p:cNvPr id="24" name="Shape 22"/>
          <p:cNvSpPr/>
          <p:nvPr/>
        </p:nvSpPr>
        <p:spPr>
          <a:xfrm>
            <a:off x="10351008" y="4892040"/>
            <a:ext cx="105156" cy="105156"/>
          </a:xfrm>
          <a:prstGeom prst="rect">
            <a:avLst/>
          </a:prstGeom>
          <a:solidFill>
            <a:srgbClr val="1B1E23"/>
          </a:solidFill>
          <a:ln/>
        </p:spPr>
      </p:sp>
      <p:sp>
        <p:nvSpPr>
          <p:cNvPr id="25" name="Shape 23"/>
          <p:cNvSpPr/>
          <p:nvPr/>
        </p:nvSpPr>
        <p:spPr>
          <a:xfrm>
            <a:off x="10351008" y="5065776"/>
            <a:ext cx="105156" cy="105156"/>
          </a:xfrm>
          <a:prstGeom prst="rect">
            <a:avLst/>
          </a:prstGeom>
          <a:solidFill>
            <a:srgbClr val="1B1E23"/>
          </a:solidFill>
          <a:ln/>
        </p:spPr>
      </p:sp>
      <p:sp>
        <p:nvSpPr>
          <p:cNvPr id="26" name="Shape 24"/>
          <p:cNvSpPr/>
          <p:nvPr/>
        </p:nvSpPr>
        <p:spPr>
          <a:xfrm>
            <a:off x="10351008" y="5239512"/>
            <a:ext cx="105156" cy="105156"/>
          </a:xfrm>
          <a:prstGeom prst="rect">
            <a:avLst/>
          </a:prstGeom>
          <a:solidFill>
            <a:srgbClr val="1B1E23"/>
          </a:solidFill>
          <a:ln/>
        </p:spPr>
      </p:sp>
      <p:sp>
        <p:nvSpPr>
          <p:cNvPr id="27" name="Shape 25"/>
          <p:cNvSpPr/>
          <p:nvPr/>
        </p:nvSpPr>
        <p:spPr>
          <a:xfrm>
            <a:off x="10351008" y="5413248"/>
            <a:ext cx="105156" cy="105156"/>
          </a:xfrm>
          <a:prstGeom prst="rect">
            <a:avLst/>
          </a:prstGeom>
          <a:solidFill>
            <a:srgbClr val="1B1E23"/>
          </a:solidFill>
          <a:ln/>
        </p:spPr>
      </p:sp>
      <p:sp>
        <p:nvSpPr>
          <p:cNvPr id="28" name="Shape 26"/>
          <p:cNvSpPr/>
          <p:nvPr/>
        </p:nvSpPr>
        <p:spPr>
          <a:xfrm>
            <a:off x="10351008" y="5760720"/>
            <a:ext cx="105156" cy="105156"/>
          </a:xfrm>
          <a:prstGeom prst="rect">
            <a:avLst/>
          </a:prstGeom>
          <a:solidFill>
            <a:srgbClr val="1B1E23"/>
          </a:solidFill>
          <a:ln/>
        </p:spPr>
      </p:sp>
      <p:sp>
        <p:nvSpPr>
          <p:cNvPr id="29" name="Shape 27"/>
          <p:cNvSpPr/>
          <p:nvPr/>
        </p:nvSpPr>
        <p:spPr>
          <a:xfrm>
            <a:off x="10351008" y="5934456"/>
            <a:ext cx="105156" cy="105156"/>
          </a:xfrm>
          <a:prstGeom prst="rect">
            <a:avLst/>
          </a:prstGeom>
          <a:solidFill>
            <a:srgbClr val="1B1E23"/>
          </a:solidFill>
          <a:ln/>
        </p:spPr>
      </p:sp>
      <p:sp>
        <p:nvSpPr>
          <p:cNvPr id="30" name="Shape 28"/>
          <p:cNvSpPr/>
          <p:nvPr/>
        </p:nvSpPr>
        <p:spPr>
          <a:xfrm>
            <a:off x="10351008" y="6108192"/>
            <a:ext cx="105156" cy="105156"/>
          </a:xfrm>
          <a:prstGeom prst="rect">
            <a:avLst/>
          </a:prstGeom>
          <a:solidFill>
            <a:srgbClr val="1B1E23"/>
          </a:solidFill>
          <a:ln/>
        </p:spPr>
      </p:sp>
      <p:sp>
        <p:nvSpPr>
          <p:cNvPr id="31" name="Shape 29"/>
          <p:cNvSpPr/>
          <p:nvPr/>
        </p:nvSpPr>
        <p:spPr>
          <a:xfrm>
            <a:off x="10524744" y="4892040"/>
            <a:ext cx="105156" cy="105156"/>
          </a:xfrm>
          <a:prstGeom prst="rect">
            <a:avLst/>
          </a:prstGeom>
          <a:solidFill>
            <a:srgbClr val="1B1E23"/>
          </a:solidFill>
          <a:ln/>
        </p:spPr>
      </p:sp>
      <p:sp>
        <p:nvSpPr>
          <p:cNvPr id="32" name="Shape 30"/>
          <p:cNvSpPr/>
          <p:nvPr/>
        </p:nvSpPr>
        <p:spPr>
          <a:xfrm>
            <a:off x="10524744" y="5065776"/>
            <a:ext cx="105156" cy="105156"/>
          </a:xfrm>
          <a:prstGeom prst="rect">
            <a:avLst/>
          </a:prstGeom>
          <a:solidFill>
            <a:srgbClr val="1B1E23"/>
          </a:solidFill>
          <a:ln/>
        </p:spPr>
      </p:sp>
      <p:sp>
        <p:nvSpPr>
          <p:cNvPr id="33" name="Shape 31"/>
          <p:cNvSpPr/>
          <p:nvPr/>
        </p:nvSpPr>
        <p:spPr>
          <a:xfrm>
            <a:off x="10524744" y="5239512"/>
            <a:ext cx="105156" cy="105156"/>
          </a:xfrm>
          <a:prstGeom prst="rect">
            <a:avLst/>
          </a:prstGeom>
          <a:solidFill>
            <a:srgbClr val="1B1E23"/>
          </a:solidFill>
          <a:ln/>
        </p:spPr>
      </p:sp>
      <p:sp>
        <p:nvSpPr>
          <p:cNvPr id="34" name="Shape 32"/>
          <p:cNvSpPr/>
          <p:nvPr/>
        </p:nvSpPr>
        <p:spPr>
          <a:xfrm>
            <a:off x="10524744" y="5413248"/>
            <a:ext cx="105156" cy="105156"/>
          </a:xfrm>
          <a:prstGeom prst="rect">
            <a:avLst/>
          </a:prstGeom>
          <a:solidFill>
            <a:srgbClr val="1B1E23"/>
          </a:solidFill>
          <a:ln/>
        </p:spPr>
      </p:sp>
      <p:sp>
        <p:nvSpPr>
          <p:cNvPr id="35" name="Shape 33"/>
          <p:cNvSpPr/>
          <p:nvPr/>
        </p:nvSpPr>
        <p:spPr>
          <a:xfrm>
            <a:off x="10524744" y="5586984"/>
            <a:ext cx="105156" cy="105156"/>
          </a:xfrm>
          <a:prstGeom prst="rect">
            <a:avLst/>
          </a:prstGeom>
          <a:solidFill>
            <a:srgbClr val="1B1E23"/>
          </a:solidFill>
          <a:ln/>
        </p:spPr>
      </p:sp>
      <p:sp>
        <p:nvSpPr>
          <p:cNvPr id="36" name="Shape 34"/>
          <p:cNvSpPr/>
          <p:nvPr/>
        </p:nvSpPr>
        <p:spPr>
          <a:xfrm>
            <a:off x="10524744" y="5760720"/>
            <a:ext cx="105156" cy="105156"/>
          </a:xfrm>
          <a:prstGeom prst="rect">
            <a:avLst/>
          </a:prstGeom>
          <a:solidFill>
            <a:srgbClr val="1B1E23"/>
          </a:solidFill>
          <a:ln/>
        </p:spPr>
      </p:sp>
      <p:sp>
        <p:nvSpPr>
          <p:cNvPr id="37" name="Shape 35"/>
          <p:cNvSpPr/>
          <p:nvPr/>
        </p:nvSpPr>
        <p:spPr>
          <a:xfrm>
            <a:off x="10524744" y="5934456"/>
            <a:ext cx="105156" cy="105156"/>
          </a:xfrm>
          <a:prstGeom prst="rect">
            <a:avLst/>
          </a:prstGeom>
          <a:solidFill>
            <a:srgbClr val="1B1E23"/>
          </a:solidFill>
          <a:ln/>
        </p:spPr>
      </p:sp>
      <p:sp>
        <p:nvSpPr>
          <p:cNvPr id="38" name="Shape 36"/>
          <p:cNvSpPr/>
          <p:nvPr/>
        </p:nvSpPr>
        <p:spPr>
          <a:xfrm>
            <a:off x="10524744" y="6108192"/>
            <a:ext cx="105156" cy="105156"/>
          </a:xfrm>
          <a:prstGeom prst="rect">
            <a:avLst/>
          </a:prstGeom>
          <a:solidFill>
            <a:srgbClr val="1B1E23"/>
          </a:solidFill>
          <a:ln/>
        </p:spPr>
      </p:sp>
      <p:sp>
        <p:nvSpPr>
          <p:cNvPr id="39" name="Shape 37"/>
          <p:cNvSpPr/>
          <p:nvPr/>
        </p:nvSpPr>
        <p:spPr>
          <a:xfrm>
            <a:off x="10698480" y="4892040"/>
            <a:ext cx="105156" cy="105156"/>
          </a:xfrm>
          <a:prstGeom prst="rect">
            <a:avLst/>
          </a:prstGeom>
          <a:solidFill>
            <a:srgbClr val="1B1E23"/>
          </a:solidFill>
          <a:ln/>
        </p:spPr>
      </p:sp>
      <p:sp>
        <p:nvSpPr>
          <p:cNvPr id="40" name="Shape 38"/>
          <p:cNvSpPr/>
          <p:nvPr/>
        </p:nvSpPr>
        <p:spPr>
          <a:xfrm>
            <a:off x="10698480" y="5065776"/>
            <a:ext cx="105156" cy="105156"/>
          </a:xfrm>
          <a:prstGeom prst="rect">
            <a:avLst/>
          </a:prstGeom>
          <a:solidFill>
            <a:srgbClr val="1B1E23"/>
          </a:solidFill>
          <a:ln/>
        </p:spPr>
      </p:sp>
      <p:sp>
        <p:nvSpPr>
          <p:cNvPr id="41" name="Shape 39"/>
          <p:cNvSpPr/>
          <p:nvPr/>
        </p:nvSpPr>
        <p:spPr>
          <a:xfrm>
            <a:off x="10698480" y="5239512"/>
            <a:ext cx="105156" cy="105156"/>
          </a:xfrm>
          <a:prstGeom prst="rect">
            <a:avLst/>
          </a:prstGeom>
          <a:solidFill>
            <a:srgbClr val="1B1E23"/>
          </a:solidFill>
          <a:ln/>
        </p:spPr>
      </p:sp>
      <p:sp>
        <p:nvSpPr>
          <p:cNvPr id="42" name="Shape 40"/>
          <p:cNvSpPr/>
          <p:nvPr/>
        </p:nvSpPr>
        <p:spPr>
          <a:xfrm>
            <a:off x="10698480" y="5586984"/>
            <a:ext cx="105156" cy="105156"/>
          </a:xfrm>
          <a:prstGeom prst="rect">
            <a:avLst/>
          </a:prstGeom>
          <a:solidFill>
            <a:srgbClr val="1B1E23"/>
          </a:solidFill>
          <a:ln/>
        </p:spPr>
      </p:sp>
      <p:sp>
        <p:nvSpPr>
          <p:cNvPr id="43" name="Shape 41"/>
          <p:cNvSpPr/>
          <p:nvPr/>
        </p:nvSpPr>
        <p:spPr>
          <a:xfrm>
            <a:off x="10698480" y="5760720"/>
            <a:ext cx="105156" cy="105156"/>
          </a:xfrm>
          <a:prstGeom prst="rect">
            <a:avLst/>
          </a:prstGeom>
          <a:solidFill>
            <a:srgbClr val="1B1E23"/>
          </a:solidFill>
          <a:ln/>
        </p:spPr>
      </p:sp>
      <p:sp>
        <p:nvSpPr>
          <p:cNvPr id="44" name="Shape 42"/>
          <p:cNvSpPr/>
          <p:nvPr/>
        </p:nvSpPr>
        <p:spPr>
          <a:xfrm>
            <a:off x="10698480" y="5934456"/>
            <a:ext cx="105156" cy="105156"/>
          </a:xfrm>
          <a:prstGeom prst="rect">
            <a:avLst/>
          </a:prstGeom>
          <a:solidFill>
            <a:srgbClr val="1B1E23"/>
          </a:solidFill>
          <a:ln/>
        </p:spPr>
      </p:sp>
      <p:sp>
        <p:nvSpPr>
          <p:cNvPr id="45" name="Shape 43"/>
          <p:cNvSpPr/>
          <p:nvPr/>
        </p:nvSpPr>
        <p:spPr>
          <a:xfrm>
            <a:off x="10698480" y="6108192"/>
            <a:ext cx="105156" cy="105156"/>
          </a:xfrm>
          <a:prstGeom prst="rect">
            <a:avLst/>
          </a:prstGeom>
          <a:solidFill>
            <a:srgbClr val="1B1E23"/>
          </a:solidFill>
          <a:ln/>
        </p:spPr>
      </p:sp>
      <p:sp>
        <p:nvSpPr>
          <p:cNvPr id="46" name="Shape 44"/>
          <p:cNvSpPr/>
          <p:nvPr/>
        </p:nvSpPr>
        <p:spPr>
          <a:xfrm>
            <a:off x="10872216" y="4892040"/>
            <a:ext cx="105156" cy="105156"/>
          </a:xfrm>
          <a:prstGeom prst="rect">
            <a:avLst/>
          </a:prstGeom>
          <a:solidFill>
            <a:srgbClr val="1B1E23"/>
          </a:solidFill>
          <a:ln/>
        </p:spPr>
      </p:sp>
      <p:sp>
        <p:nvSpPr>
          <p:cNvPr id="47" name="Shape 45"/>
          <p:cNvSpPr/>
          <p:nvPr/>
        </p:nvSpPr>
        <p:spPr>
          <a:xfrm>
            <a:off x="10872216" y="5065776"/>
            <a:ext cx="105156" cy="105156"/>
          </a:xfrm>
          <a:prstGeom prst="rect">
            <a:avLst/>
          </a:prstGeom>
          <a:solidFill>
            <a:srgbClr val="1B1E23"/>
          </a:solidFill>
          <a:ln/>
        </p:spPr>
      </p:sp>
      <p:sp>
        <p:nvSpPr>
          <p:cNvPr id="48" name="Shape 46"/>
          <p:cNvSpPr/>
          <p:nvPr/>
        </p:nvSpPr>
        <p:spPr>
          <a:xfrm>
            <a:off x="10872216" y="5239512"/>
            <a:ext cx="105156" cy="105156"/>
          </a:xfrm>
          <a:prstGeom prst="rect">
            <a:avLst/>
          </a:prstGeom>
          <a:solidFill>
            <a:srgbClr val="1B1E23"/>
          </a:solidFill>
          <a:ln/>
        </p:spPr>
      </p:sp>
      <p:sp>
        <p:nvSpPr>
          <p:cNvPr id="49" name="Shape 47"/>
          <p:cNvSpPr/>
          <p:nvPr/>
        </p:nvSpPr>
        <p:spPr>
          <a:xfrm>
            <a:off x="10872216" y="5413248"/>
            <a:ext cx="105156" cy="105156"/>
          </a:xfrm>
          <a:prstGeom prst="rect">
            <a:avLst/>
          </a:prstGeom>
          <a:solidFill>
            <a:srgbClr val="1B1E23"/>
          </a:solidFill>
          <a:ln/>
        </p:spPr>
      </p:sp>
      <p:sp>
        <p:nvSpPr>
          <p:cNvPr id="50" name="Shape 48"/>
          <p:cNvSpPr/>
          <p:nvPr/>
        </p:nvSpPr>
        <p:spPr>
          <a:xfrm>
            <a:off x="10872216" y="5586984"/>
            <a:ext cx="105156" cy="105156"/>
          </a:xfrm>
          <a:prstGeom prst="rect">
            <a:avLst/>
          </a:prstGeom>
          <a:solidFill>
            <a:srgbClr val="1B1E23"/>
          </a:solidFill>
          <a:ln/>
        </p:spPr>
      </p:sp>
      <p:sp>
        <p:nvSpPr>
          <p:cNvPr id="51" name="Shape 49"/>
          <p:cNvSpPr/>
          <p:nvPr/>
        </p:nvSpPr>
        <p:spPr>
          <a:xfrm>
            <a:off x="10872216" y="5760720"/>
            <a:ext cx="105156" cy="105156"/>
          </a:xfrm>
          <a:prstGeom prst="rect">
            <a:avLst/>
          </a:prstGeom>
          <a:solidFill>
            <a:srgbClr val="1B1E23"/>
          </a:solidFill>
          <a:ln/>
        </p:spPr>
      </p:sp>
      <p:sp>
        <p:nvSpPr>
          <p:cNvPr id="52" name="Shape 50"/>
          <p:cNvSpPr/>
          <p:nvPr/>
        </p:nvSpPr>
        <p:spPr>
          <a:xfrm>
            <a:off x="10872216" y="5934456"/>
            <a:ext cx="105156" cy="105156"/>
          </a:xfrm>
          <a:prstGeom prst="rect">
            <a:avLst/>
          </a:prstGeom>
          <a:solidFill>
            <a:srgbClr val="1B1E23"/>
          </a:solidFill>
          <a:ln/>
        </p:spPr>
      </p:sp>
      <p:sp>
        <p:nvSpPr>
          <p:cNvPr id="53" name="Shape 51"/>
          <p:cNvSpPr/>
          <p:nvPr/>
        </p:nvSpPr>
        <p:spPr>
          <a:xfrm>
            <a:off x="10872216" y="6108192"/>
            <a:ext cx="105156" cy="105156"/>
          </a:xfrm>
          <a:prstGeom prst="rect">
            <a:avLst/>
          </a:prstGeom>
          <a:solidFill>
            <a:srgbClr val="1B1E23"/>
          </a:solidFill>
          <a:ln/>
        </p:spPr>
      </p:sp>
      <p:sp>
        <p:nvSpPr>
          <p:cNvPr id="54" name="Shape 52"/>
          <p:cNvSpPr/>
          <p:nvPr/>
        </p:nvSpPr>
        <p:spPr>
          <a:xfrm>
            <a:off x="11045952" y="4892040"/>
            <a:ext cx="105156" cy="105156"/>
          </a:xfrm>
          <a:prstGeom prst="rect">
            <a:avLst/>
          </a:prstGeom>
          <a:solidFill>
            <a:srgbClr val="1B1E23"/>
          </a:solidFill>
          <a:ln/>
        </p:spPr>
      </p:sp>
      <p:sp>
        <p:nvSpPr>
          <p:cNvPr id="55" name="Shape 53"/>
          <p:cNvSpPr/>
          <p:nvPr/>
        </p:nvSpPr>
        <p:spPr>
          <a:xfrm>
            <a:off x="11045952" y="5065776"/>
            <a:ext cx="105156" cy="105156"/>
          </a:xfrm>
          <a:prstGeom prst="rect">
            <a:avLst/>
          </a:prstGeom>
          <a:solidFill>
            <a:srgbClr val="1B1E23"/>
          </a:solidFill>
          <a:ln/>
        </p:spPr>
      </p:sp>
      <p:sp>
        <p:nvSpPr>
          <p:cNvPr id="56" name="Shape 54"/>
          <p:cNvSpPr/>
          <p:nvPr/>
        </p:nvSpPr>
        <p:spPr>
          <a:xfrm>
            <a:off x="11045952" y="5413248"/>
            <a:ext cx="105156" cy="105156"/>
          </a:xfrm>
          <a:prstGeom prst="rect">
            <a:avLst/>
          </a:prstGeom>
          <a:solidFill>
            <a:srgbClr val="1B1E23"/>
          </a:solidFill>
          <a:ln/>
        </p:spPr>
      </p:sp>
      <p:sp>
        <p:nvSpPr>
          <p:cNvPr id="57" name="Shape 55"/>
          <p:cNvSpPr/>
          <p:nvPr/>
        </p:nvSpPr>
        <p:spPr>
          <a:xfrm>
            <a:off x="11045952" y="5586984"/>
            <a:ext cx="105156" cy="105156"/>
          </a:xfrm>
          <a:prstGeom prst="rect">
            <a:avLst/>
          </a:prstGeom>
          <a:solidFill>
            <a:srgbClr val="1B1E23"/>
          </a:solidFill>
          <a:ln/>
        </p:spPr>
      </p:sp>
      <p:sp>
        <p:nvSpPr>
          <p:cNvPr id="58" name="Shape 56"/>
          <p:cNvSpPr/>
          <p:nvPr/>
        </p:nvSpPr>
        <p:spPr>
          <a:xfrm>
            <a:off x="11045952" y="5760720"/>
            <a:ext cx="105156" cy="105156"/>
          </a:xfrm>
          <a:prstGeom prst="rect">
            <a:avLst/>
          </a:prstGeom>
          <a:solidFill>
            <a:srgbClr val="1B1E23"/>
          </a:solidFill>
          <a:ln/>
        </p:spPr>
      </p:sp>
      <p:sp>
        <p:nvSpPr>
          <p:cNvPr id="59" name="Shape 57"/>
          <p:cNvSpPr/>
          <p:nvPr/>
        </p:nvSpPr>
        <p:spPr>
          <a:xfrm>
            <a:off x="11045952" y="5934456"/>
            <a:ext cx="105156" cy="105156"/>
          </a:xfrm>
          <a:prstGeom prst="rect">
            <a:avLst/>
          </a:prstGeom>
          <a:solidFill>
            <a:srgbClr val="1B1E23"/>
          </a:solidFill>
          <a:ln/>
        </p:spPr>
      </p:sp>
      <p:sp>
        <p:nvSpPr>
          <p:cNvPr id="60" name="Shape 58"/>
          <p:cNvSpPr/>
          <p:nvPr/>
        </p:nvSpPr>
        <p:spPr>
          <a:xfrm>
            <a:off x="11045952" y="6108192"/>
            <a:ext cx="105156" cy="105156"/>
          </a:xfrm>
          <a:prstGeom prst="rect">
            <a:avLst/>
          </a:prstGeom>
          <a:solidFill>
            <a:srgbClr val="1B1E23"/>
          </a:solidFill>
          <a:ln/>
        </p:spPr>
      </p:sp>
      <p:sp>
        <p:nvSpPr>
          <p:cNvPr id="61" name="Shape 59"/>
          <p:cNvSpPr/>
          <p:nvPr/>
        </p:nvSpPr>
        <p:spPr>
          <a:xfrm>
            <a:off x="11219688" y="4892040"/>
            <a:ext cx="105156" cy="105156"/>
          </a:xfrm>
          <a:prstGeom prst="rect">
            <a:avLst/>
          </a:prstGeom>
          <a:solidFill>
            <a:srgbClr val="1B1E23"/>
          </a:solidFill>
          <a:ln/>
        </p:spPr>
      </p:sp>
      <p:sp>
        <p:nvSpPr>
          <p:cNvPr id="62" name="Shape 60"/>
          <p:cNvSpPr/>
          <p:nvPr/>
        </p:nvSpPr>
        <p:spPr>
          <a:xfrm>
            <a:off x="11219688" y="5065776"/>
            <a:ext cx="105156" cy="105156"/>
          </a:xfrm>
          <a:prstGeom prst="rect">
            <a:avLst/>
          </a:prstGeom>
          <a:solidFill>
            <a:srgbClr val="1B1E23"/>
          </a:solidFill>
          <a:ln/>
        </p:spPr>
      </p:sp>
      <p:sp>
        <p:nvSpPr>
          <p:cNvPr id="63" name="Shape 61"/>
          <p:cNvSpPr/>
          <p:nvPr/>
        </p:nvSpPr>
        <p:spPr>
          <a:xfrm>
            <a:off x="11219688" y="5239512"/>
            <a:ext cx="105156" cy="105156"/>
          </a:xfrm>
          <a:prstGeom prst="rect">
            <a:avLst/>
          </a:prstGeom>
          <a:solidFill>
            <a:srgbClr val="1B1E23"/>
          </a:solidFill>
          <a:ln/>
        </p:spPr>
      </p:sp>
      <p:sp>
        <p:nvSpPr>
          <p:cNvPr id="64" name="Shape 62"/>
          <p:cNvSpPr/>
          <p:nvPr/>
        </p:nvSpPr>
        <p:spPr>
          <a:xfrm>
            <a:off x="11219688" y="5413248"/>
            <a:ext cx="105156" cy="105156"/>
          </a:xfrm>
          <a:prstGeom prst="rect">
            <a:avLst/>
          </a:prstGeom>
          <a:solidFill>
            <a:srgbClr val="1B1E23"/>
          </a:solidFill>
          <a:ln/>
        </p:spPr>
      </p:sp>
      <p:sp>
        <p:nvSpPr>
          <p:cNvPr id="65" name="Shape 63"/>
          <p:cNvSpPr/>
          <p:nvPr/>
        </p:nvSpPr>
        <p:spPr>
          <a:xfrm>
            <a:off x="11219688" y="5586984"/>
            <a:ext cx="105156" cy="105156"/>
          </a:xfrm>
          <a:prstGeom prst="rect">
            <a:avLst/>
          </a:prstGeom>
          <a:solidFill>
            <a:srgbClr val="1B1E23"/>
          </a:solidFill>
          <a:ln/>
        </p:spPr>
      </p:sp>
      <p:sp>
        <p:nvSpPr>
          <p:cNvPr id="66" name="Shape 64"/>
          <p:cNvSpPr/>
          <p:nvPr/>
        </p:nvSpPr>
        <p:spPr>
          <a:xfrm>
            <a:off x="11219688" y="5760720"/>
            <a:ext cx="105156" cy="105156"/>
          </a:xfrm>
          <a:prstGeom prst="rect">
            <a:avLst/>
          </a:prstGeom>
          <a:solidFill>
            <a:srgbClr val="1B1E23"/>
          </a:solidFill>
          <a:ln/>
        </p:spPr>
      </p:sp>
      <p:sp>
        <p:nvSpPr>
          <p:cNvPr id="67" name="Shape 65"/>
          <p:cNvSpPr/>
          <p:nvPr/>
        </p:nvSpPr>
        <p:spPr>
          <a:xfrm>
            <a:off x="11219688" y="5934456"/>
            <a:ext cx="105156" cy="105156"/>
          </a:xfrm>
          <a:prstGeom prst="rect">
            <a:avLst/>
          </a:prstGeom>
          <a:solidFill>
            <a:srgbClr val="1B1E23"/>
          </a:solidFill>
          <a:ln/>
        </p:spPr>
      </p:sp>
      <p:sp>
        <p:nvSpPr>
          <p:cNvPr id="68" name="Shape 66"/>
          <p:cNvSpPr/>
          <p:nvPr/>
        </p:nvSpPr>
        <p:spPr>
          <a:xfrm>
            <a:off x="11393424" y="4892040"/>
            <a:ext cx="105156" cy="105156"/>
          </a:xfrm>
          <a:prstGeom prst="rect">
            <a:avLst/>
          </a:prstGeom>
          <a:solidFill>
            <a:srgbClr val="1B1E23"/>
          </a:solidFill>
          <a:ln/>
        </p:spPr>
      </p:sp>
      <p:sp>
        <p:nvSpPr>
          <p:cNvPr id="69" name="Shape 67"/>
          <p:cNvSpPr/>
          <p:nvPr/>
        </p:nvSpPr>
        <p:spPr>
          <a:xfrm>
            <a:off x="11393424" y="5239512"/>
            <a:ext cx="105156" cy="105156"/>
          </a:xfrm>
          <a:prstGeom prst="rect">
            <a:avLst/>
          </a:prstGeom>
          <a:solidFill>
            <a:srgbClr val="1B1E23"/>
          </a:solidFill>
          <a:ln/>
        </p:spPr>
      </p:sp>
      <p:sp>
        <p:nvSpPr>
          <p:cNvPr id="70" name="Shape 68"/>
          <p:cNvSpPr/>
          <p:nvPr/>
        </p:nvSpPr>
        <p:spPr>
          <a:xfrm>
            <a:off x="11393424" y="5413248"/>
            <a:ext cx="105156" cy="105156"/>
          </a:xfrm>
          <a:prstGeom prst="rect">
            <a:avLst/>
          </a:prstGeom>
          <a:solidFill>
            <a:srgbClr val="1B1E23"/>
          </a:solidFill>
          <a:ln/>
        </p:spPr>
      </p:sp>
      <p:sp>
        <p:nvSpPr>
          <p:cNvPr id="71" name="Shape 69"/>
          <p:cNvSpPr/>
          <p:nvPr/>
        </p:nvSpPr>
        <p:spPr>
          <a:xfrm>
            <a:off x="11393424" y="5586984"/>
            <a:ext cx="105156" cy="105156"/>
          </a:xfrm>
          <a:prstGeom prst="rect">
            <a:avLst/>
          </a:prstGeom>
          <a:solidFill>
            <a:srgbClr val="1B1E23"/>
          </a:solidFill>
          <a:ln/>
        </p:spPr>
      </p:sp>
      <p:sp>
        <p:nvSpPr>
          <p:cNvPr id="72" name="Shape 70"/>
          <p:cNvSpPr/>
          <p:nvPr/>
        </p:nvSpPr>
        <p:spPr>
          <a:xfrm>
            <a:off x="11393424" y="5760720"/>
            <a:ext cx="105156" cy="105156"/>
          </a:xfrm>
          <a:prstGeom prst="rect">
            <a:avLst/>
          </a:prstGeom>
          <a:solidFill>
            <a:srgbClr val="1B1E23"/>
          </a:solidFill>
          <a:ln/>
        </p:spPr>
      </p:sp>
      <p:sp>
        <p:nvSpPr>
          <p:cNvPr id="73" name="Shape 71"/>
          <p:cNvSpPr/>
          <p:nvPr/>
        </p:nvSpPr>
        <p:spPr>
          <a:xfrm>
            <a:off x="11393424" y="5934456"/>
            <a:ext cx="105156" cy="105156"/>
          </a:xfrm>
          <a:prstGeom prst="rect">
            <a:avLst/>
          </a:prstGeom>
          <a:solidFill>
            <a:srgbClr val="1B1E23"/>
          </a:solidFill>
          <a:ln/>
        </p:spPr>
      </p:sp>
      <p:sp>
        <p:nvSpPr>
          <p:cNvPr id="74" name="Shape 72"/>
          <p:cNvSpPr/>
          <p:nvPr/>
        </p:nvSpPr>
        <p:spPr>
          <a:xfrm>
            <a:off x="11393424" y="6108192"/>
            <a:ext cx="105156" cy="105156"/>
          </a:xfrm>
          <a:prstGeom prst="rect">
            <a:avLst/>
          </a:prstGeom>
          <a:solidFill>
            <a:srgbClr val="1B1E23"/>
          </a:solidFill>
          <a:ln/>
        </p:spPr>
      </p:sp>
      <p:sp>
        <p:nvSpPr>
          <p:cNvPr id="75" name="Shape 73"/>
          <p:cNvSpPr/>
          <p:nvPr/>
        </p:nvSpPr>
        <p:spPr>
          <a:xfrm>
            <a:off x="11567160" y="4892040"/>
            <a:ext cx="105156" cy="105156"/>
          </a:xfrm>
          <a:prstGeom prst="rect">
            <a:avLst/>
          </a:prstGeom>
          <a:solidFill>
            <a:srgbClr val="1B1E23"/>
          </a:solidFill>
          <a:ln/>
        </p:spPr>
      </p:sp>
      <p:sp>
        <p:nvSpPr>
          <p:cNvPr id="76" name="Shape 74"/>
          <p:cNvSpPr/>
          <p:nvPr/>
        </p:nvSpPr>
        <p:spPr>
          <a:xfrm>
            <a:off x="11567160" y="5065776"/>
            <a:ext cx="105156" cy="105156"/>
          </a:xfrm>
          <a:prstGeom prst="rect">
            <a:avLst/>
          </a:prstGeom>
          <a:solidFill>
            <a:srgbClr val="1B1E23"/>
          </a:solidFill>
          <a:ln/>
        </p:spPr>
      </p:sp>
      <p:sp>
        <p:nvSpPr>
          <p:cNvPr id="77" name="Shape 75"/>
          <p:cNvSpPr/>
          <p:nvPr/>
        </p:nvSpPr>
        <p:spPr>
          <a:xfrm>
            <a:off x="11567160" y="5239512"/>
            <a:ext cx="105156" cy="105156"/>
          </a:xfrm>
          <a:prstGeom prst="rect">
            <a:avLst/>
          </a:prstGeom>
          <a:solidFill>
            <a:srgbClr val="1B1E23"/>
          </a:solidFill>
          <a:ln/>
        </p:spPr>
      </p:sp>
      <p:sp>
        <p:nvSpPr>
          <p:cNvPr id="78" name="Shape 76"/>
          <p:cNvSpPr/>
          <p:nvPr/>
        </p:nvSpPr>
        <p:spPr>
          <a:xfrm>
            <a:off x="11567160" y="5413248"/>
            <a:ext cx="105156" cy="105156"/>
          </a:xfrm>
          <a:prstGeom prst="rect">
            <a:avLst/>
          </a:prstGeom>
          <a:solidFill>
            <a:srgbClr val="1B1E23"/>
          </a:solidFill>
          <a:ln/>
        </p:spPr>
      </p:sp>
      <p:sp>
        <p:nvSpPr>
          <p:cNvPr id="79" name="Shape 77"/>
          <p:cNvSpPr/>
          <p:nvPr/>
        </p:nvSpPr>
        <p:spPr>
          <a:xfrm>
            <a:off x="11567160" y="5586984"/>
            <a:ext cx="105156" cy="105156"/>
          </a:xfrm>
          <a:prstGeom prst="rect">
            <a:avLst/>
          </a:prstGeom>
          <a:solidFill>
            <a:srgbClr val="1B1E23"/>
          </a:solidFill>
          <a:ln/>
        </p:spPr>
      </p:sp>
      <p:sp>
        <p:nvSpPr>
          <p:cNvPr id="80" name="Shape 78"/>
          <p:cNvSpPr/>
          <p:nvPr/>
        </p:nvSpPr>
        <p:spPr>
          <a:xfrm>
            <a:off x="11567160" y="5760720"/>
            <a:ext cx="105156" cy="105156"/>
          </a:xfrm>
          <a:prstGeom prst="rect">
            <a:avLst/>
          </a:prstGeom>
          <a:solidFill>
            <a:srgbClr val="1B1E23"/>
          </a:solidFill>
          <a:ln/>
        </p:spPr>
      </p:sp>
      <p:sp>
        <p:nvSpPr>
          <p:cNvPr id="81" name="Shape 79"/>
          <p:cNvSpPr/>
          <p:nvPr/>
        </p:nvSpPr>
        <p:spPr>
          <a:xfrm>
            <a:off x="11567160" y="6108192"/>
            <a:ext cx="105156" cy="105156"/>
          </a:xfrm>
          <a:prstGeom prst="rect">
            <a:avLst/>
          </a:prstGeom>
          <a:solidFill>
            <a:srgbClr val="1B1E23"/>
          </a:solidFill>
          <a:ln/>
        </p:spPr>
      </p:sp>
      <p:sp>
        <p:nvSpPr>
          <p:cNvPr id="82" name="Text 80"/>
          <p:cNvSpPr txBox="1"/>
          <p:nvPr/>
        </p:nvSpPr>
        <p:spPr>
          <a:xfrm>
            <a:off x="566928" y="658368"/>
            <a:ext cx="11027664" cy="256032"/>
          </a:xfrm>
          <a:prstGeom prst="rect">
            <a:avLst/>
          </a:prstGeom>
          <a:noFill/>
          <a:ln/>
        </p:spPr>
        <p:txBody>
          <a:bodyPr wrap="square" lIns="0" tIns="0" rIns="0" bIns="0" rtlCol="0" anchor="ctr"/>
          <a:lstStyle/>
          <a:p>
            <a:pPr indent="0" marL="0">
              <a:buNone/>
            </a:pPr>
            <a:r>
              <a:rPr lang="en-US" sz="1200" b="1" spc="240" kern="0" dirty="0">
                <a:solidFill>
                  <a:srgbClr val="EB6834"/>
                </a:solidFill>
                <a:latin typeface="Calibri" pitchFamily="34" charset="0"/>
                <a:ea typeface="Calibri" pitchFamily="34" charset="-122"/>
                <a:cs typeface="Calibri" pitchFamily="34" charset="-120"/>
              </a:rPr>
              <a:t>RECOMMENDATION</a:t>
            </a:r>
            <a:endParaRPr lang="en-US" sz="1200" dirty="0"/>
          </a:p>
        </p:txBody>
      </p:sp>
      <p:sp>
        <p:nvSpPr>
          <p:cNvPr id="83" name="Text 81"/>
          <p:cNvSpPr txBox="1"/>
          <p:nvPr/>
        </p:nvSpPr>
        <p:spPr>
          <a:xfrm>
            <a:off x="566928" y="969264"/>
            <a:ext cx="11027664"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Three things, in this order</a:t>
            </a:r>
            <a:endParaRPr lang="en-US" sz="3600" dirty="0"/>
          </a:p>
        </p:txBody>
      </p:sp>
      <p:sp>
        <p:nvSpPr>
          <p:cNvPr id="84" name="Shape 82"/>
          <p:cNvSpPr/>
          <p:nvPr/>
        </p:nvSpPr>
        <p:spPr>
          <a:xfrm>
            <a:off x="566928" y="1975104"/>
            <a:ext cx="420624" cy="420624"/>
          </a:xfrm>
          <a:prstGeom prst="ellipse">
            <a:avLst/>
          </a:prstGeom>
          <a:solidFill>
            <a:srgbClr val="EB6834"/>
          </a:solidFill>
          <a:ln/>
        </p:spPr>
      </p:sp>
      <p:sp>
        <p:nvSpPr>
          <p:cNvPr id="85" name="Text 83"/>
          <p:cNvSpPr txBox="1"/>
          <p:nvPr/>
        </p:nvSpPr>
        <p:spPr>
          <a:xfrm>
            <a:off x="566928" y="1975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6" name="Text 84"/>
          <p:cNvSpPr txBox="1"/>
          <p:nvPr/>
        </p:nvSpPr>
        <p:spPr>
          <a:xfrm>
            <a:off x="1188720" y="1956816"/>
            <a:ext cx="10405872"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Fund Phase 1 — auto-configuration.</a:t>
            </a:r>
            <a:endParaRPr lang="en-US" sz="1800" dirty="0"/>
          </a:p>
        </p:txBody>
      </p:sp>
      <p:sp>
        <p:nvSpPr>
          <p:cNvPr id="87" name="Text 85"/>
          <p:cNvSpPr txBox="1"/>
          <p:nvPr/>
        </p:nvSpPr>
        <p:spPr>
          <a:xfrm>
            <a:off x="1188720" y="2322576"/>
            <a:ext cx="7939918" cy="749808"/>
          </a:xfrm>
          <a:prstGeom prst="rect">
            <a:avLst/>
          </a:prstGeom>
          <a:noFill/>
          <a:ln/>
        </p:spPr>
        <p:txBody>
          <a:bodyPr wrap="square" lIns="0" tIns="0" rIns="0" bIns="0" rtlCol="0" anchor="ctr"/>
          <a:lstStyle/>
          <a:p>
            <a:pPr indent="0" marL="0">
              <a:lnSpc>
                <a:spcPct val="112000"/>
              </a:lnSpc>
              <a:buNone/>
            </a:pPr>
            <a:r>
              <a:rPr lang="en-US" sz="1250" dirty="0">
                <a:solidFill>
                  <a:srgbClr val="9B9992"/>
                </a:solidFill>
                <a:latin typeface="Calibri" pitchFamily="34" charset="0"/>
                <a:ea typeface="Calibri" pitchFamily="34" charset="-122"/>
                <a:cs typeface="Calibri" pitchFamily="34" charset="-120"/>
              </a:rPr>
              <a:t>It is the direct product of the study's central finding, most of the machinery already exists, and it converts a mixed result into a shipped capability. It also fails cheaply if the finding does not generalise.</a:t>
            </a:r>
            <a:endParaRPr lang="en-US" sz="1250" dirty="0"/>
          </a:p>
        </p:txBody>
      </p:sp>
      <p:sp>
        <p:nvSpPr>
          <p:cNvPr id="88" name="Shape 86"/>
          <p:cNvSpPr/>
          <p:nvPr/>
        </p:nvSpPr>
        <p:spPr>
          <a:xfrm>
            <a:off x="566928" y="3182112"/>
            <a:ext cx="420624" cy="420624"/>
          </a:xfrm>
          <a:prstGeom prst="ellipse">
            <a:avLst/>
          </a:prstGeom>
          <a:solidFill>
            <a:srgbClr val="EB6834"/>
          </a:solidFill>
          <a:ln/>
        </p:spPr>
      </p:sp>
      <p:sp>
        <p:nvSpPr>
          <p:cNvPr id="89" name="Text 87"/>
          <p:cNvSpPr txBox="1"/>
          <p:nvPr/>
        </p:nvSpPr>
        <p:spPr>
          <a:xfrm>
            <a:off x="566928" y="31821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0" name="Text 88"/>
          <p:cNvSpPr txBox="1"/>
          <p:nvPr/>
        </p:nvSpPr>
        <p:spPr>
          <a:xfrm>
            <a:off x="1188720" y="3163824"/>
            <a:ext cx="10405872"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Find one pilot floor.</a:t>
            </a:r>
            <a:endParaRPr lang="en-US" sz="1800" dirty="0"/>
          </a:p>
        </p:txBody>
      </p:sp>
      <p:sp>
        <p:nvSpPr>
          <p:cNvPr id="91" name="Text 89"/>
          <p:cNvSpPr txBox="1"/>
          <p:nvPr/>
        </p:nvSpPr>
        <p:spPr>
          <a:xfrm>
            <a:off x="1188720" y="3529584"/>
            <a:ext cx="7939918" cy="749808"/>
          </a:xfrm>
          <a:prstGeom prst="rect">
            <a:avLst/>
          </a:prstGeom>
          <a:noFill/>
          <a:ln/>
        </p:spPr>
        <p:txBody>
          <a:bodyPr wrap="square" lIns="0" tIns="0" rIns="0" bIns="0" rtlCol="0" anchor="ctr"/>
          <a:lstStyle/>
          <a:p>
            <a:pPr indent="0" marL="0">
              <a:lnSpc>
                <a:spcPct val="112000"/>
              </a:lnSpc>
              <a:buNone/>
            </a:pPr>
            <a:r>
              <a:rPr lang="en-US" sz="1250" dirty="0">
                <a:solidFill>
                  <a:srgbClr val="9B9992"/>
                </a:solidFill>
                <a:latin typeface="Calibri" pitchFamily="34" charset="0"/>
                <a:ea typeface="Calibri" pitchFamily="34" charset="-122"/>
                <a:cs typeface="Calibri" pitchFamily="34" charset="-120"/>
              </a:rPr>
              <a:t>Every number in this deck is relative and simulated. One real layout and one real job trace convert three measured levers into a business case, and nothing else will.</a:t>
            </a:r>
            <a:endParaRPr lang="en-US" sz="1250" dirty="0"/>
          </a:p>
        </p:txBody>
      </p:sp>
      <p:sp>
        <p:nvSpPr>
          <p:cNvPr id="92" name="Shape 90"/>
          <p:cNvSpPr/>
          <p:nvPr/>
        </p:nvSpPr>
        <p:spPr>
          <a:xfrm>
            <a:off x="566928" y="4389120"/>
            <a:ext cx="420624" cy="420624"/>
          </a:xfrm>
          <a:prstGeom prst="ellipse">
            <a:avLst/>
          </a:prstGeom>
          <a:solidFill>
            <a:srgbClr val="EB6834"/>
          </a:solidFill>
          <a:ln/>
        </p:spPr>
      </p:sp>
      <p:sp>
        <p:nvSpPr>
          <p:cNvPr id="93" name="Text 91"/>
          <p:cNvSpPr txBox="1"/>
          <p:nvPr/>
        </p:nvSpPr>
        <p:spPr>
          <a:xfrm>
            <a:off x="566928" y="4389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94" name="Text 92"/>
          <p:cNvSpPr txBox="1"/>
          <p:nvPr/>
        </p:nvSpPr>
        <p:spPr>
          <a:xfrm>
            <a:off x="1188720" y="4370832"/>
            <a:ext cx="10405872"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Keep reporting the losses.</a:t>
            </a:r>
            <a:endParaRPr lang="en-US" sz="1800" dirty="0"/>
          </a:p>
        </p:txBody>
      </p:sp>
      <p:sp>
        <p:nvSpPr>
          <p:cNvPr id="95" name="Text 93"/>
          <p:cNvSpPr txBox="1"/>
          <p:nvPr/>
        </p:nvSpPr>
        <p:spPr>
          <a:xfrm>
            <a:off x="1188720" y="4736592"/>
            <a:ext cx="7939918" cy="749808"/>
          </a:xfrm>
          <a:prstGeom prst="rect">
            <a:avLst/>
          </a:prstGeom>
          <a:noFill/>
          <a:ln/>
        </p:spPr>
        <p:txBody>
          <a:bodyPr wrap="square" lIns="0" tIns="0" rIns="0" bIns="0" rtlCol="0" anchor="ctr"/>
          <a:lstStyle/>
          <a:p>
            <a:pPr indent="0" marL="0">
              <a:lnSpc>
                <a:spcPct val="112000"/>
              </a:lnSpc>
              <a:buNone/>
            </a:pPr>
            <a:r>
              <a:rPr lang="en-US" sz="1250" dirty="0">
                <a:solidFill>
                  <a:srgbClr val="9B9992"/>
                </a:solidFill>
                <a:latin typeface="Calibri" pitchFamily="34" charset="0"/>
                <a:ea typeface="Calibri" pitchFamily="34" charset="-122"/>
                <a:cs typeface="Calibri" pitchFamily="34" charset="-120"/>
              </a:rPr>
              <a:t>Two of four floors go to plain lifelong PIBT rather than to anything we added. Saying so plainly is the reason the rest of this deck can be believed.</a:t>
            </a:r>
            <a:endParaRPr lang="en-US" sz="1250" dirty="0"/>
          </a:p>
        </p:txBody>
      </p:sp>
      <p:sp>
        <p:nvSpPr>
          <p:cNvPr id="96" name="Text 94"/>
          <p:cNvSpPr txBox="1"/>
          <p:nvPr/>
        </p:nvSpPr>
        <p:spPr>
          <a:xfrm>
            <a:off x="566928" y="5650992"/>
            <a:ext cx="9042684" cy="457200"/>
          </a:xfrm>
          <a:prstGeom prst="rect">
            <a:avLst/>
          </a:prstGeom>
          <a:noFill/>
          <a:ln/>
        </p:spPr>
        <p:txBody>
          <a:bodyPr wrap="square" lIns="0" tIns="0" rIns="0" bIns="0" rtlCol="0" anchor="ctr"/>
          <a:lstStyle/>
          <a:p>
            <a:pPr indent="0" marL="0">
              <a:buNone/>
            </a:pPr>
            <a:r>
              <a:rPr lang="en-US" sz="1700" i="1" dirty="0">
                <a:solidFill>
                  <a:srgbClr val="EB6834"/>
                </a:solidFill>
                <a:latin typeface="Arial" pitchFamily="34" charset="0"/>
                <a:ea typeface="Arial" pitchFamily="34" charset="-122"/>
                <a:cs typeface="Arial" pitchFamily="34" charset="-120"/>
              </a:rPr>
              <a:t>The engine is fast, cheap to run, and collision-free on every run measured. What it does not yet have is a floor.</a:t>
            </a:r>
            <a:endParaRPr lang="en-US" sz="1700" dirty="0"/>
          </a:p>
        </p:txBody>
      </p:sp>
      <p:sp>
        <p:nvSpPr>
          <p:cNvPr id="97" name="Text 95"/>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9B9992"/>
                </a:solidFill>
                <a:latin typeface="Calibri" pitchFamily="34" charset="0"/>
                <a:ea typeface="Calibri" pitchFamily="34" charset="-122"/>
                <a:cs typeface="Calibri" pitchFamily="34" charset="-120"/>
              </a:rPr>
              <a:t>20</a:t>
            </a:r>
            <a:endParaRPr lang="en-US" sz="1000" dirty="0"/>
          </a:p>
        </p:txBody>
      </p:sp>
      <p:sp>
        <p:nvSpPr>
          <p:cNvPr id="98" name="Text 96"/>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9B9992"/>
                </a:solidFill>
                <a:latin typeface="Calibri" pitchFamily="34" charset="0"/>
                <a:ea typeface="Calibri" pitchFamily="34" charset="-122"/>
                <a:cs typeface="Calibri" pitchFamily="34" charset="-120"/>
              </a:rPr>
              <a:t>aisleflow · research review · @ef0910e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384048"/>
            <a:ext cx="11027664"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0B0B0B"/>
                </a:solidFill>
                <a:latin typeface="Arial" pitchFamily="34" charset="0"/>
                <a:ea typeface="Arial" pitchFamily="34" charset="-122"/>
                <a:cs typeface="Arial" pitchFamily="34" charset="-120"/>
              </a:rPr>
              <a:t>Method, provenance and reproduction</a:t>
            </a:r>
            <a:endParaRPr lang="en-US" sz="3000" dirty="0"/>
          </a:p>
        </p:txBody>
      </p:sp>
      <p:sp>
        <p:nvSpPr>
          <p:cNvPr id="4" name="Text 2"/>
          <p:cNvSpPr txBox="1"/>
          <p:nvPr/>
        </p:nvSpPr>
        <p:spPr>
          <a:xfrm>
            <a:off x="566928" y="1243584"/>
            <a:ext cx="9483791" cy="438912"/>
          </a:xfrm>
          <a:prstGeom prst="rect">
            <a:avLst/>
          </a:prstGeom>
          <a:noFill/>
          <a:ln/>
        </p:spPr>
        <p:txBody>
          <a:bodyPr wrap="square" lIns="0" tIns="0" rIns="0" bIns="0" rtlCol="0" anchor="ctr"/>
          <a:lstStyle/>
          <a:p>
            <a:pPr indent="0" marL="0">
              <a:lnSpc>
                <a:spcPct val="112000"/>
              </a:lnSpc>
              <a:buNone/>
            </a:pPr>
            <a:r>
              <a:rPr lang="en-US" sz="1500" dirty="0">
                <a:solidFill>
                  <a:srgbClr val="52514E"/>
                </a:solidFill>
                <a:latin typeface="Calibri" pitchFamily="34" charset="0"/>
                <a:ea typeface="Calibri" pitchFamily="34" charset="-122"/>
                <a:cs typeface="Calibri" pitchFamily="34" charset="-120"/>
              </a:rPr>
              <a:t>Every row in every table in this deck traces to a committed dataset with a git SHA.</a:t>
            </a:r>
            <a:endParaRPr lang="en-US" sz="1500" dirty="0"/>
          </a:p>
        </p:txBody>
      </p:sp>
      <p:sp>
        <p:nvSpPr>
          <p:cNvPr id="5" name="Text 3"/>
          <p:cNvSpPr txBox="1"/>
          <p:nvPr/>
        </p:nvSpPr>
        <p:spPr>
          <a:xfrm>
            <a:off x="11045952" y="6400800"/>
            <a:ext cx="548640" cy="219456"/>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21</a:t>
            </a:r>
            <a:endParaRPr lang="en-US" sz="1000" dirty="0"/>
          </a:p>
        </p:txBody>
      </p:sp>
      <p:sp>
        <p:nvSpPr>
          <p:cNvPr id="6" name="Text 4"/>
          <p:cNvSpPr txBox="1"/>
          <p:nvPr/>
        </p:nvSpPr>
        <p:spPr>
          <a:xfrm>
            <a:off x="566928" y="6400800"/>
            <a:ext cx="5486400" cy="219456"/>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aisleflow · research review · @ef0910e</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5285232" cy="914400"/>
        </p:xfrm>
        <a:graphic>
          <a:graphicData uri="http://schemas.openxmlformats.org/drawingml/2006/table">
            <a:tbl>
              <a:tblPr/>
              <a:tblGrid>
                <a:gridCol w="1554480"/>
                <a:gridCol w="3730752"/>
              </a:tblGrid>
              <a:tr h="384048">
                <a:tc>
                  <a:txBody>
                    <a:bodyPr/>
                    <a:lstStyle/>
                    <a:p>
                      <a:pPr algn="l" indent="0" marL="0">
                        <a:buNone/>
                      </a:pP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c>
                  <a:txBody>
                    <a:bodyPr/>
                    <a:lstStyle/>
                    <a:p>
                      <a:pPr algn="l" indent="0" marL="0">
                        <a:buNone/>
                      </a:pPr>
                      <a:r>
                        <a:rPr lang="en-US" sz="1100" b="1" dirty="0">
                          <a:solidFill>
                            <a:srgbClr val="0B0B0B"/>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82296" marR="82296" marT="54864" marB="54864" anchor="b">
                    <a:lnL w="0" cap="flat" cmpd="sng" algn="ctr">
                      <a:noFill/>
                    </a:lnL>
                    <a:lnR w="0" cap="flat" cmpd="sng" algn="ctr">
                      <a:noFill/>
                    </a:lnR>
                    <a:lnT w="0" cap="flat" cmpd="sng" algn="ctr">
                      <a:noFill/>
                    </a:lnT>
                    <a:lnB w="15875" cap="flat" cmpd="sng" algn="ctr">
                      <a:solidFill>
                        <a:srgbClr val="0B0B0B"/>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Design</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5 seeds × 400 timesteps, Poisson arrivals, identical job streams across planners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Intervals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95% bootstrap over seeds; paired sign-flip and permutation tests for knob effects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Sensitivity</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24 variants × 10 seeds × 4 floors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Density sweep</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3 seeds, 5 fleet sizes, 2 floors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Safety</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collision_free: true on every run in every suite</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Tests</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180 collected — 168 in the default run, 12 in the slow baseline sweep</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r h="384048">
                <a:tc>
                  <a:txBody>
                    <a:bodyPr/>
                    <a:lstStyle/>
                    <a:p>
                      <a:pPr algn="l" indent="0" marL="0">
                        <a:buNone/>
                      </a:pPr>
                      <a:r>
                        <a:rPr lang="en-US" sz="1050" b="1" dirty="0">
                          <a:solidFill>
                            <a:srgbClr val="52514E"/>
                          </a:solidFill>
                          <a:latin typeface="Calibri" pitchFamily="34" charset="0"/>
                          <a:ea typeface="Calibri" pitchFamily="34" charset="-122"/>
                          <a:cs typeface="Calibri" pitchFamily="34" charset="-120"/>
                        </a:rPr>
                        <a:t>Provenance</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dataset @ ef0910e, 2026-09-01T10:17:31Z</a:t>
                      </a:r>
                      <a:endParaRPr lang="en-US" sz="1050" dirty="0">
                        <a:latin typeface="Calibri" charset="0"/>
                        <a:ea typeface="Calibri" charset="0"/>
                        <a:cs typeface="Calibri" charset="0"/>
                      </a:endParaRPr>
                    </a:p>
                  </a:txBody>
                  <a:tcPr marL="82296" marR="82296" marT="54864" marB="54864" anchor="ctr">
                    <a:lnL w="0" cap="flat" cmpd="sng" algn="ctr">
                      <a:noFill/>
                    </a:lnL>
                    <a:lnR w="0" cap="flat" cmpd="sng" algn="ctr">
                      <a:noFill/>
                    </a:lnR>
                    <a:lnT w="0" cap="flat" cmpd="sng" algn="ctr">
                      <a:noFill/>
                    </a:lnT>
                    <a:lnB w="9525" cap="flat" cmpd="sng" algn="ctr">
                      <a:solidFill>
                        <a:srgbClr val="C3C2B7"/>
                      </a:solidFill>
                      <a:prstDash val="solid"/>
                      <a:round/>
                      <a:headEnd type="none" w="med" len="med"/>
                      <a:tailEnd type="none" w="med" len="med"/>
                    </a:lnB>
                  </a:tcPr>
                </a:tc>
              </a:tr>
            </a:tbl>
          </a:graphicData>
        </a:graphic>
      </p:graphicFrame>
      <p:sp>
        <p:nvSpPr>
          <p:cNvPr id="8" name="Text 5"/>
          <p:cNvSpPr txBox="1"/>
          <p:nvPr/>
        </p:nvSpPr>
        <p:spPr>
          <a:xfrm>
            <a:off x="6309360" y="1773936"/>
            <a:ext cx="5285232" cy="274320"/>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The planners, as published</a:t>
            </a:r>
            <a:endParaRPr lang="en-US" sz="1400" dirty="0"/>
          </a:p>
        </p:txBody>
      </p:sp>
      <p:sp>
        <p:nvSpPr>
          <p:cNvPr id="9" name="Text 6"/>
          <p:cNvSpPr txBox="1"/>
          <p:nvPr/>
        </p:nvSpPr>
        <p:spPr>
          <a:xfrm>
            <a:off x="6309360" y="2121408"/>
            <a:ext cx="5285232" cy="2194560"/>
          </a:xfrm>
          <a:prstGeom prst="rect">
            <a:avLst/>
          </a:prstGeom>
          <a:noFill/>
          <a:ln/>
        </p:spPr>
        <p:txBody>
          <a:bodyPr wrap="square" lIns="0" tIns="0" rIns="0" bIns="0" rtlCol="0" anchor="t"/>
          <a:lstStyle/>
          <a:p>
            <a:pPr marL="342900" indent="-342900">
              <a:lnSpc>
                <a:spcPct val="108000"/>
              </a:lnSpc>
              <a:spcAft>
                <a:spcPts val="700"/>
              </a:spcAft>
              <a:buSzPct val="100000"/>
              <a:buChar char="•"/>
            </a:pPr>
            <a:r>
              <a:rPr lang="en-US" sz="1100" dirty="0">
                <a:solidFill>
                  <a:srgbClr val="52514E"/>
                </a:solidFill>
                <a:latin typeface="Calibri" pitchFamily="34" charset="0"/>
                <a:ea typeface="Calibri" pitchFamily="34" charset="-122"/>
                <a:cs typeface="Calibri" pitchFamily="34" charset="-120"/>
              </a:rPr>
              <a:t>Okumura, Machida, Défago &amp; Tamura. Priority Inheritance with Backtracking for Iterative Multi-agent Path Finding. arXiv:1901.11282 — the algorithm aisleflow extends.</a:t>
            </a:r>
            <a:endParaRPr lang="en-US" sz="1100" dirty="0"/>
          </a:p>
          <a:p>
            <a:pPr marL="342900" indent="-342900">
              <a:lnSpc>
                <a:spcPct val="108000"/>
              </a:lnSpc>
              <a:spcAft>
                <a:spcPts val="700"/>
              </a:spcAft>
              <a:buSzPct val="100000"/>
              <a:buChar char="•"/>
            </a:pPr>
            <a:r>
              <a:rPr lang="en-US" sz="1100" dirty="0">
                <a:solidFill>
                  <a:srgbClr val="52514E"/>
                </a:solidFill>
                <a:latin typeface="Calibri" pitchFamily="34" charset="0"/>
                <a:ea typeface="Calibri" pitchFamily="34" charset="-122"/>
                <a:cs typeface="Calibri" pitchFamily="34" charset="-120"/>
              </a:rPr>
              <a:t>Ma, Li, Kumar &amp; Koenig. Lifelong Multi-Agent Path Finding for Online Pickup and Delivery Tasks. AAMAS 2017 — Token Passing (Alg. 1) and TP with Task Swaps (Alg. 2).</a:t>
            </a:r>
            <a:endParaRPr lang="en-US" sz="1100" dirty="0"/>
          </a:p>
          <a:p>
            <a:pPr marL="342900" indent="-342900">
              <a:lnSpc>
                <a:spcPct val="108000"/>
              </a:lnSpc>
              <a:spcAft>
                <a:spcPts val="700"/>
              </a:spcAft>
              <a:buSzPct val="100000"/>
              <a:buChar char="•"/>
            </a:pPr>
            <a:r>
              <a:rPr lang="en-US" sz="1100" dirty="0">
                <a:solidFill>
                  <a:srgbClr val="52514E"/>
                </a:solidFill>
                <a:latin typeface="Calibri" pitchFamily="34" charset="0"/>
                <a:ea typeface="Calibri" pitchFamily="34" charset="-122"/>
                <a:cs typeface="Calibri" pitchFamily="34" charset="-120"/>
              </a:rPr>
              <a:t>Li, Tinka, Kiesel, Durham, Kumar &amp; Koenig. Lifelong Multi-Agent Path Finding in Large-Scale Warehouses. AAAI 2021 — RHCR.</a:t>
            </a:r>
            <a:endParaRPr lang="en-US" sz="1100" dirty="0"/>
          </a:p>
          <a:p>
            <a:pPr marL="342900" indent="-342900">
              <a:lnSpc>
                <a:spcPct val="108000"/>
              </a:lnSpc>
              <a:spcAft>
                <a:spcPts val="700"/>
              </a:spcAft>
              <a:buSzPct val="100000"/>
              <a:buChar char="•"/>
            </a:pPr>
            <a:r>
              <a:rPr lang="en-US" sz="1100" dirty="0">
                <a:solidFill>
                  <a:srgbClr val="52514E"/>
                </a:solidFill>
                <a:latin typeface="Calibri" pitchFamily="34" charset="0"/>
                <a:ea typeface="Calibri" pitchFamily="34" charset="-122"/>
                <a:cs typeface="Calibri" pitchFamily="34" charset="-120"/>
              </a:rPr>
              <a:t>Ma, Harabor, Stuckey, Li &amp; Koenig. Searching with Consistent Prioritization for Multi-Agent Path Finding. AAAI 2019 — PBS, the solver RHCR runs over.</a:t>
            </a:r>
            <a:endParaRPr lang="en-US" sz="1100" dirty="0"/>
          </a:p>
        </p:txBody>
      </p:sp>
      <p:sp>
        <p:nvSpPr>
          <p:cNvPr id="10" name="Text 7"/>
          <p:cNvSpPr txBox="1"/>
          <p:nvPr/>
        </p:nvSpPr>
        <p:spPr>
          <a:xfrm>
            <a:off x="566928" y="5010912"/>
            <a:ext cx="11027664" cy="274320"/>
          </a:xfrm>
          <a:prstGeom prst="rect">
            <a:avLst/>
          </a:prstGeom>
          <a:noFill/>
          <a:ln/>
        </p:spPr>
        <p:txBody>
          <a:bodyPr wrap="square" lIns="0" tIns="0" rIns="0" bIns="0" rtlCol="0" anchor="ctr"/>
          <a:lstStyle/>
          <a:p>
            <a:pPr indent="0" marL="0">
              <a:buNone/>
            </a:pPr>
            <a:r>
              <a:rPr lang="en-US" sz="1400" b="1" dirty="0">
                <a:solidFill>
                  <a:srgbClr val="0B0B0B"/>
                </a:solidFill>
                <a:latin typeface="Arial" pitchFamily="34" charset="0"/>
                <a:ea typeface="Arial" pitchFamily="34" charset="-122"/>
                <a:cs typeface="Arial" pitchFamily="34" charset="-120"/>
              </a:rPr>
              <a:t>Reproducing every number in this deck</a:t>
            </a:r>
            <a:endParaRPr lang="en-US" sz="1400" dirty="0"/>
          </a:p>
        </p:txBody>
      </p:sp>
      <p:sp>
        <p:nvSpPr>
          <p:cNvPr id="11" name="Shape 8"/>
          <p:cNvSpPr/>
          <p:nvPr/>
        </p:nvSpPr>
        <p:spPr>
          <a:xfrm>
            <a:off x="566928" y="5340096"/>
            <a:ext cx="11027664" cy="969264"/>
          </a:xfrm>
          <a:prstGeom prst="roundRect">
            <a:avLst>
              <a:gd name="adj" fmla="val 4717"/>
            </a:avLst>
          </a:prstGeom>
          <a:solidFill>
            <a:srgbClr val="0F1113"/>
          </a:solidFill>
          <a:ln/>
        </p:spPr>
      </p:sp>
      <p:sp>
        <p:nvSpPr>
          <p:cNvPr id="12" name="Text 9"/>
          <p:cNvSpPr txBox="1"/>
          <p:nvPr/>
        </p:nvSpPr>
        <p:spPr>
          <a:xfrm>
            <a:off x="786384" y="5413248"/>
            <a:ext cx="10588752" cy="822960"/>
          </a:xfrm>
          <a:prstGeom prst="rect">
            <a:avLst/>
          </a:prstGeom>
          <a:noFill/>
          <a:ln/>
        </p:spPr>
        <p:txBody>
          <a:bodyPr wrap="square" lIns="0" tIns="0" rIns="0" bIns="0" rtlCol="0" anchor="t"/>
          <a:lstStyle/>
          <a:p>
            <a:pPr indent="0" marL="0">
              <a:lnSpc>
                <a:spcPct val="114000"/>
              </a:lnSpc>
              <a:buNone/>
            </a:pPr>
            <a:r>
              <a:rPr lang="en-US" sz="1000" dirty="0">
                <a:solidFill>
                  <a:srgbClr val="E8E7E3"/>
                </a:solidFill>
                <a:latin typeface="Courier New" pitchFamily="34" charset="0"/>
                <a:ea typeface="Courier New" pitchFamily="34" charset="-122"/>
                <a:cs typeface="Courier New" pitchFamily="34" charset="-120"/>
              </a:rPr>
              <a:t>python3 experiments/run_sensitivity.py --seeds 10 --jobs 4</a:t>
            </a:r>
            <a:endParaRPr lang="en-US" sz="1000" dirty="0"/>
          </a:p>
          <a:p>
            <a:pPr indent="0" marL="0">
              <a:lnSpc>
                <a:spcPct val="114000"/>
              </a:lnSpc>
              <a:buNone/>
            </a:pPr>
            <a:r>
              <a:rPr lang="en-US" sz="1000" dirty="0">
                <a:solidFill>
                  <a:srgbClr val="E8E7E3"/>
                </a:solidFill>
                <a:latin typeface="Courier New" pitchFamily="34" charset="0"/>
                <a:ea typeface="Courier New" pitchFamily="34" charset="-122"/>
                <a:cs typeface="Courier New" pitchFamily="34" charset="-120"/>
              </a:rPr>
              <a:t>python3 experiments/run_all.py --seeds 5 --jobs 4</a:t>
            </a:r>
            <a:endParaRPr lang="en-US" sz="1000" dirty="0"/>
          </a:p>
          <a:p>
            <a:pPr indent="0" marL="0">
              <a:lnSpc>
                <a:spcPct val="114000"/>
              </a:lnSpc>
              <a:buNone/>
            </a:pPr>
            <a:r>
              <a:rPr lang="en-US" sz="1000" dirty="0">
                <a:solidFill>
                  <a:srgbClr val="E8E7E3"/>
                </a:solidFill>
                <a:latin typeface="Courier New" pitchFamily="34" charset="0"/>
                <a:ea typeface="Courier New" pitchFamily="34" charset="-122"/>
                <a:cs typeface="Courier New" pitchFamily="34" charset="-120"/>
              </a:rPr>
              <a:t>python3 tools/make_docs_tables.py &amp;&amp; python3 tools/make_figures.py</a:t>
            </a:r>
            <a:endParaRPr lang="en-US" sz="1000" dirty="0"/>
          </a:p>
          <a:p>
            <a:pPr indent="0" marL="0">
              <a:lnSpc>
                <a:spcPct val="114000"/>
              </a:lnSpc>
              <a:buNone/>
            </a:pPr>
            <a:r>
              <a:rPr lang="en-US" sz="1000" dirty="0">
                <a:solidFill>
                  <a:srgbClr val="E8E7E3"/>
                </a:solidFill>
                <a:latin typeface="Courier New" pitchFamily="34" charset="0"/>
                <a:ea typeface="Courier New" pitchFamily="34" charset="-122"/>
                <a:cs typeface="Courier New" pitchFamily="34" charset="-120"/>
              </a:rPr>
              <a:t>python3 presentation/render_assets.py &amp;&amp; python3 presentation/extract_data.py &amp;&amp; node presentation/build_deck.js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aisleflow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Aisleflow — research review</dc:title>
  <dc:subject>Lifelong fleet coordination for warehouse pick-and-deliver</dc:subject>
  <dc:creator>aisleflow</dc:creator>
  <cp:lastModifiedBy>aisleflow</cp:lastModifiedBy>
  <cp:revision>1</cp:revision>
  <dcterms:created xsi:type="dcterms:W3CDTF">2026-09-01T19:12:14Z</dcterms:created>
  <dcterms:modified xsi:type="dcterms:W3CDTF">2026-09-01T19:12:14Z</dcterms:modified>
</cp:coreProperties>
</file>