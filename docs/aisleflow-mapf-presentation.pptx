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01C26"/>
                </a:solidFill>
                <a:latin typeface="Calibri"/>
              </a:defRPr>
            </a:pPr>
            <a:r>
              <a:rPr sz="1300" b="0" i="0" u="none" strike="noStrike">
                <a:solidFill>
                  <a:srgbClr val="101C26"/>
                </a:solidFill>
                <a:latin typeface="Calibri"/>
              </a:rPr>
              <a:t>Throughput — tasks completed per timestep</a:t>
            </a:r>
          </a:p>
        </c:rich>
      </c:tx>
      <c:layout/>
      <c:overlay val="0"/>
    </c:title>
    <c:autoTitleDeleted val="0"/>
    <c:plotArea>
      <c:layout/>
      <c:barChart>
        <c:barDir val="col"/>
        <c:grouping val="clustered"/>
        <c:varyColors val="0"/>
        <c:ser>
          <c:idx val="0"/>
          <c:order val="0"/>
          <c:tx>
            <c:strRef>
              <c:f>Sheet1!$B$1</c:f>
              <c:strCache>
                <c:ptCount val="1"/>
                <c:pt idx="0">
                  <c:v>lifelong_pibt</c:v>
                </c:pt>
              </c:strCache>
            </c:strRef>
          </c:tx>
          <c:spPr>
            <a:solidFill>
              <a:srgbClr val="1D3346"/>
            </a:solidFill>
            <a:effectLst/>
          </c:spPr>
          <c:invertIfNegative val="0"/>
          <c:dLbls>
            <c:numFmt formatCode="0.00" sourceLinked="0"/>
            <c:txPr>
              <a:bodyPr/>
              <a:lstStyle/>
              <a:p>
                <a:pPr>
                  <a:defRPr b="0" i="0" strike="noStrike" sz="900" u="none">
                    <a:solidFill>
                      <a:srgbClr val="2C3E4D"/>
                    </a:solidFill>
                    <a:latin typeface="Arial"/>
                  </a:defRPr>
                </a:pPr>
              </a:p>
            </c:txPr>
            <c:showLegendKey val="0"/>
            <c:showVal val="1"/>
            <c:showCatName val="0"/>
            <c:showSerName val="0"/>
            <c:showPercent val="0"/>
            <c:showBubbleSize val="0"/>
            <c:showLeaderLines val="0"/>
          </c:dLbls>
          <c:cat>
            <c:multiLvlStrRef>
              <c:f>Sheet1!$A$2:$A$4</c:f>
              <c:multiLvlStrCache>
                <c:ptCount val="3"/>
                <c:lvl>
                  <c:pt idx="0">
                    <c:v>bottleneck (16)</c:v>
                  </c:pt>
                  <c:pt idx="1">
                    <c:v>corridors (35)</c:v>
                  </c:pt>
                  <c:pt idx="2">
                    <c:v>medium (40)</c:v>
                  </c:pt>
                </c:lvl>
              </c:multiLvlStrCache>
            </c:multiLvlStrRef>
          </c:cat>
          <c:val>
            <c:numRef>
              <c:f>Sheet1!$B$2:$B$4</c:f>
              <c:numCache>
                <c:formatCode>General</c:formatCode>
                <c:ptCount val="3"/>
                <c:pt idx="0">
                  <c:v>0.13</c:v>
                </c:pt>
                <c:pt idx="1">
                  <c:v>0.14</c:v>
                </c:pt>
                <c:pt idx="2">
                  <c:v>0.51</c:v>
                </c:pt>
              </c:numCache>
            </c:numRef>
          </c:val>
        </c:ser>
        <c:ser>
          <c:idx val="1"/>
          <c:order val="1"/>
          <c:tx>
            <c:strRef>
              <c:f>Sheet1!$C$1</c:f>
              <c:strCache>
                <c:ptCount val="1"/>
                <c:pt idx="0">
                  <c:v>full_lda_pibt</c:v>
                </c:pt>
              </c:strCache>
            </c:strRef>
          </c:tx>
          <c:spPr>
            <a:solidFill>
              <a:srgbClr val="F2A104"/>
            </a:solidFill>
            <a:effectLst/>
          </c:spPr>
          <c:invertIfNegative val="0"/>
          <c:dLbls>
            <c:numFmt formatCode="0.00" sourceLinked="0"/>
            <c:txPr>
              <a:bodyPr/>
              <a:lstStyle/>
              <a:p>
                <a:pPr>
                  <a:defRPr b="0" i="0" strike="noStrike" sz="900" u="none">
                    <a:solidFill>
                      <a:srgbClr val="2C3E4D"/>
                    </a:solidFill>
                    <a:latin typeface="Arial"/>
                  </a:defRPr>
                </a:pPr>
              </a:p>
            </c:txPr>
            <c:showLegendKey val="0"/>
            <c:showVal val="1"/>
            <c:showCatName val="0"/>
            <c:showSerName val="0"/>
            <c:showPercent val="0"/>
            <c:showBubbleSize val="0"/>
            <c:showLeaderLines val="0"/>
          </c:dLbls>
          <c:cat>
            <c:multiLvlStrRef>
              <c:f>Sheet1!$A$2:$A$4</c:f>
              <c:multiLvlStrCache>
                <c:ptCount val="3"/>
                <c:lvl>
                  <c:pt idx="0">
                    <c:v>bottleneck (16)</c:v>
                  </c:pt>
                  <c:pt idx="1">
                    <c:v>corridors (35)</c:v>
                  </c:pt>
                  <c:pt idx="2">
                    <c:v>medium (40)</c:v>
                  </c:pt>
                </c:lvl>
              </c:multiLvlStrCache>
            </c:multiLvlStrRef>
          </c:cat>
          <c:val>
            <c:numRef>
              <c:f>Sheet1!$C$2:$C$4</c:f>
              <c:numCache>
                <c:formatCode>General</c:formatCode>
                <c:ptCount val="3"/>
                <c:pt idx="0">
                  <c:v>0.14</c:v>
                </c:pt>
                <c:pt idx="1">
                  <c:v>0.13</c:v>
                </c:pt>
                <c:pt idx="2">
                  <c:v>0.26</c:v>
                </c:pt>
              </c:numCache>
            </c:numRef>
          </c:val>
        </c:ser>
        <c:ser>
          <c:idx val="2"/>
          <c:order val="2"/>
          <c:tx>
            <c:strRef>
              <c:f>Sheet1!$D$1</c:f>
              <c:strCache>
                <c:ptCount val="1"/>
                <c:pt idx="0">
                  <c:v>token_passing</c:v>
                </c:pt>
              </c:strCache>
            </c:strRef>
          </c:tx>
          <c:spPr>
            <a:solidFill>
              <a:srgbClr val="9BB0C1"/>
            </a:solidFill>
            <a:effectLst/>
          </c:spPr>
          <c:invertIfNegative val="0"/>
          <c:dLbls>
            <c:numFmt formatCode="0.00" sourceLinked="0"/>
            <c:txPr>
              <a:bodyPr/>
              <a:lstStyle/>
              <a:p>
                <a:pPr>
                  <a:defRPr b="0" i="0" strike="noStrike" sz="900" u="none">
                    <a:solidFill>
                      <a:srgbClr val="2C3E4D"/>
                    </a:solidFill>
                    <a:latin typeface="Arial"/>
                  </a:defRPr>
                </a:pPr>
              </a:p>
            </c:txPr>
            <c:showLegendKey val="0"/>
            <c:showVal val="1"/>
            <c:showCatName val="0"/>
            <c:showSerName val="0"/>
            <c:showPercent val="0"/>
            <c:showBubbleSize val="0"/>
            <c:showLeaderLines val="0"/>
          </c:dLbls>
          <c:cat>
            <c:multiLvlStrRef>
              <c:f>Sheet1!$A$2:$A$4</c:f>
              <c:multiLvlStrCache>
                <c:ptCount val="3"/>
                <c:lvl>
                  <c:pt idx="0">
                    <c:v>bottleneck (16)</c:v>
                  </c:pt>
                  <c:pt idx="1">
                    <c:v>corridors (35)</c:v>
                  </c:pt>
                  <c:pt idx="2">
                    <c:v>medium (40)</c:v>
                  </c:pt>
                </c:lvl>
              </c:multiLvlStrCache>
            </c:multiLvlStrRef>
          </c:cat>
          <c:val>
            <c:numRef>
              <c:f>Sheet1!$D$2:$D$4</c:f>
              <c:numCache>
                <c:formatCode>General</c:formatCode>
                <c:ptCount val="3"/>
                <c:pt idx="0">
                  <c:v>0</c:v>
                </c:pt>
                <c:pt idx="1">
                  <c:v>0</c:v>
                </c:pt>
                <c:pt idx="2">
                  <c:v>0</c:v>
                </c:pt>
              </c:numCache>
            </c:numRef>
          </c:val>
        </c:ser>
        <c:ser>
          <c:idx val="3"/>
          <c:order val="3"/>
          <c:tx>
            <c:strRef>
              <c:f>Sheet1!$E$1</c:f>
              <c:strCache>
                <c:ptCount val="1"/>
                <c:pt idx="0">
                  <c:v>RHCR</c:v>
                </c:pt>
              </c:strCache>
            </c:strRef>
          </c:tx>
          <c:spPr>
            <a:solidFill>
              <a:srgbClr val="C9D6E0"/>
            </a:solidFill>
            <a:effectLst/>
          </c:spPr>
          <c:invertIfNegative val="0"/>
          <c:dLbls>
            <c:numFmt formatCode="0.00" sourceLinked="0"/>
            <c:txPr>
              <a:bodyPr/>
              <a:lstStyle/>
              <a:p>
                <a:pPr>
                  <a:defRPr b="0" i="0" strike="noStrike" sz="900" u="none">
                    <a:solidFill>
                      <a:srgbClr val="2C3E4D"/>
                    </a:solidFill>
                    <a:latin typeface="Arial"/>
                  </a:defRPr>
                </a:pPr>
              </a:p>
            </c:txPr>
            <c:showLegendKey val="0"/>
            <c:showVal val="1"/>
            <c:showCatName val="0"/>
            <c:showSerName val="0"/>
            <c:showPercent val="0"/>
            <c:showBubbleSize val="0"/>
            <c:showLeaderLines val="0"/>
          </c:dLbls>
          <c:cat>
            <c:multiLvlStrRef>
              <c:f>Sheet1!$A$2:$A$4</c:f>
              <c:multiLvlStrCache>
                <c:ptCount val="3"/>
                <c:lvl>
                  <c:pt idx="0">
                    <c:v>bottleneck (16)</c:v>
                  </c:pt>
                  <c:pt idx="1">
                    <c:v>corridors (35)</c:v>
                  </c:pt>
                  <c:pt idx="2">
                    <c:v>medium (40)</c:v>
                  </c:pt>
                </c:lvl>
              </c:multiLvlStrCache>
            </c:multiLvlStrRef>
          </c:cat>
          <c:val>
            <c:numRef>
              <c:f>Sheet1!$E$2:$E$4</c:f>
              <c:numCache>
                <c:formatCode>General</c:formatCode>
                <c:ptCount val="3"/>
                <c:pt idx="0">
                  <c:v>0.01</c:v>
                </c:pt>
                <c:pt idx="1">
                  <c:v>0</c:v>
                </c:pt>
                <c:pt idx="2">
                  <c:v>0.01</c:v>
                </c:pt>
              </c:numCache>
            </c:numRef>
          </c:val>
        </c:ser>
        <c:dLbls>
          <c:numFmt formatCode="0.00" sourceLinked="0"/>
          <c:txPr>
            <a:bodyPr/>
            <a:lstStyle/>
            <a:p>
              <a:pPr>
                <a:defRPr b="0" i="0" strike="noStrike" sz="900" u="none">
                  <a:solidFill>
                    <a:srgbClr val="2C3E4D"/>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C3E4D"/>
                </a:solidFill>
                <a:latin typeface="Arial"/>
              </a:defRPr>
            </a:pPr>
            <a:endParaRPr lang="en-US"/>
          </a:p>
        </c:txPr>
        <c:crossAx val="2094734552"/>
        <c:crosses val="autoZero"/>
        <c:auto val="1"/>
        <c:lblAlgn val="ctr"/>
        <c:noMultiLvlLbl val="1"/>
      </c:catAx>
      <c:valAx>
        <c:axId val="2094734552"/>
        <c:scaling>
          <c:orientation val="minMax"/>
          <c:max val="0.6"/>
        </c:scaling>
        <c:delete val="0"/>
        <c:axPos val="l"/>
        <c:majorGridlines>
          <c:spPr>
            <a:ln w="12700" cap="flat">
              <a:solidFill>
                <a:srgbClr val="E6ECF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C7C8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2C3E4D"/>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01C26"/>
                </a:solidFill>
                <a:latin typeface="Calibri"/>
              </a:defRPr>
            </a:pPr>
            <a:r>
              <a:rPr sz="1300" b="0" i="0" u="none" strike="noStrike">
                <a:solidFill>
                  <a:srgbClr val="101C26"/>
                </a:solidFill>
                <a:latin typeface="Calibri"/>
              </a:rPr>
              <a:t>H1 decomposed — throughput, 5 seeds × 400 steps</a:t>
            </a:r>
          </a:p>
        </c:rich>
      </c:tx>
      <c:layout/>
      <c:overlay val="0"/>
    </c:title>
    <c:autoTitleDeleted val="0"/>
    <c:plotArea>
      <c:layout/>
      <c:barChart>
        <c:barDir val="col"/>
        <c:grouping val="clustered"/>
        <c:varyColors val="0"/>
        <c:ser>
          <c:idx val="0"/>
          <c:order val="0"/>
          <c:tx>
            <c:strRef>
              <c:f>Sheet1!$B$1</c:f>
              <c:strCache>
                <c:ptCount val="1"/>
                <c:pt idx="0">
                  <c:v>base (hysteresis_pibt)</c:v>
                </c:pt>
              </c:strCache>
            </c:strRef>
          </c:tx>
          <c:spPr>
            <a:solidFill>
              <a:srgbClr val="9BB0C1"/>
            </a:solidFill>
            <a:effectLst/>
          </c:spPr>
          <c:invertIfNegative val="0"/>
          <c:dLbls>
            <c:numFmt formatCode="0.00" sourceLinked="0"/>
            <c:txPr>
              <a:bodyPr/>
              <a:lstStyle/>
              <a:p>
                <a:pPr>
                  <a:defRPr b="0" i="0" strike="noStrike" sz="850" u="none">
                    <a:solidFill>
                      <a:srgbClr val="2C3E4D"/>
                    </a:solidFill>
                    <a:latin typeface="Arial"/>
                  </a:defRPr>
                </a:pPr>
              </a:p>
            </c:txPr>
            <c:showLegendKey val="0"/>
            <c:showVal val="1"/>
            <c:showCatName val="0"/>
            <c:showSerName val="0"/>
            <c:showPercent val="0"/>
            <c:showBubbleSize val="0"/>
            <c:showLeaderLines val="0"/>
          </c:dLbls>
          <c:cat>
            <c:multiLvlStrRef>
              <c:f>Sheet1!$A$2:$A$4</c:f>
              <c:multiLvlStrCache>
                <c:ptCount val="3"/>
                <c:lvl>
                  <c:pt idx="0">
                    <c:v>bottleneck</c:v>
                  </c:pt>
                  <c:pt idx="1">
                    <c:v>corridors</c:v>
                  </c:pt>
                  <c:pt idx="2">
                    <c:v>medium</c:v>
                  </c:pt>
                </c:lvl>
              </c:multiLvlStrCache>
            </c:multiLvlStrRef>
          </c:cat>
          <c:val>
            <c:numRef>
              <c:f>Sheet1!$B$2:$B$4</c:f>
              <c:numCache>
                <c:formatCode>General</c:formatCode>
                <c:ptCount val="3"/>
                <c:pt idx="0">
                  <c:v>0.149</c:v>
                </c:pt>
                <c:pt idx="1">
                  <c:v>0.148</c:v>
                </c:pt>
                <c:pt idx="2">
                  <c:v>0.337</c:v>
                </c:pt>
              </c:numCache>
            </c:numRef>
          </c:val>
        </c:ser>
        <c:ser>
          <c:idx val="1"/>
          <c:order val="1"/>
          <c:tx>
            <c:strRef>
              <c:f>Sheet1!$C$1</c:f>
              <c:strCache>
                <c:ptCount val="1"/>
                <c:pt idx="0">
                  <c:v>aisle direction alone</c:v>
                </c:pt>
              </c:strCache>
            </c:strRef>
          </c:tx>
          <c:spPr>
            <a:solidFill>
              <a:srgbClr val="1D3346"/>
            </a:solidFill>
            <a:effectLst/>
          </c:spPr>
          <c:invertIfNegative val="0"/>
          <c:dLbls>
            <c:numFmt formatCode="0.00" sourceLinked="0"/>
            <c:txPr>
              <a:bodyPr/>
              <a:lstStyle/>
              <a:p>
                <a:pPr>
                  <a:defRPr b="0" i="0" strike="noStrike" sz="850" u="none">
                    <a:solidFill>
                      <a:srgbClr val="2C3E4D"/>
                    </a:solidFill>
                    <a:latin typeface="Arial"/>
                  </a:defRPr>
                </a:pPr>
              </a:p>
            </c:txPr>
            <c:showLegendKey val="0"/>
            <c:showVal val="1"/>
            <c:showCatName val="0"/>
            <c:showSerName val="0"/>
            <c:showPercent val="0"/>
            <c:showBubbleSize val="0"/>
            <c:showLeaderLines val="0"/>
          </c:dLbls>
          <c:cat>
            <c:multiLvlStrRef>
              <c:f>Sheet1!$A$2:$A$4</c:f>
              <c:multiLvlStrCache>
                <c:ptCount val="3"/>
                <c:lvl>
                  <c:pt idx="0">
                    <c:v>bottleneck</c:v>
                  </c:pt>
                  <c:pt idx="1">
                    <c:v>corridors</c:v>
                  </c:pt>
                  <c:pt idx="2">
                    <c:v>medium</c:v>
                  </c:pt>
                </c:lvl>
              </c:multiLvlStrCache>
            </c:multiLvlStrRef>
          </c:cat>
          <c:val>
            <c:numRef>
              <c:f>Sheet1!$C$2:$C$4</c:f>
              <c:numCache>
                <c:formatCode>General</c:formatCode>
                <c:ptCount val="3"/>
                <c:pt idx="0">
                  <c:v>0.149</c:v>
                </c:pt>
                <c:pt idx="1">
                  <c:v>0.158</c:v>
                </c:pt>
                <c:pt idx="2">
                  <c:v>0.405</c:v>
                </c:pt>
              </c:numCache>
            </c:numRef>
          </c:val>
        </c:ser>
        <c:ser>
          <c:idx val="2"/>
          <c:order val="2"/>
          <c:tx>
            <c:strRef>
              <c:f>Sheet1!$D$1</c:f>
              <c:strCache>
                <c:ptCount val="1"/>
                <c:pt idx="0">
                  <c:v>entry admission alone</c:v>
                </c:pt>
              </c:strCache>
            </c:strRef>
          </c:tx>
          <c:spPr>
            <a:solidFill>
              <a:srgbClr val="F2A104"/>
            </a:solidFill>
            <a:effectLst/>
          </c:spPr>
          <c:invertIfNegative val="0"/>
          <c:dLbls>
            <c:numFmt formatCode="0.00" sourceLinked="0"/>
            <c:txPr>
              <a:bodyPr/>
              <a:lstStyle/>
              <a:p>
                <a:pPr>
                  <a:defRPr b="0" i="0" strike="noStrike" sz="850" u="none">
                    <a:solidFill>
                      <a:srgbClr val="2C3E4D"/>
                    </a:solidFill>
                    <a:latin typeface="Arial"/>
                  </a:defRPr>
                </a:pPr>
              </a:p>
            </c:txPr>
            <c:showLegendKey val="0"/>
            <c:showVal val="1"/>
            <c:showCatName val="0"/>
            <c:showSerName val="0"/>
            <c:showPercent val="0"/>
            <c:showBubbleSize val="0"/>
            <c:showLeaderLines val="0"/>
          </c:dLbls>
          <c:cat>
            <c:multiLvlStrRef>
              <c:f>Sheet1!$A$2:$A$4</c:f>
              <c:multiLvlStrCache>
                <c:ptCount val="3"/>
                <c:lvl>
                  <c:pt idx="0">
                    <c:v>bottleneck</c:v>
                  </c:pt>
                  <c:pt idx="1">
                    <c:v>corridors</c:v>
                  </c:pt>
                  <c:pt idx="2">
                    <c:v>medium</c:v>
                  </c:pt>
                </c:lvl>
              </c:multiLvlStrCache>
            </c:multiLvlStrRef>
          </c:cat>
          <c:val>
            <c:numRef>
              <c:f>Sheet1!$D$2:$D$4</c:f>
              <c:numCache>
                <c:formatCode>General</c:formatCode>
                <c:ptCount val="3"/>
                <c:pt idx="0">
                  <c:v>0.149</c:v>
                </c:pt>
                <c:pt idx="1">
                  <c:v>0.125</c:v>
                </c:pt>
                <c:pt idx="2">
                  <c:v>0.262</c:v>
                </c:pt>
              </c:numCache>
            </c:numRef>
          </c:val>
        </c:ser>
        <c:ser>
          <c:idx val="3"/>
          <c:order val="3"/>
          <c:tx>
            <c:strRef>
              <c:f>Sheet1!$E$1</c:f>
              <c:strCache>
                <c:ptCount val="1"/>
                <c:pt idx="0">
                  <c:v>both (aisle_managed_pibt)</c:v>
                </c:pt>
              </c:strCache>
            </c:strRef>
          </c:tx>
          <c:spPr>
            <a:solidFill>
              <a:srgbClr val="C9D6E0"/>
            </a:solidFill>
            <a:effectLst/>
          </c:spPr>
          <c:invertIfNegative val="0"/>
          <c:dLbls>
            <c:numFmt formatCode="0.00" sourceLinked="0"/>
            <c:txPr>
              <a:bodyPr/>
              <a:lstStyle/>
              <a:p>
                <a:pPr>
                  <a:defRPr b="0" i="0" strike="noStrike" sz="850" u="none">
                    <a:solidFill>
                      <a:srgbClr val="2C3E4D"/>
                    </a:solidFill>
                    <a:latin typeface="Arial"/>
                  </a:defRPr>
                </a:pPr>
              </a:p>
            </c:txPr>
            <c:showLegendKey val="0"/>
            <c:showVal val="1"/>
            <c:showCatName val="0"/>
            <c:showSerName val="0"/>
            <c:showPercent val="0"/>
            <c:showBubbleSize val="0"/>
            <c:showLeaderLines val="0"/>
          </c:dLbls>
          <c:cat>
            <c:multiLvlStrRef>
              <c:f>Sheet1!$A$2:$A$4</c:f>
              <c:multiLvlStrCache>
                <c:ptCount val="3"/>
                <c:lvl>
                  <c:pt idx="0">
                    <c:v>bottleneck</c:v>
                  </c:pt>
                  <c:pt idx="1">
                    <c:v>corridors</c:v>
                  </c:pt>
                  <c:pt idx="2">
                    <c:v>medium</c:v>
                  </c:pt>
                </c:lvl>
              </c:multiLvlStrCache>
            </c:multiLvlStrRef>
          </c:cat>
          <c:val>
            <c:numRef>
              <c:f>Sheet1!$E$2:$E$4</c:f>
              <c:numCache>
                <c:formatCode>General</c:formatCode>
                <c:ptCount val="3"/>
                <c:pt idx="0">
                  <c:v>0.149</c:v>
                </c:pt>
                <c:pt idx="1">
                  <c:v>0.095</c:v>
                </c:pt>
                <c:pt idx="2">
                  <c:v>0.217</c:v>
                </c:pt>
              </c:numCache>
            </c:numRef>
          </c:val>
        </c:ser>
        <c:dLbls>
          <c:numFmt formatCode="0.00" sourceLinked="0"/>
          <c:txPr>
            <a:bodyPr/>
            <a:lstStyle/>
            <a:p>
              <a:pPr>
                <a:defRPr b="0" i="0" strike="noStrike" sz="850" u="none">
                  <a:solidFill>
                    <a:srgbClr val="2C3E4D"/>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C3E4D"/>
                </a:solidFill>
                <a:latin typeface="Arial"/>
              </a:defRPr>
            </a:pPr>
            <a:endParaRPr lang="en-US"/>
          </a:p>
        </c:txPr>
        <c:crossAx val="2094734552"/>
        <c:crosses val="autoZero"/>
        <c:auto val="1"/>
        <c:lblAlgn val="ctr"/>
        <c:noMultiLvlLbl val="1"/>
      </c:catAx>
      <c:valAx>
        <c:axId val="2094734552"/>
        <c:scaling>
          <c:orientation val="minMax"/>
          <c:max val="0.6"/>
        </c:scaling>
        <c:delete val="0"/>
        <c:axPos val="l"/>
        <c:majorGridlines>
          <c:spPr>
            <a:ln w="12700" cap="flat">
              <a:solidFill>
                <a:srgbClr val="E6ECF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C7C8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2C3E4D"/>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this is a research-engineering review. Two halves - where the field came from, and what this repository contributes to it. The honest result is in the second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questions map to the three acts of the deck. The bottom band is the invariant that makes the whole thing safe: the high level only reorders and restricts candidates.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downstream - CBS constraints, PIBT's rejection rules, this repo's validate.py - is machinery for enforcing exactly these two conditions cheaply.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branch is where PIBT lives, and where this project lives. Note the third card: lifelong is not a harder version of MAPF, it is a different problem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 coupling buys optimality and costs scale; decoupling buys scale and costs guarantees. PIBT sits at the far decoupled end but recovers a conditional progress guarantee via priority inheritance.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justification for building on PIBT rather than CBS: at 40 robots on a lifelong stream, replanning optimally is not on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move from left to right is what creates the aisle problem: with a continuous stream of tasks, traffic patterns in corridors become persistent and directional rather than incidental.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inheritance chain is the mechanism that makes queues resolve. Remember this diagram - it is exactly what Token Passing lacks, and it explains the baseline result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thesis. Everything after it is either mechanism or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modules, ~6,700 lines, no runtime dependencies. The module-to-spec-section table lives in docs/implementation-notes.md.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ablation flag in the paper maps onto switching one of these terms off. That is why the factorial decomposition later is possible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drain phase is what makes one-way corridors safe: you never reverse a corridor that still has traffic in it. The drain timeout is our addition - without it DRAINING is an absorbing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Levels 5-7 all work by temporarily suspending the aisle layer. Hold that thought - the results show that this suspension is doing most of the useful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this changed the LDA-PIBT algorithm. It changed what we are entitled to claim about it - and two claims did not survive.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careful with this slide in front of an audience: the margin is real and significant, but the caveats matter. RHCR is designed for hundreds of robots on much larger warehouses.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methodological heart of the work. A 2x2 design costs four runs instead of two and tells you something the ladder cannot: whether the effect is additive or interacting.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Reporting a negative result properly is the contribution here. Four of six hypotheses were wrong or unsupported once the confounds were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Cause 3 is the deep one and it is a genuine tension in the idea, not a bug: aisle direction and priority inheritance want opposite things from the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matters here: coordinated direction assignment is the one that could plausibly flip the headline result on warehouse_corridors.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invariant: whatever the high level got wrong, collision freedom never broke. That separation of concerns is what made the negative result safe to discover.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C26"/>
        </a:solidFill>
      </p:bgPr>
    </p:bg>
    <p:spTree>
      <p:nvGrpSpPr>
        <p:cNvPr id="1" name=""/>
        <p:cNvGrpSpPr/>
        <p:nvPr/>
      </p:nvGrpSpPr>
      <p:grpSpPr>
        <a:xfrm>
          <a:off x="0" y="0"/>
          <a:ext cx="0" cy="0"/>
          <a:chOff x="0" y="0"/>
          <a:chExt cx="0" cy="0"/>
        </a:xfrm>
      </p:grpSpPr>
      <p:sp>
        <p:nvSpPr>
          <p:cNvPr id="2" name="Shape 0"/>
          <p:cNvSpPr/>
          <p:nvPr/>
        </p:nvSpPr>
        <p:spPr>
          <a:xfrm>
            <a:off x="7726680" y="1234440"/>
            <a:ext cx="402336" cy="402336"/>
          </a:xfrm>
          <a:prstGeom prst="roundRect">
            <a:avLst>
              <a:gd name="adj" fmla="val 9091"/>
            </a:avLst>
          </a:prstGeom>
          <a:solidFill>
            <a:srgbClr val="26404F"/>
          </a:solidFill>
          <a:ln/>
        </p:spPr>
      </p:sp>
      <p:sp>
        <p:nvSpPr>
          <p:cNvPr id="3" name="Shape 1"/>
          <p:cNvSpPr/>
          <p:nvPr/>
        </p:nvSpPr>
        <p:spPr>
          <a:xfrm>
            <a:off x="8197596" y="1234440"/>
            <a:ext cx="402336" cy="402336"/>
          </a:xfrm>
          <a:prstGeom prst="roundRect">
            <a:avLst>
              <a:gd name="adj" fmla="val 9091"/>
            </a:avLst>
          </a:prstGeom>
          <a:solidFill>
            <a:srgbClr val="26404F"/>
          </a:solidFill>
          <a:ln/>
        </p:spPr>
      </p:sp>
      <p:sp>
        <p:nvSpPr>
          <p:cNvPr id="4" name="Shape 2"/>
          <p:cNvSpPr/>
          <p:nvPr/>
        </p:nvSpPr>
        <p:spPr>
          <a:xfrm>
            <a:off x="8732520" y="1298448"/>
            <a:ext cx="274320" cy="274320"/>
          </a:xfrm>
          <a:prstGeom prst="ellipse">
            <a:avLst/>
          </a:prstGeom>
          <a:solidFill>
            <a:srgbClr val="F2A104"/>
          </a:solidFill>
          <a:ln/>
        </p:spPr>
      </p:sp>
      <p:sp>
        <p:nvSpPr>
          <p:cNvPr id="5" name="Shape 3"/>
          <p:cNvSpPr/>
          <p:nvPr/>
        </p:nvSpPr>
        <p:spPr>
          <a:xfrm>
            <a:off x="9139428" y="1234440"/>
            <a:ext cx="402336" cy="402336"/>
          </a:xfrm>
          <a:prstGeom prst="roundRect">
            <a:avLst>
              <a:gd name="adj" fmla="val 9091"/>
            </a:avLst>
          </a:prstGeom>
          <a:solidFill>
            <a:srgbClr val="26404F"/>
          </a:solidFill>
          <a:ln/>
        </p:spPr>
      </p:sp>
      <p:sp>
        <p:nvSpPr>
          <p:cNvPr id="6" name="Shape 4"/>
          <p:cNvSpPr/>
          <p:nvPr/>
        </p:nvSpPr>
        <p:spPr>
          <a:xfrm>
            <a:off x="9610344" y="1234440"/>
            <a:ext cx="402336" cy="402336"/>
          </a:xfrm>
          <a:prstGeom prst="roundRect">
            <a:avLst>
              <a:gd name="adj" fmla="val 9091"/>
            </a:avLst>
          </a:prstGeom>
          <a:solidFill>
            <a:srgbClr val="26404F"/>
          </a:solidFill>
          <a:ln/>
        </p:spPr>
      </p:sp>
      <p:sp>
        <p:nvSpPr>
          <p:cNvPr id="7" name="Shape 5"/>
          <p:cNvSpPr/>
          <p:nvPr/>
        </p:nvSpPr>
        <p:spPr>
          <a:xfrm>
            <a:off x="10081260" y="1234440"/>
            <a:ext cx="402336" cy="402336"/>
          </a:xfrm>
          <a:prstGeom prst="roundRect">
            <a:avLst>
              <a:gd name="adj" fmla="val 9091"/>
            </a:avLst>
          </a:prstGeom>
          <a:solidFill>
            <a:srgbClr val="14212C"/>
          </a:solidFill>
          <a:ln/>
        </p:spPr>
      </p:sp>
      <p:sp>
        <p:nvSpPr>
          <p:cNvPr id="8" name="Shape 6"/>
          <p:cNvSpPr/>
          <p:nvPr/>
        </p:nvSpPr>
        <p:spPr>
          <a:xfrm>
            <a:off x="10552176" y="1234440"/>
            <a:ext cx="402336" cy="402336"/>
          </a:xfrm>
          <a:prstGeom prst="roundRect">
            <a:avLst>
              <a:gd name="adj" fmla="val 9091"/>
            </a:avLst>
          </a:prstGeom>
          <a:solidFill>
            <a:srgbClr val="26404F"/>
          </a:solidFill>
          <a:ln/>
        </p:spPr>
      </p:sp>
      <p:sp>
        <p:nvSpPr>
          <p:cNvPr id="9" name="Shape 7"/>
          <p:cNvSpPr/>
          <p:nvPr/>
        </p:nvSpPr>
        <p:spPr>
          <a:xfrm>
            <a:off x="11023092" y="1234440"/>
            <a:ext cx="402336" cy="402336"/>
          </a:xfrm>
          <a:prstGeom prst="roundRect">
            <a:avLst>
              <a:gd name="adj" fmla="val 9091"/>
            </a:avLst>
          </a:prstGeom>
          <a:solidFill>
            <a:srgbClr val="26404F"/>
          </a:solidFill>
          <a:ln/>
        </p:spPr>
      </p:sp>
      <p:sp>
        <p:nvSpPr>
          <p:cNvPr id="10" name="Shape 8"/>
          <p:cNvSpPr/>
          <p:nvPr/>
        </p:nvSpPr>
        <p:spPr>
          <a:xfrm>
            <a:off x="11494008" y="1234440"/>
            <a:ext cx="402336" cy="402336"/>
          </a:xfrm>
          <a:prstGeom prst="roundRect">
            <a:avLst>
              <a:gd name="adj" fmla="val 9091"/>
            </a:avLst>
          </a:prstGeom>
          <a:solidFill>
            <a:srgbClr val="14212C"/>
          </a:solidFill>
          <a:ln/>
        </p:spPr>
      </p:sp>
      <p:sp>
        <p:nvSpPr>
          <p:cNvPr id="11" name="Shape 9"/>
          <p:cNvSpPr/>
          <p:nvPr/>
        </p:nvSpPr>
        <p:spPr>
          <a:xfrm>
            <a:off x="7726680" y="1705356"/>
            <a:ext cx="402336" cy="402336"/>
          </a:xfrm>
          <a:prstGeom prst="roundRect">
            <a:avLst>
              <a:gd name="adj" fmla="val 9091"/>
            </a:avLst>
          </a:prstGeom>
          <a:solidFill>
            <a:srgbClr val="26404F"/>
          </a:solidFill>
          <a:ln/>
        </p:spPr>
      </p:sp>
      <p:sp>
        <p:nvSpPr>
          <p:cNvPr id="12" name="Shape 10"/>
          <p:cNvSpPr/>
          <p:nvPr/>
        </p:nvSpPr>
        <p:spPr>
          <a:xfrm>
            <a:off x="8197596" y="1705356"/>
            <a:ext cx="402336" cy="402336"/>
          </a:xfrm>
          <a:prstGeom prst="roundRect">
            <a:avLst>
              <a:gd name="adj" fmla="val 9091"/>
            </a:avLst>
          </a:prstGeom>
          <a:solidFill>
            <a:srgbClr val="26404F"/>
          </a:solidFill>
          <a:ln/>
        </p:spPr>
      </p:sp>
      <p:sp>
        <p:nvSpPr>
          <p:cNvPr id="13" name="Shape 11"/>
          <p:cNvSpPr/>
          <p:nvPr/>
        </p:nvSpPr>
        <p:spPr>
          <a:xfrm>
            <a:off x="8668512" y="1705356"/>
            <a:ext cx="402336" cy="402336"/>
          </a:xfrm>
          <a:prstGeom prst="roundRect">
            <a:avLst>
              <a:gd name="adj" fmla="val 9091"/>
            </a:avLst>
          </a:prstGeom>
          <a:solidFill>
            <a:srgbClr val="14212C"/>
          </a:solidFill>
          <a:ln/>
        </p:spPr>
      </p:sp>
      <p:sp>
        <p:nvSpPr>
          <p:cNvPr id="14" name="Shape 12"/>
          <p:cNvSpPr/>
          <p:nvPr/>
        </p:nvSpPr>
        <p:spPr>
          <a:xfrm>
            <a:off x="9139428" y="1705356"/>
            <a:ext cx="402336" cy="402336"/>
          </a:xfrm>
          <a:prstGeom prst="roundRect">
            <a:avLst>
              <a:gd name="adj" fmla="val 9091"/>
            </a:avLst>
          </a:prstGeom>
          <a:solidFill>
            <a:srgbClr val="26404F"/>
          </a:solidFill>
          <a:ln/>
        </p:spPr>
      </p:sp>
      <p:sp>
        <p:nvSpPr>
          <p:cNvPr id="15" name="Shape 13"/>
          <p:cNvSpPr/>
          <p:nvPr/>
        </p:nvSpPr>
        <p:spPr>
          <a:xfrm>
            <a:off x="9610344" y="1705356"/>
            <a:ext cx="402336" cy="402336"/>
          </a:xfrm>
          <a:prstGeom prst="roundRect">
            <a:avLst>
              <a:gd name="adj" fmla="val 9091"/>
            </a:avLst>
          </a:prstGeom>
          <a:solidFill>
            <a:srgbClr val="26404F"/>
          </a:solidFill>
          <a:ln/>
        </p:spPr>
      </p:sp>
      <p:sp>
        <p:nvSpPr>
          <p:cNvPr id="16" name="Shape 14"/>
          <p:cNvSpPr/>
          <p:nvPr/>
        </p:nvSpPr>
        <p:spPr>
          <a:xfrm>
            <a:off x="10145268" y="1769364"/>
            <a:ext cx="274320" cy="274320"/>
          </a:xfrm>
          <a:prstGeom prst="ellipse">
            <a:avLst/>
          </a:prstGeom>
          <a:solidFill>
            <a:srgbClr val="F2A104"/>
          </a:solidFill>
          <a:ln/>
        </p:spPr>
      </p:sp>
      <p:sp>
        <p:nvSpPr>
          <p:cNvPr id="17" name="Shape 15"/>
          <p:cNvSpPr/>
          <p:nvPr/>
        </p:nvSpPr>
        <p:spPr>
          <a:xfrm>
            <a:off x="10552176" y="1705356"/>
            <a:ext cx="402336" cy="402336"/>
          </a:xfrm>
          <a:prstGeom prst="roundRect">
            <a:avLst>
              <a:gd name="adj" fmla="val 9091"/>
            </a:avLst>
          </a:prstGeom>
          <a:solidFill>
            <a:srgbClr val="26404F"/>
          </a:solidFill>
          <a:ln/>
        </p:spPr>
      </p:sp>
      <p:sp>
        <p:nvSpPr>
          <p:cNvPr id="18" name="Shape 16"/>
          <p:cNvSpPr/>
          <p:nvPr/>
        </p:nvSpPr>
        <p:spPr>
          <a:xfrm>
            <a:off x="11023092" y="1705356"/>
            <a:ext cx="402336" cy="402336"/>
          </a:xfrm>
          <a:prstGeom prst="roundRect">
            <a:avLst>
              <a:gd name="adj" fmla="val 9091"/>
            </a:avLst>
          </a:prstGeom>
          <a:solidFill>
            <a:srgbClr val="26404F"/>
          </a:solidFill>
          <a:ln/>
        </p:spPr>
      </p:sp>
      <p:sp>
        <p:nvSpPr>
          <p:cNvPr id="19" name="Shape 17"/>
          <p:cNvSpPr/>
          <p:nvPr/>
        </p:nvSpPr>
        <p:spPr>
          <a:xfrm>
            <a:off x="11494008" y="1705356"/>
            <a:ext cx="402336" cy="402336"/>
          </a:xfrm>
          <a:prstGeom prst="roundRect">
            <a:avLst>
              <a:gd name="adj" fmla="val 9091"/>
            </a:avLst>
          </a:prstGeom>
          <a:solidFill>
            <a:srgbClr val="14212C"/>
          </a:solidFill>
          <a:ln/>
        </p:spPr>
      </p:sp>
      <p:sp>
        <p:nvSpPr>
          <p:cNvPr id="20" name="Shape 18"/>
          <p:cNvSpPr/>
          <p:nvPr/>
        </p:nvSpPr>
        <p:spPr>
          <a:xfrm>
            <a:off x="7726680" y="2176272"/>
            <a:ext cx="402336" cy="402336"/>
          </a:xfrm>
          <a:prstGeom prst="roundRect">
            <a:avLst>
              <a:gd name="adj" fmla="val 9091"/>
            </a:avLst>
          </a:prstGeom>
          <a:solidFill>
            <a:srgbClr val="14212C"/>
          </a:solidFill>
          <a:ln/>
        </p:spPr>
      </p:sp>
      <p:sp>
        <p:nvSpPr>
          <p:cNvPr id="21" name="Shape 19"/>
          <p:cNvSpPr/>
          <p:nvPr/>
        </p:nvSpPr>
        <p:spPr>
          <a:xfrm>
            <a:off x="8197596" y="2176272"/>
            <a:ext cx="402336" cy="402336"/>
          </a:xfrm>
          <a:prstGeom prst="roundRect">
            <a:avLst>
              <a:gd name="adj" fmla="val 9091"/>
            </a:avLst>
          </a:prstGeom>
          <a:solidFill>
            <a:srgbClr val="14212C"/>
          </a:solidFill>
          <a:ln/>
        </p:spPr>
      </p:sp>
      <p:sp>
        <p:nvSpPr>
          <p:cNvPr id="22" name="Shape 20"/>
          <p:cNvSpPr/>
          <p:nvPr/>
        </p:nvSpPr>
        <p:spPr>
          <a:xfrm>
            <a:off x="8668512" y="2176272"/>
            <a:ext cx="402336" cy="402336"/>
          </a:xfrm>
          <a:prstGeom prst="roundRect">
            <a:avLst>
              <a:gd name="adj" fmla="val 9091"/>
            </a:avLst>
          </a:prstGeom>
          <a:solidFill>
            <a:srgbClr val="14212C"/>
          </a:solidFill>
          <a:ln/>
        </p:spPr>
      </p:sp>
      <p:sp>
        <p:nvSpPr>
          <p:cNvPr id="23" name="Shape 21"/>
          <p:cNvSpPr/>
          <p:nvPr/>
        </p:nvSpPr>
        <p:spPr>
          <a:xfrm>
            <a:off x="9139428" y="2176272"/>
            <a:ext cx="402336" cy="402336"/>
          </a:xfrm>
          <a:prstGeom prst="roundRect">
            <a:avLst>
              <a:gd name="adj" fmla="val 9091"/>
            </a:avLst>
          </a:prstGeom>
          <a:solidFill>
            <a:srgbClr val="14212C"/>
          </a:solidFill>
          <a:ln/>
        </p:spPr>
      </p:sp>
      <p:sp>
        <p:nvSpPr>
          <p:cNvPr id="24" name="Shape 22"/>
          <p:cNvSpPr/>
          <p:nvPr/>
        </p:nvSpPr>
        <p:spPr>
          <a:xfrm>
            <a:off x="9674352" y="2240280"/>
            <a:ext cx="274320" cy="274320"/>
          </a:xfrm>
          <a:prstGeom prst="ellipse">
            <a:avLst/>
          </a:prstGeom>
          <a:solidFill>
            <a:srgbClr val="F2A104"/>
          </a:solidFill>
          <a:ln/>
        </p:spPr>
      </p:sp>
      <p:sp>
        <p:nvSpPr>
          <p:cNvPr id="25" name="Shape 23"/>
          <p:cNvSpPr/>
          <p:nvPr/>
        </p:nvSpPr>
        <p:spPr>
          <a:xfrm>
            <a:off x="10081260" y="2176272"/>
            <a:ext cx="402336" cy="402336"/>
          </a:xfrm>
          <a:prstGeom prst="roundRect">
            <a:avLst>
              <a:gd name="adj" fmla="val 9091"/>
            </a:avLst>
          </a:prstGeom>
          <a:solidFill>
            <a:srgbClr val="14212C"/>
          </a:solidFill>
          <a:ln/>
        </p:spPr>
      </p:sp>
      <p:sp>
        <p:nvSpPr>
          <p:cNvPr id="26" name="Shape 24"/>
          <p:cNvSpPr/>
          <p:nvPr/>
        </p:nvSpPr>
        <p:spPr>
          <a:xfrm>
            <a:off x="10552176" y="2176272"/>
            <a:ext cx="402336" cy="402336"/>
          </a:xfrm>
          <a:prstGeom prst="roundRect">
            <a:avLst>
              <a:gd name="adj" fmla="val 9091"/>
            </a:avLst>
          </a:prstGeom>
          <a:solidFill>
            <a:srgbClr val="14212C"/>
          </a:solidFill>
          <a:ln/>
        </p:spPr>
      </p:sp>
      <p:sp>
        <p:nvSpPr>
          <p:cNvPr id="27" name="Shape 25"/>
          <p:cNvSpPr/>
          <p:nvPr/>
        </p:nvSpPr>
        <p:spPr>
          <a:xfrm>
            <a:off x="11023092" y="2176272"/>
            <a:ext cx="402336" cy="402336"/>
          </a:xfrm>
          <a:prstGeom prst="roundRect">
            <a:avLst>
              <a:gd name="adj" fmla="val 9091"/>
            </a:avLst>
          </a:prstGeom>
          <a:solidFill>
            <a:srgbClr val="14212C"/>
          </a:solidFill>
          <a:ln/>
        </p:spPr>
      </p:sp>
      <p:sp>
        <p:nvSpPr>
          <p:cNvPr id="28" name="Shape 26"/>
          <p:cNvSpPr/>
          <p:nvPr/>
        </p:nvSpPr>
        <p:spPr>
          <a:xfrm>
            <a:off x="11494008" y="2176272"/>
            <a:ext cx="402336" cy="402336"/>
          </a:xfrm>
          <a:prstGeom prst="roundRect">
            <a:avLst>
              <a:gd name="adj" fmla="val 9091"/>
            </a:avLst>
          </a:prstGeom>
          <a:solidFill>
            <a:srgbClr val="14212C"/>
          </a:solidFill>
          <a:ln/>
        </p:spPr>
      </p:sp>
      <p:sp>
        <p:nvSpPr>
          <p:cNvPr id="29" name="Shape 27"/>
          <p:cNvSpPr/>
          <p:nvPr/>
        </p:nvSpPr>
        <p:spPr>
          <a:xfrm>
            <a:off x="7726680" y="2647188"/>
            <a:ext cx="402336" cy="402336"/>
          </a:xfrm>
          <a:prstGeom prst="roundRect">
            <a:avLst>
              <a:gd name="adj" fmla="val 9091"/>
            </a:avLst>
          </a:prstGeom>
          <a:solidFill>
            <a:srgbClr val="26404F"/>
          </a:solidFill>
          <a:ln/>
        </p:spPr>
      </p:sp>
      <p:sp>
        <p:nvSpPr>
          <p:cNvPr id="30" name="Shape 28"/>
          <p:cNvSpPr/>
          <p:nvPr/>
        </p:nvSpPr>
        <p:spPr>
          <a:xfrm>
            <a:off x="8197596" y="2647188"/>
            <a:ext cx="402336" cy="402336"/>
          </a:xfrm>
          <a:prstGeom prst="roundRect">
            <a:avLst>
              <a:gd name="adj" fmla="val 9091"/>
            </a:avLst>
          </a:prstGeom>
          <a:solidFill>
            <a:srgbClr val="26404F"/>
          </a:solidFill>
          <a:ln/>
        </p:spPr>
      </p:sp>
      <p:sp>
        <p:nvSpPr>
          <p:cNvPr id="31" name="Shape 29"/>
          <p:cNvSpPr/>
          <p:nvPr/>
        </p:nvSpPr>
        <p:spPr>
          <a:xfrm>
            <a:off x="8668512" y="2647188"/>
            <a:ext cx="402336" cy="402336"/>
          </a:xfrm>
          <a:prstGeom prst="roundRect">
            <a:avLst>
              <a:gd name="adj" fmla="val 9091"/>
            </a:avLst>
          </a:prstGeom>
          <a:solidFill>
            <a:srgbClr val="14212C"/>
          </a:solidFill>
          <a:ln/>
        </p:spPr>
      </p:sp>
      <p:sp>
        <p:nvSpPr>
          <p:cNvPr id="32" name="Shape 30"/>
          <p:cNvSpPr/>
          <p:nvPr/>
        </p:nvSpPr>
        <p:spPr>
          <a:xfrm>
            <a:off x="9139428" y="2647188"/>
            <a:ext cx="402336" cy="402336"/>
          </a:xfrm>
          <a:prstGeom prst="roundRect">
            <a:avLst>
              <a:gd name="adj" fmla="val 9091"/>
            </a:avLst>
          </a:prstGeom>
          <a:solidFill>
            <a:srgbClr val="26404F"/>
          </a:solidFill>
          <a:ln/>
        </p:spPr>
      </p:sp>
      <p:sp>
        <p:nvSpPr>
          <p:cNvPr id="33" name="Shape 31"/>
          <p:cNvSpPr/>
          <p:nvPr/>
        </p:nvSpPr>
        <p:spPr>
          <a:xfrm>
            <a:off x="9610344" y="2647188"/>
            <a:ext cx="402336" cy="402336"/>
          </a:xfrm>
          <a:prstGeom prst="roundRect">
            <a:avLst>
              <a:gd name="adj" fmla="val 9091"/>
            </a:avLst>
          </a:prstGeom>
          <a:solidFill>
            <a:srgbClr val="26404F"/>
          </a:solidFill>
          <a:ln/>
        </p:spPr>
      </p:sp>
      <p:sp>
        <p:nvSpPr>
          <p:cNvPr id="34" name="Shape 32"/>
          <p:cNvSpPr/>
          <p:nvPr/>
        </p:nvSpPr>
        <p:spPr>
          <a:xfrm>
            <a:off x="10081260" y="2647188"/>
            <a:ext cx="402336" cy="402336"/>
          </a:xfrm>
          <a:prstGeom prst="roundRect">
            <a:avLst>
              <a:gd name="adj" fmla="val 9091"/>
            </a:avLst>
          </a:prstGeom>
          <a:solidFill>
            <a:srgbClr val="14212C"/>
          </a:solidFill>
          <a:ln/>
        </p:spPr>
      </p:sp>
      <p:sp>
        <p:nvSpPr>
          <p:cNvPr id="35" name="Shape 33"/>
          <p:cNvSpPr/>
          <p:nvPr/>
        </p:nvSpPr>
        <p:spPr>
          <a:xfrm>
            <a:off x="10552176" y="2647188"/>
            <a:ext cx="402336" cy="402336"/>
          </a:xfrm>
          <a:prstGeom prst="roundRect">
            <a:avLst>
              <a:gd name="adj" fmla="val 9091"/>
            </a:avLst>
          </a:prstGeom>
          <a:solidFill>
            <a:srgbClr val="26404F"/>
          </a:solidFill>
          <a:ln/>
        </p:spPr>
      </p:sp>
      <p:sp>
        <p:nvSpPr>
          <p:cNvPr id="36" name="Shape 34"/>
          <p:cNvSpPr/>
          <p:nvPr/>
        </p:nvSpPr>
        <p:spPr>
          <a:xfrm>
            <a:off x="11023092" y="2647188"/>
            <a:ext cx="402336" cy="402336"/>
          </a:xfrm>
          <a:prstGeom prst="roundRect">
            <a:avLst>
              <a:gd name="adj" fmla="val 9091"/>
            </a:avLst>
          </a:prstGeom>
          <a:solidFill>
            <a:srgbClr val="26404F"/>
          </a:solidFill>
          <a:ln/>
        </p:spPr>
      </p:sp>
      <p:sp>
        <p:nvSpPr>
          <p:cNvPr id="37" name="Shape 35"/>
          <p:cNvSpPr/>
          <p:nvPr/>
        </p:nvSpPr>
        <p:spPr>
          <a:xfrm>
            <a:off x="11558016" y="2711196"/>
            <a:ext cx="274320" cy="274320"/>
          </a:xfrm>
          <a:prstGeom prst="ellipse">
            <a:avLst/>
          </a:prstGeom>
          <a:solidFill>
            <a:srgbClr val="F2A104"/>
          </a:solidFill>
          <a:ln/>
        </p:spPr>
      </p:sp>
      <p:sp>
        <p:nvSpPr>
          <p:cNvPr id="38" name="Shape 36"/>
          <p:cNvSpPr/>
          <p:nvPr/>
        </p:nvSpPr>
        <p:spPr>
          <a:xfrm>
            <a:off x="7726680" y="3118104"/>
            <a:ext cx="402336" cy="402336"/>
          </a:xfrm>
          <a:prstGeom prst="roundRect">
            <a:avLst>
              <a:gd name="adj" fmla="val 9091"/>
            </a:avLst>
          </a:prstGeom>
          <a:solidFill>
            <a:srgbClr val="26404F"/>
          </a:solidFill>
          <a:ln/>
        </p:spPr>
      </p:sp>
      <p:sp>
        <p:nvSpPr>
          <p:cNvPr id="39" name="Shape 37"/>
          <p:cNvSpPr/>
          <p:nvPr/>
        </p:nvSpPr>
        <p:spPr>
          <a:xfrm>
            <a:off x="8197596" y="3118104"/>
            <a:ext cx="402336" cy="402336"/>
          </a:xfrm>
          <a:prstGeom prst="roundRect">
            <a:avLst>
              <a:gd name="adj" fmla="val 9091"/>
            </a:avLst>
          </a:prstGeom>
          <a:solidFill>
            <a:srgbClr val="26404F"/>
          </a:solidFill>
          <a:ln/>
        </p:spPr>
      </p:sp>
      <p:sp>
        <p:nvSpPr>
          <p:cNvPr id="40" name="Shape 38"/>
          <p:cNvSpPr/>
          <p:nvPr/>
        </p:nvSpPr>
        <p:spPr>
          <a:xfrm>
            <a:off x="8668512" y="3118104"/>
            <a:ext cx="402336" cy="402336"/>
          </a:xfrm>
          <a:prstGeom prst="roundRect">
            <a:avLst>
              <a:gd name="adj" fmla="val 9091"/>
            </a:avLst>
          </a:prstGeom>
          <a:solidFill>
            <a:srgbClr val="14212C"/>
          </a:solidFill>
          <a:ln/>
        </p:spPr>
      </p:sp>
      <p:sp>
        <p:nvSpPr>
          <p:cNvPr id="41" name="Shape 39"/>
          <p:cNvSpPr/>
          <p:nvPr/>
        </p:nvSpPr>
        <p:spPr>
          <a:xfrm>
            <a:off x="9139428" y="3118104"/>
            <a:ext cx="402336" cy="402336"/>
          </a:xfrm>
          <a:prstGeom prst="roundRect">
            <a:avLst>
              <a:gd name="adj" fmla="val 9091"/>
            </a:avLst>
          </a:prstGeom>
          <a:solidFill>
            <a:srgbClr val="26404F"/>
          </a:solidFill>
          <a:ln/>
        </p:spPr>
      </p:sp>
      <p:sp>
        <p:nvSpPr>
          <p:cNvPr id="42" name="Shape 40"/>
          <p:cNvSpPr/>
          <p:nvPr/>
        </p:nvSpPr>
        <p:spPr>
          <a:xfrm>
            <a:off x="9610344" y="3118104"/>
            <a:ext cx="402336" cy="402336"/>
          </a:xfrm>
          <a:prstGeom prst="roundRect">
            <a:avLst>
              <a:gd name="adj" fmla="val 9091"/>
            </a:avLst>
          </a:prstGeom>
          <a:solidFill>
            <a:srgbClr val="26404F"/>
          </a:solidFill>
          <a:ln/>
        </p:spPr>
      </p:sp>
      <p:sp>
        <p:nvSpPr>
          <p:cNvPr id="43" name="Shape 41"/>
          <p:cNvSpPr/>
          <p:nvPr/>
        </p:nvSpPr>
        <p:spPr>
          <a:xfrm>
            <a:off x="10081260" y="3118104"/>
            <a:ext cx="402336" cy="402336"/>
          </a:xfrm>
          <a:prstGeom prst="roundRect">
            <a:avLst>
              <a:gd name="adj" fmla="val 9091"/>
            </a:avLst>
          </a:prstGeom>
          <a:solidFill>
            <a:srgbClr val="14212C"/>
          </a:solidFill>
          <a:ln/>
        </p:spPr>
      </p:sp>
      <p:sp>
        <p:nvSpPr>
          <p:cNvPr id="44" name="Shape 42"/>
          <p:cNvSpPr/>
          <p:nvPr/>
        </p:nvSpPr>
        <p:spPr>
          <a:xfrm>
            <a:off x="10552176" y="3118104"/>
            <a:ext cx="402336" cy="402336"/>
          </a:xfrm>
          <a:prstGeom prst="roundRect">
            <a:avLst>
              <a:gd name="adj" fmla="val 9091"/>
            </a:avLst>
          </a:prstGeom>
          <a:solidFill>
            <a:srgbClr val="26404F"/>
          </a:solidFill>
          <a:ln/>
        </p:spPr>
      </p:sp>
      <p:sp>
        <p:nvSpPr>
          <p:cNvPr id="45" name="Shape 43"/>
          <p:cNvSpPr/>
          <p:nvPr/>
        </p:nvSpPr>
        <p:spPr>
          <a:xfrm>
            <a:off x="11023092" y="3118104"/>
            <a:ext cx="402336" cy="402336"/>
          </a:xfrm>
          <a:prstGeom prst="roundRect">
            <a:avLst>
              <a:gd name="adj" fmla="val 9091"/>
            </a:avLst>
          </a:prstGeom>
          <a:solidFill>
            <a:srgbClr val="26404F"/>
          </a:solidFill>
          <a:ln/>
        </p:spPr>
      </p:sp>
      <p:sp>
        <p:nvSpPr>
          <p:cNvPr id="46" name="Shape 44"/>
          <p:cNvSpPr/>
          <p:nvPr/>
        </p:nvSpPr>
        <p:spPr>
          <a:xfrm>
            <a:off x="11494008" y="3118104"/>
            <a:ext cx="402336" cy="402336"/>
          </a:xfrm>
          <a:prstGeom prst="roundRect">
            <a:avLst>
              <a:gd name="adj" fmla="val 9091"/>
            </a:avLst>
          </a:prstGeom>
          <a:solidFill>
            <a:srgbClr val="14212C"/>
          </a:solidFill>
          <a:ln/>
        </p:spPr>
      </p:sp>
      <p:sp>
        <p:nvSpPr>
          <p:cNvPr id="47" name="Shape 45"/>
          <p:cNvSpPr/>
          <p:nvPr/>
        </p:nvSpPr>
        <p:spPr>
          <a:xfrm>
            <a:off x="7726680" y="3589020"/>
            <a:ext cx="402336" cy="402336"/>
          </a:xfrm>
          <a:prstGeom prst="roundRect">
            <a:avLst>
              <a:gd name="adj" fmla="val 9091"/>
            </a:avLst>
          </a:prstGeom>
          <a:solidFill>
            <a:srgbClr val="14212C"/>
          </a:solidFill>
          <a:ln/>
        </p:spPr>
      </p:sp>
      <p:sp>
        <p:nvSpPr>
          <p:cNvPr id="48" name="Shape 46"/>
          <p:cNvSpPr/>
          <p:nvPr/>
        </p:nvSpPr>
        <p:spPr>
          <a:xfrm>
            <a:off x="8261604" y="3653028"/>
            <a:ext cx="274320" cy="274320"/>
          </a:xfrm>
          <a:prstGeom prst="ellipse">
            <a:avLst/>
          </a:prstGeom>
          <a:solidFill>
            <a:srgbClr val="F2A104"/>
          </a:solidFill>
          <a:ln/>
        </p:spPr>
      </p:sp>
      <p:sp>
        <p:nvSpPr>
          <p:cNvPr id="49" name="Shape 47"/>
          <p:cNvSpPr/>
          <p:nvPr/>
        </p:nvSpPr>
        <p:spPr>
          <a:xfrm>
            <a:off x="8668512" y="3589020"/>
            <a:ext cx="402336" cy="402336"/>
          </a:xfrm>
          <a:prstGeom prst="roundRect">
            <a:avLst>
              <a:gd name="adj" fmla="val 9091"/>
            </a:avLst>
          </a:prstGeom>
          <a:solidFill>
            <a:srgbClr val="14212C"/>
          </a:solidFill>
          <a:ln/>
        </p:spPr>
      </p:sp>
      <p:sp>
        <p:nvSpPr>
          <p:cNvPr id="50" name="Shape 48"/>
          <p:cNvSpPr/>
          <p:nvPr/>
        </p:nvSpPr>
        <p:spPr>
          <a:xfrm>
            <a:off x="9139428" y="3589020"/>
            <a:ext cx="402336" cy="402336"/>
          </a:xfrm>
          <a:prstGeom prst="roundRect">
            <a:avLst>
              <a:gd name="adj" fmla="val 9091"/>
            </a:avLst>
          </a:prstGeom>
          <a:solidFill>
            <a:srgbClr val="14212C"/>
          </a:solidFill>
          <a:ln/>
        </p:spPr>
      </p:sp>
      <p:sp>
        <p:nvSpPr>
          <p:cNvPr id="51" name="Shape 49"/>
          <p:cNvSpPr/>
          <p:nvPr/>
        </p:nvSpPr>
        <p:spPr>
          <a:xfrm>
            <a:off x="9610344" y="3589020"/>
            <a:ext cx="402336" cy="402336"/>
          </a:xfrm>
          <a:prstGeom prst="roundRect">
            <a:avLst>
              <a:gd name="adj" fmla="val 9091"/>
            </a:avLst>
          </a:prstGeom>
          <a:solidFill>
            <a:srgbClr val="14212C"/>
          </a:solidFill>
          <a:ln/>
        </p:spPr>
      </p:sp>
      <p:sp>
        <p:nvSpPr>
          <p:cNvPr id="52" name="Shape 50"/>
          <p:cNvSpPr/>
          <p:nvPr/>
        </p:nvSpPr>
        <p:spPr>
          <a:xfrm>
            <a:off x="10081260" y="3589020"/>
            <a:ext cx="402336" cy="402336"/>
          </a:xfrm>
          <a:prstGeom prst="roundRect">
            <a:avLst>
              <a:gd name="adj" fmla="val 9091"/>
            </a:avLst>
          </a:prstGeom>
          <a:solidFill>
            <a:srgbClr val="14212C"/>
          </a:solidFill>
          <a:ln/>
        </p:spPr>
      </p:sp>
      <p:sp>
        <p:nvSpPr>
          <p:cNvPr id="53" name="Shape 51"/>
          <p:cNvSpPr/>
          <p:nvPr/>
        </p:nvSpPr>
        <p:spPr>
          <a:xfrm>
            <a:off x="10552176" y="3589020"/>
            <a:ext cx="402336" cy="402336"/>
          </a:xfrm>
          <a:prstGeom prst="roundRect">
            <a:avLst>
              <a:gd name="adj" fmla="val 9091"/>
            </a:avLst>
          </a:prstGeom>
          <a:solidFill>
            <a:srgbClr val="14212C"/>
          </a:solidFill>
          <a:ln/>
        </p:spPr>
      </p:sp>
      <p:sp>
        <p:nvSpPr>
          <p:cNvPr id="54" name="Shape 52"/>
          <p:cNvSpPr/>
          <p:nvPr/>
        </p:nvSpPr>
        <p:spPr>
          <a:xfrm>
            <a:off x="11023092" y="3589020"/>
            <a:ext cx="402336" cy="402336"/>
          </a:xfrm>
          <a:prstGeom prst="roundRect">
            <a:avLst>
              <a:gd name="adj" fmla="val 9091"/>
            </a:avLst>
          </a:prstGeom>
          <a:solidFill>
            <a:srgbClr val="14212C"/>
          </a:solidFill>
          <a:ln/>
        </p:spPr>
      </p:sp>
      <p:sp>
        <p:nvSpPr>
          <p:cNvPr id="55" name="Shape 53"/>
          <p:cNvSpPr/>
          <p:nvPr/>
        </p:nvSpPr>
        <p:spPr>
          <a:xfrm>
            <a:off x="11494008" y="3589020"/>
            <a:ext cx="402336" cy="402336"/>
          </a:xfrm>
          <a:prstGeom prst="roundRect">
            <a:avLst>
              <a:gd name="adj" fmla="val 9091"/>
            </a:avLst>
          </a:prstGeom>
          <a:solidFill>
            <a:srgbClr val="14212C"/>
          </a:solidFill>
          <a:ln/>
        </p:spPr>
      </p:sp>
      <p:sp>
        <p:nvSpPr>
          <p:cNvPr id="56" name="Shape 54"/>
          <p:cNvSpPr/>
          <p:nvPr/>
        </p:nvSpPr>
        <p:spPr>
          <a:xfrm>
            <a:off x="7726680" y="4059936"/>
            <a:ext cx="402336" cy="402336"/>
          </a:xfrm>
          <a:prstGeom prst="roundRect">
            <a:avLst>
              <a:gd name="adj" fmla="val 9091"/>
            </a:avLst>
          </a:prstGeom>
          <a:solidFill>
            <a:srgbClr val="26404F"/>
          </a:solidFill>
          <a:ln/>
        </p:spPr>
      </p:sp>
      <p:sp>
        <p:nvSpPr>
          <p:cNvPr id="57" name="Shape 55"/>
          <p:cNvSpPr/>
          <p:nvPr/>
        </p:nvSpPr>
        <p:spPr>
          <a:xfrm>
            <a:off x="8197596" y="4059936"/>
            <a:ext cx="402336" cy="402336"/>
          </a:xfrm>
          <a:prstGeom prst="roundRect">
            <a:avLst>
              <a:gd name="adj" fmla="val 9091"/>
            </a:avLst>
          </a:prstGeom>
          <a:solidFill>
            <a:srgbClr val="26404F"/>
          </a:solidFill>
          <a:ln/>
        </p:spPr>
      </p:sp>
      <p:sp>
        <p:nvSpPr>
          <p:cNvPr id="58" name="Shape 56"/>
          <p:cNvSpPr/>
          <p:nvPr/>
        </p:nvSpPr>
        <p:spPr>
          <a:xfrm>
            <a:off x="8668512" y="4059936"/>
            <a:ext cx="402336" cy="402336"/>
          </a:xfrm>
          <a:prstGeom prst="roundRect">
            <a:avLst>
              <a:gd name="adj" fmla="val 9091"/>
            </a:avLst>
          </a:prstGeom>
          <a:solidFill>
            <a:srgbClr val="14212C"/>
          </a:solidFill>
          <a:ln/>
        </p:spPr>
      </p:sp>
      <p:sp>
        <p:nvSpPr>
          <p:cNvPr id="59" name="Shape 57"/>
          <p:cNvSpPr/>
          <p:nvPr/>
        </p:nvSpPr>
        <p:spPr>
          <a:xfrm>
            <a:off x="9139428" y="4059936"/>
            <a:ext cx="402336" cy="402336"/>
          </a:xfrm>
          <a:prstGeom prst="roundRect">
            <a:avLst>
              <a:gd name="adj" fmla="val 9091"/>
            </a:avLst>
          </a:prstGeom>
          <a:solidFill>
            <a:srgbClr val="26404F"/>
          </a:solidFill>
          <a:ln/>
        </p:spPr>
      </p:sp>
      <p:sp>
        <p:nvSpPr>
          <p:cNvPr id="60" name="Shape 58"/>
          <p:cNvSpPr/>
          <p:nvPr/>
        </p:nvSpPr>
        <p:spPr>
          <a:xfrm>
            <a:off x="9610344" y="4059936"/>
            <a:ext cx="402336" cy="402336"/>
          </a:xfrm>
          <a:prstGeom prst="roundRect">
            <a:avLst>
              <a:gd name="adj" fmla="val 9091"/>
            </a:avLst>
          </a:prstGeom>
          <a:solidFill>
            <a:srgbClr val="26404F"/>
          </a:solidFill>
          <a:ln/>
        </p:spPr>
      </p:sp>
      <p:sp>
        <p:nvSpPr>
          <p:cNvPr id="61" name="Shape 59"/>
          <p:cNvSpPr/>
          <p:nvPr/>
        </p:nvSpPr>
        <p:spPr>
          <a:xfrm>
            <a:off x="10145268" y="4123944"/>
            <a:ext cx="274320" cy="274320"/>
          </a:xfrm>
          <a:prstGeom prst="ellipse">
            <a:avLst/>
          </a:prstGeom>
          <a:solidFill>
            <a:srgbClr val="F2A104"/>
          </a:solidFill>
          <a:ln/>
        </p:spPr>
      </p:sp>
      <p:sp>
        <p:nvSpPr>
          <p:cNvPr id="62" name="Shape 60"/>
          <p:cNvSpPr/>
          <p:nvPr/>
        </p:nvSpPr>
        <p:spPr>
          <a:xfrm>
            <a:off x="10552176" y="4059936"/>
            <a:ext cx="402336" cy="402336"/>
          </a:xfrm>
          <a:prstGeom prst="roundRect">
            <a:avLst>
              <a:gd name="adj" fmla="val 9091"/>
            </a:avLst>
          </a:prstGeom>
          <a:solidFill>
            <a:srgbClr val="26404F"/>
          </a:solidFill>
          <a:ln/>
        </p:spPr>
      </p:sp>
      <p:sp>
        <p:nvSpPr>
          <p:cNvPr id="63" name="Shape 61"/>
          <p:cNvSpPr/>
          <p:nvPr/>
        </p:nvSpPr>
        <p:spPr>
          <a:xfrm>
            <a:off x="11023092" y="4059936"/>
            <a:ext cx="402336" cy="402336"/>
          </a:xfrm>
          <a:prstGeom prst="roundRect">
            <a:avLst>
              <a:gd name="adj" fmla="val 9091"/>
            </a:avLst>
          </a:prstGeom>
          <a:solidFill>
            <a:srgbClr val="26404F"/>
          </a:solidFill>
          <a:ln/>
        </p:spPr>
      </p:sp>
      <p:sp>
        <p:nvSpPr>
          <p:cNvPr id="64" name="Shape 62"/>
          <p:cNvSpPr/>
          <p:nvPr/>
        </p:nvSpPr>
        <p:spPr>
          <a:xfrm>
            <a:off x="11494008" y="4059936"/>
            <a:ext cx="402336" cy="402336"/>
          </a:xfrm>
          <a:prstGeom prst="roundRect">
            <a:avLst>
              <a:gd name="adj" fmla="val 9091"/>
            </a:avLst>
          </a:prstGeom>
          <a:solidFill>
            <a:srgbClr val="14212C"/>
          </a:solidFill>
          <a:ln/>
        </p:spPr>
      </p:sp>
      <p:sp>
        <p:nvSpPr>
          <p:cNvPr id="65" name="Shape 63"/>
          <p:cNvSpPr/>
          <p:nvPr/>
        </p:nvSpPr>
        <p:spPr>
          <a:xfrm>
            <a:off x="7726680" y="4530852"/>
            <a:ext cx="402336" cy="402336"/>
          </a:xfrm>
          <a:prstGeom prst="roundRect">
            <a:avLst>
              <a:gd name="adj" fmla="val 9091"/>
            </a:avLst>
          </a:prstGeom>
          <a:solidFill>
            <a:srgbClr val="26404F"/>
          </a:solidFill>
          <a:ln/>
        </p:spPr>
      </p:sp>
      <p:sp>
        <p:nvSpPr>
          <p:cNvPr id="66" name="Shape 64"/>
          <p:cNvSpPr/>
          <p:nvPr/>
        </p:nvSpPr>
        <p:spPr>
          <a:xfrm>
            <a:off x="8197596" y="4530852"/>
            <a:ext cx="402336" cy="402336"/>
          </a:xfrm>
          <a:prstGeom prst="roundRect">
            <a:avLst>
              <a:gd name="adj" fmla="val 9091"/>
            </a:avLst>
          </a:prstGeom>
          <a:solidFill>
            <a:srgbClr val="26404F"/>
          </a:solidFill>
          <a:ln/>
        </p:spPr>
      </p:sp>
      <p:sp>
        <p:nvSpPr>
          <p:cNvPr id="67" name="Shape 65"/>
          <p:cNvSpPr/>
          <p:nvPr/>
        </p:nvSpPr>
        <p:spPr>
          <a:xfrm>
            <a:off x="8732520" y="4594860"/>
            <a:ext cx="274320" cy="274320"/>
          </a:xfrm>
          <a:prstGeom prst="ellipse">
            <a:avLst/>
          </a:prstGeom>
          <a:solidFill>
            <a:srgbClr val="F2A104"/>
          </a:solidFill>
          <a:ln/>
        </p:spPr>
      </p:sp>
      <p:sp>
        <p:nvSpPr>
          <p:cNvPr id="68" name="Shape 66"/>
          <p:cNvSpPr/>
          <p:nvPr/>
        </p:nvSpPr>
        <p:spPr>
          <a:xfrm>
            <a:off x="9139428" y="4530852"/>
            <a:ext cx="402336" cy="402336"/>
          </a:xfrm>
          <a:prstGeom prst="roundRect">
            <a:avLst>
              <a:gd name="adj" fmla="val 9091"/>
            </a:avLst>
          </a:prstGeom>
          <a:solidFill>
            <a:srgbClr val="26404F"/>
          </a:solidFill>
          <a:ln/>
        </p:spPr>
      </p:sp>
      <p:sp>
        <p:nvSpPr>
          <p:cNvPr id="69" name="Shape 67"/>
          <p:cNvSpPr/>
          <p:nvPr/>
        </p:nvSpPr>
        <p:spPr>
          <a:xfrm>
            <a:off x="9610344" y="4530852"/>
            <a:ext cx="402336" cy="402336"/>
          </a:xfrm>
          <a:prstGeom prst="roundRect">
            <a:avLst>
              <a:gd name="adj" fmla="val 9091"/>
            </a:avLst>
          </a:prstGeom>
          <a:solidFill>
            <a:srgbClr val="26404F"/>
          </a:solidFill>
          <a:ln/>
        </p:spPr>
      </p:sp>
      <p:sp>
        <p:nvSpPr>
          <p:cNvPr id="70" name="Shape 68"/>
          <p:cNvSpPr/>
          <p:nvPr/>
        </p:nvSpPr>
        <p:spPr>
          <a:xfrm>
            <a:off x="10081260" y="4530852"/>
            <a:ext cx="402336" cy="402336"/>
          </a:xfrm>
          <a:prstGeom prst="roundRect">
            <a:avLst>
              <a:gd name="adj" fmla="val 9091"/>
            </a:avLst>
          </a:prstGeom>
          <a:solidFill>
            <a:srgbClr val="14212C"/>
          </a:solidFill>
          <a:ln/>
        </p:spPr>
      </p:sp>
      <p:sp>
        <p:nvSpPr>
          <p:cNvPr id="71" name="Shape 69"/>
          <p:cNvSpPr/>
          <p:nvPr/>
        </p:nvSpPr>
        <p:spPr>
          <a:xfrm>
            <a:off x="10552176" y="4530852"/>
            <a:ext cx="402336" cy="402336"/>
          </a:xfrm>
          <a:prstGeom prst="roundRect">
            <a:avLst>
              <a:gd name="adj" fmla="val 9091"/>
            </a:avLst>
          </a:prstGeom>
          <a:solidFill>
            <a:srgbClr val="26404F"/>
          </a:solidFill>
          <a:ln/>
        </p:spPr>
      </p:sp>
      <p:sp>
        <p:nvSpPr>
          <p:cNvPr id="72" name="Shape 70"/>
          <p:cNvSpPr/>
          <p:nvPr/>
        </p:nvSpPr>
        <p:spPr>
          <a:xfrm>
            <a:off x="11023092" y="4530852"/>
            <a:ext cx="402336" cy="402336"/>
          </a:xfrm>
          <a:prstGeom prst="roundRect">
            <a:avLst>
              <a:gd name="adj" fmla="val 9091"/>
            </a:avLst>
          </a:prstGeom>
          <a:solidFill>
            <a:srgbClr val="26404F"/>
          </a:solidFill>
          <a:ln/>
        </p:spPr>
      </p:sp>
      <p:sp>
        <p:nvSpPr>
          <p:cNvPr id="73" name="Shape 71"/>
          <p:cNvSpPr/>
          <p:nvPr/>
        </p:nvSpPr>
        <p:spPr>
          <a:xfrm>
            <a:off x="11494008" y="4530852"/>
            <a:ext cx="402336" cy="402336"/>
          </a:xfrm>
          <a:prstGeom prst="roundRect">
            <a:avLst>
              <a:gd name="adj" fmla="val 9091"/>
            </a:avLst>
          </a:prstGeom>
          <a:solidFill>
            <a:srgbClr val="14212C"/>
          </a:solidFill>
          <a:ln/>
        </p:spPr>
      </p:sp>
      <p:sp>
        <p:nvSpPr>
          <p:cNvPr id="74" name="Text 72"/>
          <p:cNvSpPr txBox="1"/>
          <p:nvPr/>
        </p:nvSpPr>
        <p:spPr>
          <a:xfrm>
            <a:off x="548640" y="1371600"/>
            <a:ext cx="6766560" cy="274320"/>
          </a:xfrm>
          <a:prstGeom prst="rect">
            <a:avLst/>
          </a:prstGeom>
          <a:noFill/>
          <a:ln/>
        </p:spPr>
        <p:txBody>
          <a:bodyPr wrap="square" lIns="0" tIns="0" rIns="0" bIns="0" rtlCol="0" anchor="ctr"/>
          <a:lstStyle/>
          <a:p>
            <a:pPr indent="0" marL="0">
              <a:buNone/>
            </a:pPr>
            <a:r>
              <a:rPr lang="en-US" sz="1200" b="1" spc="240" kern="0" dirty="0">
                <a:solidFill>
                  <a:srgbClr val="F2A104"/>
                </a:solidFill>
                <a:latin typeface="Calibri" pitchFamily="34" charset="0"/>
                <a:ea typeface="Calibri" pitchFamily="34" charset="-122"/>
                <a:cs typeface="Calibri" pitchFamily="34" charset="-120"/>
              </a:rPr>
              <a:t>MULTI-AGENT PATH FINDING  ·  PROJECT REVIEW</a:t>
            </a:r>
            <a:endParaRPr lang="en-US" sz="1200" dirty="0"/>
          </a:p>
        </p:txBody>
      </p:sp>
      <p:sp>
        <p:nvSpPr>
          <p:cNvPr id="75" name="Text 73"/>
          <p:cNvSpPr txBox="1"/>
          <p:nvPr/>
        </p:nvSpPr>
        <p:spPr>
          <a:xfrm>
            <a:off x="548640" y="1700784"/>
            <a:ext cx="6766560" cy="9144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AisleFlow</a:t>
            </a:r>
            <a:endParaRPr lang="en-US" sz="6000" dirty="0"/>
          </a:p>
        </p:txBody>
      </p:sp>
      <p:sp>
        <p:nvSpPr>
          <p:cNvPr id="76" name="Text 74"/>
          <p:cNvSpPr txBox="1"/>
          <p:nvPr/>
        </p:nvSpPr>
        <p:spPr>
          <a:xfrm>
            <a:off x="548640" y="2697480"/>
            <a:ext cx="6537960" cy="1097280"/>
          </a:xfrm>
          <a:prstGeom prst="rect">
            <a:avLst/>
          </a:prstGeom>
          <a:noFill/>
          <a:ln/>
        </p:spPr>
        <p:txBody>
          <a:bodyPr wrap="square" lIns="0" tIns="0" rIns="0" bIns="0" rtlCol="0" anchor="ctr"/>
          <a:lstStyle/>
          <a:p>
            <a:pPr indent="0" marL="0">
              <a:lnSpc>
                <a:spcPts val="2400"/>
              </a:lnSpc>
              <a:buNone/>
            </a:pPr>
            <a:r>
              <a:rPr lang="en-US" sz="1650" dirty="0">
                <a:solidFill>
                  <a:srgbClr val="BFD0DD"/>
                </a:solidFill>
                <a:latin typeface="Calibri" pitchFamily="34" charset="0"/>
                <a:ea typeface="Calibri" pitchFamily="34" charset="-122"/>
                <a:cs typeface="Calibri" pitchFamily="34" charset="-120"/>
              </a:rPr>
              <a:t>Forty years of multi-agent path finding, the warehouse problem it grew into, and what a directional, congestion-aware lifelong planner actually bought us.</a:t>
            </a:r>
            <a:endParaRPr lang="en-US" sz="1650" dirty="0"/>
          </a:p>
        </p:txBody>
      </p:sp>
      <p:sp>
        <p:nvSpPr>
          <p:cNvPr id="77" name="Text 75"/>
          <p:cNvSpPr txBox="1"/>
          <p:nvPr/>
        </p:nvSpPr>
        <p:spPr>
          <a:xfrm>
            <a:off x="548640" y="4617720"/>
            <a:ext cx="1005840" cy="658368"/>
          </a:xfrm>
          <a:prstGeom prst="rect">
            <a:avLst/>
          </a:prstGeom>
          <a:noFill/>
          <a:ln/>
        </p:spPr>
        <p:txBody>
          <a:bodyPr wrap="square" lIns="0" tIns="0" rIns="0" bIns="0" rtlCol="0" anchor="ctr"/>
          <a:lstStyle/>
          <a:p>
            <a:pPr indent="0" marL="0">
              <a:buNone/>
            </a:pPr>
            <a:r>
              <a:rPr lang="en-US" sz="4200" b="1" dirty="0">
                <a:solidFill>
                  <a:srgbClr val="F2A104"/>
                </a:solidFill>
                <a:latin typeface="Cambria" pitchFamily="34" charset="0"/>
                <a:ea typeface="Cambria" pitchFamily="34" charset="-122"/>
                <a:cs typeface="Cambria" pitchFamily="34" charset="-120"/>
              </a:rPr>
              <a:t>5</a:t>
            </a:r>
            <a:endParaRPr lang="en-US" sz="4200" dirty="0"/>
          </a:p>
        </p:txBody>
      </p:sp>
      <p:sp>
        <p:nvSpPr>
          <p:cNvPr id="78" name="Text 76"/>
          <p:cNvSpPr txBox="1"/>
          <p:nvPr/>
        </p:nvSpPr>
        <p:spPr>
          <a:xfrm>
            <a:off x="1572768" y="4736592"/>
            <a:ext cx="1143000" cy="548640"/>
          </a:xfrm>
          <a:prstGeom prst="rect">
            <a:avLst/>
          </a:prstGeom>
          <a:noFill/>
          <a:ln/>
        </p:spPr>
        <p:txBody>
          <a:bodyPr wrap="square" lIns="0" tIns="0" rIns="0" bIns="0" rtlCol="0" anchor="ctr"/>
          <a:lstStyle/>
          <a:p>
            <a:pPr indent="0" marL="0">
              <a:lnSpc>
                <a:spcPts val="1300"/>
              </a:lnSpc>
              <a:buNone/>
            </a:pPr>
            <a:r>
              <a:rPr lang="en-US" sz="1150" dirty="0">
                <a:solidFill>
                  <a:srgbClr val="9FB3C2"/>
                </a:solidFill>
                <a:latin typeface="Calibri" pitchFamily="34" charset="0"/>
                <a:ea typeface="Calibri" pitchFamily="34" charset="-122"/>
                <a:cs typeface="Calibri" pitchFamily="34" charset="-120"/>
              </a:rPr>
              <a:t>planners</a:t>
            </a:r>
            <a:endParaRPr lang="en-US" sz="1150" dirty="0"/>
          </a:p>
          <a:p>
            <a:pPr indent="0" marL="0">
              <a:lnSpc>
                <a:spcPts val="1300"/>
              </a:lnSpc>
              <a:buNone/>
            </a:pPr>
            <a:r>
              <a:rPr lang="en-US" sz="1150" dirty="0">
                <a:solidFill>
                  <a:srgbClr val="9FB3C2"/>
                </a:solidFill>
                <a:latin typeface="Calibri" pitchFamily="34" charset="0"/>
                <a:ea typeface="Calibri" pitchFamily="34" charset="-122"/>
                <a:cs typeface="Calibri" pitchFamily="34" charset="-120"/>
              </a:rPr>
              <a:t>compared</a:t>
            </a:r>
            <a:endParaRPr lang="en-US" sz="1150" dirty="0"/>
          </a:p>
        </p:txBody>
      </p:sp>
      <p:sp>
        <p:nvSpPr>
          <p:cNvPr id="79" name="Text 77"/>
          <p:cNvSpPr txBox="1"/>
          <p:nvPr/>
        </p:nvSpPr>
        <p:spPr>
          <a:xfrm>
            <a:off x="2761488" y="4617720"/>
            <a:ext cx="1005840" cy="658368"/>
          </a:xfrm>
          <a:prstGeom prst="rect">
            <a:avLst/>
          </a:prstGeom>
          <a:noFill/>
          <a:ln/>
        </p:spPr>
        <p:txBody>
          <a:bodyPr wrap="square" lIns="0" tIns="0" rIns="0" bIns="0" rtlCol="0" anchor="ctr"/>
          <a:lstStyle/>
          <a:p>
            <a:pPr indent="0" marL="0">
              <a:buNone/>
            </a:pPr>
            <a:r>
              <a:rPr lang="en-US" sz="4200" b="1" dirty="0">
                <a:solidFill>
                  <a:srgbClr val="F2A104"/>
                </a:solidFill>
                <a:latin typeface="Cambria" pitchFamily="34" charset="0"/>
                <a:ea typeface="Cambria" pitchFamily="34" charset="-122"/>
                <a:cs typeface="Cambria" pitchFamily="34" charset="-120"/>
              </a:rPr>
              <a:t>179</a:t>
            </a:r>
            <a:endParaRPr lang="en-US" sz="4200" dirty="0"/>
          </a:p>
        </p:txBody>
      </p:sp>
      <p:sp>
        <p:nvSpPr>
          <p:cNvPr id="80" name="Text 78"/>
          <p:cNvSpPr txBox="1"/>
          <p:nvPr/>
        </p:nvSpPr>
        <p:spPr>
          <a:xfrm>
            <a:off x="3785616" y="4736592"/>
            <a:ext cx="1143000" cy="548640"/>
          </a:xfrm>
          <a:prstGeom prst="rect">
            <a:avLst/>
          </a:prstGeom>
          <a:noFill/>
          <a:ln/>
        </p:spPr>
        <p:txBody>
          <a:bodyPr wrap="square" lIns="0" tIns="0" rIns="0" bIns="0" rtlCol="0" anchor="ctr"/>
          <a:lstStyle/>
          <a:p>
            <a:pPr indent="0" marL="0">
              <a:lnSpc>
                <a:spcPts val="1300"/>
              </a:lnSpc>
              <a:buNone/>
            </a:pPr>
            <a:r>
              <a:rPr lang="en-US" sz="1150" dirty="0">
                <a:solidFill>
                  <a:srgbClr val="9FB3C2"/>
                </a:solidFill>
                <a:latin typeface="Calibri" pitchFamily="34" charset="0"/>
                <a:ea typeface="Calibri" pitchFamily="34" charset="-122"/>
                <a:cs typeface="Calibri" pitchFamily="34" charset="-120"/>
              </a:rPr>
              <a:t>tests in</a:t>
            </a:r>
            <a:endParaRPr lang="en-US" sz="1150" dirty="0"/>
          </a:p>
          <a:p>
            <a:pPr indent="0" marL="0">
              <a:lnSpc>
                <a:spcPts val="1300"/>
              </a:lnSpc>
              <a:buNone/>
            </a:pPr>
            <a:r>
              <a:rPr lang="en-US" sz="1150" dirty="0">
                <a:solidFill>
                  <a:srgbClr val="9FB3C2"/>
                </a:solidFill>
                <a:latin typeface="Calibri" pitchFamily="34" charset="0"/>
                <a:ea typeface="Calibri" pitchFamily="34" charset="-122"/>
                <a:cs typeface="Calibri" pitchFamily="34" charset="-120"/>
              </a:rPr>
              <a:t>the suite</a:t>
            </a:r>
            <a:endParaRPr lang="en-US" sz="1150" dirty="0"/>
          </a:p>
        </p:txBody>
      </p:sp>
      <p:sp>
        <p:nvSpPr>
          <p:cNvPr id="81" name="Text 79"/>
          <p:cNvSpPr txBox="1"/>
          <p:nvPr/>
        </p:nvSpPr>
        <p:spPr>
          <a:xfrm>
            <a:off x="4974336" y="4617720"/>
            <a:ext cx="1005840" cy="658368"/>
          </a:xfrm>
          <a:prstGeom prst="rect">
            <a:avLst/>
          </a:prstGeom>
          <a:noFill/>
          <a:ln/>
        </p:spPr>
        <p:txBody>
          <a:bodyPr wrap="square" lIns="0" tIns="0" rIns="0" bIns="0" rtlCol="0" anchor="ctr"/>
          <a:lstStyle/>
          <a:p>
            <a:pPr indent="0" marL="0">
              <a:buNone/>
            </a:pPr>
            <a:r>
              <a:rPr lang="en-US" sz="4200" b="1" dirty="0">
                <a:solidFill>
                  <a:srgbClr val="F2A104"/>
                </a:solidFill>
                <a:latin typeface="Cambria" pitchFamily="34" charset="0"/>
                <a:ea typeface="Cambria" pitchFamily="34" charset="-122"/>
                <a:cs typeface="Cambria" pitchFamily="34" charset="-120"/>
              </a:rPr>
              <a:t>0</a:t>
            </a:r>
            <a:endParaRPr lang="en-US" sz="4200" dirty="0"/>
          </a:p>
        </p:txBody>
      </p:sp>
      <p:sp>
        <p:nvSpPr>
          <p:cNvPr id="82" name="Text 80"/>
          <p:cNvSpPr txBox="1"/>
          <p:nvPr/>
        </p:nvSpPr>
        <p:spPr>
          <a:xfrm>
            <a:off x="5998464" y="4736592"/>
            <a:ext cx="1143000" cy="548640"/>
          </a:xfrm>
          <a:prstGeom prst="rect">
            <a:avLst/>
          </a:prstGeom>
          <a:noFill/>
          <a:ln/>
        </p:spPr>
        <p:txBody>
          <a:bodyPr wrap="square" lIns="0" tIns="0" rIns="0" bIns="0" rtlCol="0" anchor="ctr"/>
          <a:lstStyle/>
          <a:p>
            <a:pPr indent="0" marL="0">
              <a:lnSpc>
                <a:spcPts val="1300"/>
              </a:lnSpc>
              <a:buNone/>
            </a:pPr>
            <a:r>
              <a:rPr lang="en-US" sz="1150" dirty="0">
                <a:solidFill>
                  <a:srgbClr val="9FB3C2"/>
                </a:solidFill>
                <a:latin typeface="Calibri" pitchFamily="34" charset="0"/>
                <a:ea typeface="Calibri" pitchFamily="34" charset="-122"/>
                <a:cs typeface="Calibri" pitchFamily="34" charset="-120"/>
              </a:rPr>
              <a:t>runtime</a:t>
            </a:r>
            <a:endParaRPr lang="en-US" sz="1150" dirty="0"/>
          </a:p>
          <a:p>
            <a:pPr indent="0" marL="0">
              <a:lnSpc>
                <a:spcPts val="1300"/>
              </a:lnSpc>
              <a:buNone/>
            </a:pPr>
            <a:r>
              <a:rPr lang="en-US" sz="1150" dirty="0">
                <a:solidFill>
                  <a:srgbClr val="9FB3C2"/>
                </a:solidFill>
                <a:latin typeface="Calibri" pitchFamily="34" charset="0"/>
                <a:ea typeface="Calibri" pitchFamily="34" charset="-122"/>
                <a:cs typeface="Calibri" pitchFamily="34" charset="-120"/>
              </a:rPr>
              <a:t>dependencies</a:t>
            </a:r>
            <a:endParaRPr lang="en-US" sz="1150" dirty="0"/>
          </a:p>
        </p:txBody>
      </p:sp>
      <p:sp>
        <p:nvSpPr>
          <p:cNvPr id="83" name="Text 81"/>
          <p:cNvSpPr txBox="1"/>
          <p:nvPr/>
        </p:nvSpPr>
        <p:spPr>
          <a:xfrm>
            <a:off x="548640" y="5943600"/>
            <a:ext cx="8686800" cy="274320"/>
          </a:xfrm>
          <a:prstGeom prst="rect">
            <a:avLst/>
          </a:prstGeom>
          <a:noFill/>
          <a:ln/>
        </p:spPr>
        <p:txBody>
          <a:bodyPr wrap="square" lIns="0" tIns="0" rIns="0" bIns="0" rtlCol="0" anchor="ctr"/>
          <a:lstStyle/>
          <a:p>
            <a:pPr indent="0" marL="0">
              <a:buNone/>
            </a:pPr>
            <a:r>
              <a:rPr lang="en-US" sz="1200" dirty="0">
                <a:solidFill>
                  <a:srgbClr val="7E93A3"/>
                </a:solidFill>
                <a:latin typeface="Calibri" pitchFamily="34" charset="0"/>
                <a:ea typeface="Calibri" pitchFamily="34" charset="-122"/>
                <a:cs typeface="Calibri" pitchFamily="34" charset="-120"/>
              </a:rPr>
              <a:t>LDA-PIBT  ·  Lifelong Aisle-Managed Priority Inheritance with Backtracking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515600" cy="237744"/>
          </a:xfrm>
          <a:prstGeom prst="rect">
            <a:avLst/>
          </a:prstGeom>
          <a:noFill/>
          <a:ln/>
        </p:spPr>
        <p:txBody>
          <a:bodyPr wrap="square" lIns="0" tIns="0" rIns="0" bIns="0" rtlCol="0" anchor="ctr"/>
          <a:lstStyle/>
          <a:p>
            <a:pPr indent="0" marL="0">
              <a:buNone/>
            </a:pPr>
            <a:r>
              <a:rPr lang="en-US" sz="1150" b="1" spc="220" kern="0" dirty="0">
                <a:solidFill>
                  <a:srgbClr val="F2A104"/>
                </a:solidFill>
                <a:latin typeface="Calibri" pitchFamily="34" charset="0"/>
                <a:ea typeface="Calibri" pitchFamily="34" charset="-122"/>
                <a:cs typeface="Calibri" pitchFamily="34" charset="-120"/>
              </a:rPr>
              <a:t>WHAT THIS DECK COVERS</a:t>
            </a:r>
            <a:endParaRPr lang="en-US" sz="1150" dirty="0"/>
          </a:p>
        </p:txBody>
      </p:sp>
      <p:sp>
        <p:nvSpPr>
          <p:cNvPr id="3" name="Text 1"/>
          <p:cNvSpPr txBox="1"/>
          <p:nvPr/>
        </p:nvSpPr>
        <p:spPr>
          <a:xfrm>
            <a:off x="548640" y="658368"/>
            <a:ext cx="10607040" cy="658368"/>
          </a:xfrm>
          <a:prstGeom prst="rect">
            <a:avLst/>
          </a:prstGeom>
          <a:noFill/>
          <a:ln/>
        </p:spPr>
        <p:txBody>
          <a:bodyPr wrap="square" lIns="0" tIns="0" rIns="0" bIns="0" rtlCol="0" anchor="ctr"/>
          <a:lstStyle/>
          <a:p>
            <a:pPr indent="0" marL="0">
              <a:buNone/>
            </a:pPr>
            <a:r>
              <a:rPr lang="en-US" sz="3400" b="1" dirty="0">
                <a:solidFill>
                  <a:srgbClr val="101C26"/>
                </a:solidFill>
                <a:latin typeface="Cambria" pitchFamily="34" charset="0"/>
                <a:ea typeface="Cambria" pitchFamily="34" charset="-122"/>
                <a:cs typeface="Cambria" pitchFamily="34" charset="-120"/>
              </a:rPr>
              <a:t>Three questions</a:t>
            </a:r>
            <a:endParaRPr lang="en-US" sz="3400" dirty="0"/>
          </a:p>
        </p:txBody>
      </p:sp>
      <p:sp>
        <p:nvSpPr>
          <p:cNvPr id="4" name="Shape 2"/>
          <p:cNvSpPr/>
          <p:nvPr/>
        </p:nvSpPr>
        <p:spPr>
          <a:xfrm>
            <a:off x="548640" y="1691640"/>
            <a:ext cx="3456432" cy="3246120"/>
          </a:xfrm>
          <a:prstGeom prst="roundRect">
            <a:avLst>
              <a:gd name="adj" fmla="val 2535"/>
            </a:avLst>
          </a:prstGeom>
          <a:solidFill>
            <a:srgbClr val="EDF2F6"/>
          </a:solidFill>
          <a:ln w="12700">
            <a:solidFill>
              <a:srgbClr val="EDF2F6"/>
            </a:solidFill>
            <a:prstDash val="solid"/>
          </a:ln>
          <a:effectLst>
            <a:outerShdw sx="100000" sy="100000" kx="0" ky="0" algn="bl" rotWithShape="0" blurRad="127000" dist="25400" dir="5400000">
              <a:srgbClr val="0B1620">
                <a:alpha val="13000"/>
              </a:srgbClr>
            </a:outerShdw>
          </a:effectLst>
        </p:spPr>
      </p:sp>
      <p:sp>
        <p:nvSpPr>
          <p:cNvPr id="5" name="Shape 3"/>
          <p:cNvSpPr/>
          <p:nvPr/>
        </p:nvSpPr>
        <p:spPr>
          <a:xfrm>
            <a:off x="859536" y="2011680"/>
            <a:ext cx="457200" cy="457200"/>
          </a:xfrm>
          <a:prstGeom prst="ellipse">
            <a:avLst/>
          </a:prstGeom>
          <a:solidFill>
            <a:srgbClr val="F2A104"/>
          </a:solidFill>
          <a:ln/>
        </p:spPr>
      </p:sp>
      <p:sp>
        <p:nvSpPr>
          <p:cNvPr id="6" name="Text 4"/>
          <p:cNvSpPr txBox="1"/>
          <p:nvPr/>
        </p:nvSpPr>
        <p:spPr>
          <a:xfrm>
            <a:off x="859536" y="2011680"/>
            <a:ext cx="457200" cy="457200"/>
          </a:xfrm>
          <a:prstGeom prst="rect">
            <a:avLst/>
          </a:prstGeom>
          <a:noFill/>
          <a:ln/>
        </p:spPr>
        <p:txBody>
          <a:bodyPr wrap="square" lIns="0" tIns="0" rIns="0" bIns="0" rtlCol="0" anchor="ctr"/>
          <a:lstStyle/>
          <a:p>
            <a:pPr algn="ctr" indent="0" marL="0">
              <a:buNone/>
            </a:pPr>
            <a:r>
              <a:rPr lang="en-US" sz="1800" b="1" dirty="0">
                <a:solidFill>
                  <a:srgbClr val="101C26"/>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859536" y="2651760"/>
            <a:ext cx="2834640" cy="777240"/>
          </a:xfrm>
          <a:prstGeom prst="rect">
            <a:avLst/>
          </a:prstGeom>
          <a:noFill/>
          <a:ln/>
        </p:spPr>
        <p:txBody>
          <a:bodyPr wrap="square" lIns="0" tIns="0" rIns="0" bIns="0" rtlCol="0" anchor="t"/>
          <a:lstStyle/>
          <a:p>
            <a:pPr indent="0" marL="0">
              <a:lnSpc>
                <a:spcPts val="2400"/>
              </a:lnSpc>
              <a:buNone/>
            </a:pPr>
            <a:r>
              <a:rPr lang="en-US" sz="1900" b="1" dirty="0">
                <a:solidFill>
                  <a:srgbClr val="101C26"/>
                </a:solidFill>
                <a:latin typeface="Cambria" pitchFamily="34" charset="0"/>
                <a:ea typeface="Cambria" pitchFamily="34" charset="-122"/>
                <a:cs typeface="Cambria" pitchFamily="34" charset="-120"/>
              </a:rPr>
              <a:t>Where did MAPF come from?</a:t>
            </a:r>
            <a:endParaRPr lang="en-US" sz="1900" dirty="0"/>
          </a:p>
        </p:txBody>
      </p:sp>
      <p:sp>
        <p:nvSpPr>
          <p:cNvPr id="8" name="Text 6"/>
          <p:cNvSpPr txBox="1"/>
          <p:nvPr/>
        </p:nvSpPr>
        <p:spPr>
          <a:xfrm>
            <a:off x="859536" y="3520440"/>
            <a:ext cx="2834640" cy="1280160"/>
          </a:xfrm>
          <a:prstGeom prst="rect">
            <a:avLst/>
          </a:prstGeom>
          <a:noFill/>
          <a:ln/>
        </p:spPr>
        <p:txBody>
          <a:bodyPr wrap="square" lIns="0" tIns="0" rIns="0" bIns="0" rtlCol="0" anchor="t"/>
          <a:lstStyle/>
          <a:p>
            <a:pPr algn="l" indent="0" marL="0">
              <a:lnSpc>
                <a:spcPts val="1700"/>
              </a:lnSpc>
              <a:buNone/>
            </a:pPr>
            <a:r>
              <a:rPr lang="en-US" sz="1250" dirty="0">
                <a:solidFill>
                  <a:srgbClr val="2C3E4D"/>
                </a:solidFill>
                <a:latin typeface="Calibri" pitchFamily="34" charset="0"/>
                <a:ea typeface="Calibri" pitchFamily="34" charset="-122"/>
                <a:cs typeface="Calibri" pitchFamily="34" charset="-120"/>
              </a:rPr>
              <a:t>From decoupled prioritized planning in 1987 to optimal solvers, and then to the scalable, greedy planners that made thousands of robots tractable.</a:t>
            </a:r>
            <a:endParaRPr lang="en-US" sz="1250" dirty="0"/>
          </a:p>
        </p:txBody>
      </p:sp>
      <p:sp>
        <p:nvSpPr>
          <p:cNvPr id="9" name="Shape 7"/>
          <p:cNvSpPr/>
          <p:nvPr/>
        </p:nvSpPr>
        <p:spPr>
          <a:xfrm>
            <a:off x="4279392" y="1691640"/>
            <a:ext cx="3456432" cy="3246120"/>
          </a:xfrm>
          <a:prstGeom prst="roundRect">
            <a:avLst>
              <a:gd name="adj" fmla="val 2535"/>
            </a:avLst>
          </a:prstGeom>
          <a:solidFill>
            <a:srgbClr val="EDF2F6"/>
          </a:solidFill>
          <a:ln w="12700">
            <a:solidFill>
              <a:srgbClr val="EDF2F6"/>
            </a:solidFill>
            <a:prstDash val="solid"/>
          </a:ln>
          <a:effectLst>
            <a:outerShdw sx="100000" sy="100000" kx="0" ky="0" algn="bl" rotWithShape="0" blurRad="127000" dist="25400" dir="5400000">
              <a:srgbClr val="0B1620">
                <a:alpha val="13000"/>
              </a:srgbClr>
            </a:outerShdw>
          </a:effectLst>
        </p:spPr>
      </p:sp>
      <p:sp>
        <p:nvSpPr>
          <p:cNvPr id="10" name="Shape 8"/>
          <p:cNvSpPr/>
          <p:nvPr/>
        </p:nvSpPr>
        <p:spPr>
          <a:xfrm>
            <a:off x="4590288" y="2011680"/>
            <a:ext cx="457200" cy="457200"/>
          </a:xfrm>
          <a:prstGeom prst="ellipse">
            <a:avLst/>
          </a:prstGeom>
          <a:solidFill>
            <a:srgbClr val="F2A104"/>
          </a:solidFill>
          <a:ln/>
        </p:spPr>
      </p:sp>
      <p:sp>
        <p:nvSpPr>
          <p:cNvPr id="11" name="Text 9"/>
          <p:cNvSpPr txBox="1"/>
          <p:nvPr/>
        </p:nvSpPr>
        <p:spPr>
          <a:xfrm>
            <a:off x="4590288" y="2011680"/>
            <a:ext cx="457200" cy="457200"/>
          </a:xfrm>
          <a:prstGeom prst="rect">
            <a:avLst/>
          </a:prstGeom>
          <a:noFill/>
          <a:ln/>
        </p:spPr>
        <p:txBody>
          <a:bodyPr wrap="square" lIns="0" tIns="0" rIns="0" bIns="0" rtlCol="0" anchor="ctr"/>
          <a:lstStyle/>
          <a:p>
            <a:pPr algn="ctr" indent="0" marL="0">
              <a:buNone/>
            </a:pPr>
            <a:r>
              <a:rPr lang="en-US" sz="1800" b="1" dirty="0">
                <a:solidFill>
                  <a:srgbClr val="101C26"/>
                </a:solidFill>
                <a:latin typeface="Calibri" pitchFamily="34" charset="0"/>
                <a:ea typeface="Calibri" pitchFamily="34" charset="-122"/>
                <a:cs typeface="Calibri" pitchFamily="34" charset="-120"/>
              </a:rPr>
              <a:t>2</a:t>
            </a:r>
            <a:endParaRPr lang="en-US" sz="1800" dirty="0"/>
          </a:p>
        </p:txBody>
      </p:sp>
      <p:sp>
        <p:nvSpPr>
          <p:cNvPr id="12" name="Text 10"/>
          <p:cNvSpPr txBox="1"/>
          <p:nvPr/>
        </p:nvSpPr>
        <p:spPr>
          <a:xfrm>
            <a:off x="4590288" y="2651760"/>
            <a:ext cx="2834640" cy="777240"/>
          </a:xfrm>
          <a:prstGeom prst="rect">
            <a:avLst/>
          </a:prstGeom>
          <a:noFill/>
          <a:ln/>
        </p:spPr>
        <p:txBody>
          <a:bodyPr wrap="square" lIns="0" tIns="0" rIns="0" bIns="0" rtlCol="0" anchor="t"/>
          <a:lstStyle/>
          <a:p>
            <a:pPr indent="0" marL="0">
              <a:lnSpc>
                <a:spcPts val="2400"/>
              </a:lnSpc>
              <a:buNone/>
            </a:pPr>
            <a:r>
              <a:rPr lang="en-US" sz="1900" b="1" dirty="0">
                <a:solidFill>
                  <a:srgbClr val="101C26"/>
                </a:solidFill>
                <a:latin typeface="Cambria" pitchFamily="34" charset="0"/>
                <a:ea typeface="Cambria" pitchFamily="34" charset="-122"/>
                <a:cs typeface="Cambria" pitchFamily="34" charset="-120"/>
              </a:rPr>
              <a:t>What problem were we solving?</a:t>
            </a:r>
            <a:endParaRPr lang="en-US" sz="1900" dirty="0"/>
          </a:p>
        </p:txBody>
      </p:sp>
      <p:sp>
        <p:nvSpPr>
          <p:cNvPr id="13" name="Text 11"/>
          <p:cNvSpPr txBox="1"/>
          <p:nvPr/>
        </p:nvSpPr>
        <p:spPr>
          <a:xfrm>
            <a:off x="4590288" y="3520440"/>
            <a:ext cx="2834640" cy="1280160"/>
          </a:xfrm>
          <a:prstGeom prst="rect">
            <a:avLst/>
          </a:prstGeom>
          <a:noFill/>
          <a:ln/>
        </p:spPr>
        <p:txBody>
          <a:bodyPr wrap="square" lIns="0" tIns="0" rIns="0" bIns="0" rtlCol="0" anchor="t"/>
          <a:lstStyle/>
          <a:p>
            <a:pPr algn="l" indent="0" marL="0">
              <a:lnSpc>
                <a:spcPts val="1700"/>
              </a:lnSpc>
              <a:buNone/>
            </a:pPr>
            <a:r>
              <a:rPr lang="en-US" sz="1250" dirty="0">
                <a:solidFill>
                  <a:srgbClr val="2C3E4D"/>
                </a:solidFill>
                <a:latin typeface="Calibri" pitchFamily="34" charset="0"/>
                <a:ea typeface="Calibri" pitchFamily="34" charset="-122"/>
                <a:cs typeface="Calibri" pitchFamily="34" charset="-120"/>
              </a:rPr>
              <a:t>Warehouse aisles are narrow and effectively one-way. PIBT is direction-blind. LDA-PIBT adds an aisle layer that decides direction, and a recovery layer that survives it.</a:t>
            </a:r>
            <a:endParaRPr lang="en-US" sz="1250" dirty="0"/>
          </a:p>
        </p:txBody>
      </p:sp>
      <p:sp>
        <p:nvSpPr>
          <p:cNvPr id="14" name="Shape 12"/>
          <p:cNvSpPr/>
          <p:nvPr/>
        </p:nvSpPr>
        <p:spPr>
          <a:xfrm>
            <a:off x="8010144" y="1691640"/>
            <a:ext cx="3456432" cy="3246120"/>
          </a:xfrm>
          <a:prstGeom prst="roundRect">
            <a:avLst>
              <a:gd name="adj" fmla="val 2535"/>
            </a:avLst>
          </a:prstGeom>
          <a:solidFill>
            <a:srgbClr val="EDF2F6"/>
          </a:solidFill>
          <a:ln w="12700">
            <a:solidFill>
              <a:srgbClr val="EDF2F6"/>
            </a:solidFill>
            <a:prstDash val="solid"/>
          </a:ln>
          <a:effectLst>
            <a:outerShdw sx="100000" sy="100000" kx="0" ky="0" algn="bl" rotWithShape="0" blurRad="127000" dist="25400" dir="5400000">
              <a:srgbClr val="0B1620">
                <a:alpha val="13000"/>
              </a:srgbClr>
            </a:outerShdw>
          </a:effectLst>
        </p:spPr>
      </p:sp>
      <p:sp>
        <p:nvSpPr>
          <p:cNvPr id="15" name="Shape 13"/>
          <p:cNvSpPr/>
          <p:nvPr/>
        </p:nvSpPr>
        <p:spPr>
          <a:xfrm>
            <a:off x="8321040" y="2011680"/>
            <a:ext cx="457200" cy="457200"/>
          </a:xfrm>
          <a:prstGeom prst="ellipse">
            <a:avLst/>
          </a:prstGeom>
          <a:solidFill>
            <a:srgbClr val="F2A104"/>
          </a:solidFill>
          <a:ln/>
        </p:spPr>
      </p:sp>
      <p:sp>
        <p:nvSpPr>
          <p:cNvPr id="16" name="Text 14"/>
          <p:cNvSpPr txBox="1"/>
          <p:nvPr/>
        </p:nvSpPr>
        <p:spPr>
          <a:xfrm>
            <a:off x="8321040" y="2011680"/>
            <a:ext cx="457200" cy="457200"/>
          </a:xfrm>
          <a:prstGeom prst="rect">
            <a:avLst/>
          </a:prstGeom>
          <a:noFill/>
          <a:ln/>
        </p:spPr>
        <p:txBody>
          <a:bodyPr wrap="square" lIns="0" tIns="0" rIns="0" bIns="0" rtlCol="0" anchor="ctr"/>
          <a:lstStyle/>
          <a:p>
            <a:pPr algn="ctr" indent="0" marL="0">
              <a:buNone/>
            </a:pPr>
            <a:r>
              <a:rPr lang="en-US" sz="1800" b="1" dirty="0">
                <a:solidFill>
                  <a:srgbClr val="101C26"/>
                </a:solidFill>
                <a:latin typeface="Calibri" pitchFamily="34" charset="0"/>
                <a:ea typeface="Calibri" pitchFamily="34" charset="-122"/>
                <a:cs typeface="Calibri" pitchFamily="34" charset="-120"/>
              </a:rPr>
              <a:t>3</a:t>
            </a:r>
            <a:endParaRPr lang="en-US" sz="1800" dirty="0"/>
          </a:p>
        </p:txBody>
      </p:sp>
      <p:sp>
        <p:nvSpPr>
          <p:cNvPr id="17" name="Text 15"/>
          <p:cNvSpPr txBox="1"/>
          <p:nvPr/>
        </p:nvSpPr>
        <p:spPr>
          <a:xfrm>
            <a:off x="8321040" y="2651760"/>
            <a:ext cx="2834640" cy="777240"/>
          </a:xfrm>
          <a:prstGeom prst="rect">
            <a:avLst/>
          </a:prstGeom>
          <a:noFill/>
          <a:ln/>
        </p:spPr>
        <p:txBody>
          <a:bodyPr wrap="square" lIns="0" tIns="0" rIns="0" bIns="0" rtlCol="0" anchor="t"/>
          <a:lstStyle/>
          <a:p>
            <a:pPr indent="0" marL="0">
              <a:lnSpc>
                <a:spcPts val="2400"/>
              </a:lnSpc>
              <a:buNone/>
            </a:pPr>
            <a:r>
              <a:rPr lang="en-US" sz="1900" b="1" dirty="0">
                <a:solidFill>
                  <a:srgbClr val="101C26"/>
                </a:solidFill>
                <a:latin typeface="Cambria" pitchFamily="34" charset="0"/>
                <a:ea typeface="Cambria" pitchFamily="34" charset="-122"/>
                <a:cs typeface="Cambria" pitchFamily="34" charset="-120"/>
              </a:rPr>
              <a:t>How, and did it work?</a:t>
            </a:r>
            <a:endParaRPr lang="en-US" sz="1900" dirty="0"/>
          </a:p>
        </p:txBody>
      </p:sp>
      <p:sp>
        <p:nvSpPr>
          <p:cNvPr id="18" name="Text 16"/>
          <p:cNvSpPr txBox="1"/>
          <p:nvPr/>
        </p:nvSpPr>
        <p:spPr>
          <a:xfrm>
            <a:off x="8321040" y="3520440"/>
            <a:ext cx="2834640" cy="1280160"/>
          </a:xfrm>
          <a:prstGeom prst="rect">
            <a:avLst/>
          </a:prstGeom>
          <a:noFill/>
          <a:ln/>
        </p:spPr>
        <p:txBody>
          <a:bodyPr wrap="square" lIns="0" tIns="0" rIns="0" bIns="0" rtlCol="0" anchor="t"/>
          <a:lstStyle/>
          <a:p>
            <a:pPr algn="l" indent="0" marL="0">
              <a:lnSpc>
                <a:spcPts val="1700"/>
              </a:lnSpc>
              <a:buNone/>
            </a:pPr>
            <a:r>
              <a:rPr lang="en-US" sz="1250" dirty="0">
                <a:solidFill>
                  <a:srgbClr val="2C3E4D"/>
                </a:solidFill>
                <a:latin typeface="Calibri" pitchFamily="34" charset="0"/>
                <a:ea typeface="Calibri" pitchFamily="34" charset="-122"/>
                <a:cs typeface="Calibri" pitchFamily="34" charset="-120"/>
              </a:rPr>
              <a:t>A two-layer architecture, six repaired mechanisms, and a hypothesis suite that scores each claim on the quantity it actually names. Three of six hold.</a:t>
            </a:r>
            <a:endParaRPr lang="en-US" sz="1250" dirty="0"/>
          </a:p>
        </p:txBody>
      </p:sp>
      <p:sp>
        <p:nvSpPr>
          <p:cNvPr id="19" name="Shape 17"/>
          <p:cNvSpPr/>
          <p:nvPr/>
        </p:nvSpPr>
        <p:spPr>
          <a:xfrm>
            <a:off x="548640" y="5193792"/>
            <a:ext cx="11091672" cy="841248"/>
          </a:xfrm>
          <a:prstGeom prst="roundRect">
            <a:avLst>
              <a:gd name="adj" fmla="val 9783"/>
            </a:avLst>
          </a:prstGeom>
          <a:solidFill>
            <a:srgbClr val="1D3346"/>
          </a:solidFill>
          <a:ln w="12700">
            <a:solidFill>
              <a:srgbClr val="1D3346"/>
            </a:solidFill>
            <a:prstDash val="solid"/>
          </a:ln>
          <a:effectLst>
            <a:outerShdw sx="100000" sy="100000" kx="0" ky="0" algn="bl" rotWithShape="0" blurRad="127000" dist="25400" dir="5400000">
              <a:srgbClr val="0B1620">
                <a:alpha val="13000"/>
              </a:srgbClr>
            </a:outerShdw>
          </a:effectLst>
        </p:spPr>
      </p:sp>
      <p:sp>
        <p:nvSpPr>
          <p:cNvPr id="20" name="Text 18"/>
          <p:cNvSpPr txBox="1"/>
          <p:nvPr/>
        </p:nvSpPr>
        <p:spPr>
          <a:xfrm>
            <a:off x="868680" y="5376672"/>
            <a:ext cx="10424160" cy="502920"/>
          </a:xfrm>
          <a:prstGeom prst="rect">
            <a:avLst/>
          </a:prstGeom>
          <a:noFill/>
          <a:ln/>
        </p:spPr>
        <p:txBody>
          <a:bodyPr wrap="square" lIns="0" tIns="0" rIns="0" bIns="0" rtlCol="0" anchor="ctr"/>
          <a:lstStyle/>
          <a:p>
            <a:pPr indent="0" marL="0">
              <a:lnSpc>
                <a:spcPts val="1900"/>
              </a:lnSpc>
              <a:buNone/>
            </a:pPr>
            <a:r>
              <a:rPr lang="en-US" sz="1350" dirty="0">
                <a:solidFill>
                  <a:srgbClr val="9FB3C2"/>
                </a:solidFill>
                <a:latin typeface="Calibri" pitchFamily="34" charset="0"/>
                <a:ea typeface="Calibri" pitchFamily="34" charset="-122"/>
                <a:cs typeface="Calibri" pitchFamily="34" charset="-120"/>
              </a:rPr>
              <a:t>The design principle held throughout:  </a:t>
            </a:r>
            <a:pPr indent="0" marL="0">
              <a:lnSpc>
                <a:spcPts val="1900"/>
              </a:lnSpc>
              <a:buNone/>
            </a:pPr>
            <a:r>
              <a:rPr lang="en-US" sz="1350" b="1" dirty="0">
                <a:solidFill>
                  <a:srgbClr val="FFFFFF"/>
                </a:solidFill>
                <a:latin typeface="Calibri" pitchFamily="34" charset="0"/>
                <a:ea typeface="Calibri" pitchFamily="34" charset="-122"/>
                <a:cs typeface="Calibri" pitchFamily="34" charset="-120"/>
              </a:rPr>
              <a:t>direction, congestion and turning cost decide which legal move PIBT tries first — they never replace its collision checks or its backtracking. Worth 1.9× to 3.1× once true in the code.</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515600" cy="237744"/>
          </a:xfrm>
          <a:prstGeom prst="rect">
            <a:avLst/>
          </a:prstGeom>
          <a:noFill/>
          <a:ln/>
        </p:spPr>
        <p:txBody>
          <a:bodyPr wrap="square" lIns="0" tIns="0" rIns="0" bIns="0" rtlCol="0" anchor="ctr"/>
          <a:lstStyle/>
          <a:p>
            <a:pPr indent="0" marL="0">
              <a:buNone/>
            </a:pPr>
            <a:r>
              <a:rPr lang="en-US" sz="1150" b="1" spc="220" kern="0" dirty="0">
                <a:solidFill>
                  <a:srgbClr val="F2A104"/>
                </a:solidFill>
                <a:latin typeface="Calibri" pitchFamily="34" charset="0"/>
                <a:ea typeface="Calibri" pitchFamily="34" charset="-122"/>
                <a:cs typeface="Calibri" pitchFamily="34" charset="-120"/>
              </a:rPr>
              <a:t>THE PROBLEM</a:t>
            </a:r>
            <a:endParaRPr lang="en-US" sz="1150" dirty="0"/>
          </a:p>
        </p:txBody>
      </p:sp>
      <p:sp>
        <p:nvSpPr>
          <p:cNvPr id="3" name="Text 1"/>
          <p:cNvSpPr txBox="1"/>
          <p:nvPr/>
        </p:nvSpPr>
        <p:spPr>
          <a:xfrm>
            <a:off x="548640" y="658368"/>
            <a:ext cx="10607040" cy="658368"/>
          </a:xfrm>
          <a:prstGeom prst="rect">
            <a:avLst/>
          </a:prstGeom>
          <a:noFill/>
          <a:ln/>
        </p:spPr>
        <p:txBody>
          <a:bodyPr wrap="square" lIns="0" tIns="0" rIns="0" bIns="0" rtlCol="0" anchor="ctr"/>
          <a:lstStyle/>
          <a:p>
            <a:pPr indent="0" marL="0">
              <a:buNone/>
            </a:pPr>
            <a:r>
              <a:rPr lang="en-US" sz="3400" b="1" dirty="0">
                <a:solidFill>
                  <a:srgbClr val="101C26"/>
                </a:solidFill>
                <a:latin typeface="Cambria" pitchFamily="34" charset="0"/>
                <a:ea typeface="Cambria" pitchFamily="34" charset="-122"/>
                <a:cs typeface="Cambria" pitchFamily="34" charset="-120"/>
              </a:rPr>
              <a:t>Multi-Agent Path Finding</a:t>
            </a:r>
            <a:endParaRPr lang="en-US" sz="3400" dirty="0"/>
          </a:p>
        </p:txBody>
      </p:sp>
      <p:sp>
        <p:nvSpPr>
          <p:cNvPr id="4" name="Text 2"/>
          <p:cNvSpPr txBox="1"/>
          <p:nvPr/>
        </p:nvSpPr>
        <p:spPr>
          <a:xfrm>
            <a:off x="548640" y="1691640"/>
            <a:ext cx="5394960" cy="1371600"/>
          </a:xfrm>
          <a:prstGeom prst="rect">
            <a:avLst/>
          </a:prstGeom>
          <a:noFill/>
          <a:ln/>
        </p:spPr>
        <p:txBody>
          <a:bodyPr wrap="square" lIns="0" tIns="0" rIns="0" bIns="0" rtlCol="0" anchor="t"/>
          <a:lstStyle/>
          <a:p>
            <a:pPr algn="l" indent="0" marL="0">
              <a:lnSpc>
                <a:spcPts val="2100"/>
              </a:lnSpc>
              <a:buNone/>
            </a:pPr>
            <a:r>
              <a:rPr lang="en-US" sz="1450" dirty="0">
                <a:solidFill>
                  <a:srgbClr val="2C3E4D"/>
                </a:solidFill>
                <a:latin typeface="Calibri" pitchFamily="34" charset="0"/>
                <a:ea typeface="Calibri" pitchFamily="34" charset="-122"/>
                <a:cs typeface="Calibri" pitchFamily="34" charset="-120"/>
              </a:rPr>
              <a:t>Given a graph G = (V, E), a set of k agents, each with a start and a goal vertex, find k paths such that every agent reaches its goal and no two agents ever collide. Time is discrete: at each timestep an agent moves along one edge or waits.</a:t>
            </a:r>
            <a:endParaRPr lang="en-US" sz="1450" dirty="0"/>
          </a:p>
        </p:txBody>
      </p:sp>
      <p:sp>
        <p:nvSpPr>
          <p:cNvPr id="5" name="Text 3"/>
          <p:cNvSpPr txBox="1"/>
          <p:nvPr/>
        </p:nvSpPr>
        <p:spPr>
          <a:xfrm>
            <a:off x="548640" y="3200400"/>
            <a:ext cx="5394960" cy="292608"/>
          </a:xfrm>
          <a:prstGeom prst="rect">
            <a:avLst/>
          </a:prstGeom>
          <a:noFill/>
          <a:ln/>
        </p:spPr>
        <p:txBody>
          <a:bodyPr wrap="square" lIns="0" tIns="0" rIns="0" bIns="0" rtlCol="0" anchor="ctr"/>
          <a:lstStyle/>
          <a:p>
            <a:pPr indent="0" marL="0">
              <a:buNone/>
            </a:pPr>
            <a:r>
              <a:rPr lang="en-US" sz="1200" b="1" spc="140" kern="0" dirty="0">
                <a:solidFill>
                  <a:srgbClr val="F2A104"/>
                </a:solidFill>
                <a:latin typeface="Calibri" pitchFamily="34" charset="0"/>
                <a:ea typeface="Calibri" pitchFamily="34" charset="-122"/>
                <a:cs typeface="Calibri" pitchFamily="34" charset="-120"/>
              </a:rPr>
              <a:t>Two collisions define the problem</a:t>
            </a:r>
            <a:endParaRPr lang="en-US" sz="1200" dirty="0"/>
          </a:p>
        </p:txBody>
      </p:sp>
      <p:sp>
        <p:nvSpPr>
          <p:cNvPr id="6" name="Text 4"/>
          <p:cNvSpPr txBox="1"/>
          <p:nvPr/>
        </p:nvSpPr>
        <p:spPr>
          <a:xfrm>
            <a:off x="548640" y="3566160"/>
            <a:ext cx="5394960" cy="1188720"/>
          </a:xfrm>
          <a:prstGeom prst="rect">
            <a:avLst/>
          </a:prstGeom>
          <a:noFill/>
          <a:ln/>
        </p:spPr>
        <p:txBody>
          <a:bodyPr wrap="square" lIns="0" tIns="0" rIns="0" bIns="0" rtlCol="0" anchor="t"/>
          <a:lstStyle/>
          <a:p>
            <a:pPr marL="177800" indent="-177800">
              <a:lnSpc>
                <a:spcPts val="1700"/>
              </a:lnSpc>
              <a:spcAft>
                <a:spcPts val="700"/>
              </a:spcAft>
              <a:buSzPct val="100000"/>
              <a:buChar char="•"/>
            </a:pPr>
            <a:r>
              <a:rPr lang="en-US" sz="1350" dirty="0">
                <a:solidFill>
                  <a:srgbClr val="2C3E4D"/>
                </a:solidFill>
                <a:latin typeface="Calibri" pitchFamily="34" charset="0"/>
                <a:ea typeface="Calibri" pitchFamily="34" charset="-122"/>
                <a:cs typeface="Calibri" pitchFamily="34" charset="-120"/>
              </a:rPr>
              <a:t>Vertex conflict — two agents occupy the same cell at the same timestep.</a:t>
            </a:r>
            <a:endParaRPr lang="en-US" sz="1350" dirty="0"/>
          </a:p>
          <a:p>
            <a:pPr marL="177800" indent="-177800">
              <a:lnSpc>
                <a:spcPts val="1700"/>
              </a:lnSpc>
              <a:spcAft>
                <a:spcPts val="700"/>
              </a:spcAft>
              <a:buSzPct val="100000"/>
              <a:buChar char="•"/>
            </a:pPr>
            <a:r>
              <a:rPr lang="en-US" sz="1350" dirty="0">
                <a:solidFill>
                  <a:srgbClr val="2C3E4D"/>
                </a:solidFill>
                <a:latin typeface="Calibri" pitchFamily="34" charset="0"/>
                <a:ea typeface="Calibri" pitchFamily="34" charset="-122"/>
                <a:cs typeface="Calibri" pitchFamily="34" charset="-120"/>
              </a:rPr>
              <a:t>Swap conflict — two agents exchange cells across one edge in one timestep.</a:t>
            </a:r>
            <a:endParaRPr lang="en-US" sz="1350" dirty="0"/>
          </a:p>
        </p:txBody>
      </p:sp>
      <p:sp>
        <p:nvSpPr>
          <p:cNvPr id="7" name="Shape 5"/>
          <p:cNvSpPr/>
          <p:nvPr/>
        </p:nvSpPr>
        <p:spPr>
          <a:xfrm>
            <a:off x="548640" y="4937760"/>
            <a:ext cx="5394960" cy="1234440"/>
          </a:xfrm>
          <a:prstGeom prst="roundRect">
            <a:avLst>
              <a:gd name="adj" fmla="val 6667"/>
            </a:avLst>
          </a:prstGeom>
          <a:solidFill>
            <a:srgbClr val="1D3346"/>
          </a:solidFill>
          <a:ln w="12700">
            <a:solidFill>
              <a:srgbClr val="1D3346"/>
            </a:solidFill>
            <a:prstDash val="solid"/>
          </a:ln>
          <a:effectLst>
            <a:outerShdw sx="100000" sy="100000" kx="0" ky="0" algn="bl" rotWithShape="0" blurRad="127000" dist="25400" dir="5400000">
              <a:srgbClr val="0B1620">
                <a:alpha val="13000"/>
              </a:srgbClr>
            </a:outerShdw>
          </a:effectLst>
        </p:spPr>
      </p:sp>
      <p:sp>
        <p:nvSpPr>
          <p:cNvPr id="8" name="Text 6"/>
          <p:cNvSpPr txBox="1"/>
          <p:nvPr/>
        </p:nvSpPr>
        <p:spPr>
          <a:xfrm>
            <a:off x="841248" y="5138928"/>
            <a:ext cx="4809744" cy="868680"/>
          </a:xfrm>
          <a:prstGeom prst="rect">
            <a:avLst/>
          </a:prstGeom>
          <a:noFill/>
          <a:ln/>
        </p:spPr>
        <p:txBody>
          <a:bodyPr wrap="square" lIns="0" tIns="0" rIns="0" bIns="0" rtlCol="0" anchor="t"/>
          <a:lstStyle/>
          <a:p>
            <a:pPr algn="l" indent="0" marL="0">
              <a:lnSpc>
                <a:spcPts val="1700"/>
              </a:lnSpc>
              <a:buNone/>
            </a:pPr>
            <a:r>
              <a:rPr lang="en-US" sz="1250" dirty="0">
                <a:solidFill>
                  <a:srgbClr val="C6D5E0"/>
                </a:solidFill>
                <a:latin typeface="Calibri" pitchFamily="34" charset="0"/>
                <a:ea typeface="Calibri" pitchFamily="34" charset="-122"/>
                <a:cs typeface="Calibri" pitchFamily="34" charset="-120"/>
              </a:rPr>
              <a:t>Everything else in MAPF is an optimisation objective layered on top of those two rules: makespan, sum-of-costs, or — in the lifelong setting this project lives in — throughput.</a:t>
            </a:r>
            <a:endParaRPr lang="en-US" sz="1250" dirty="0"/>
          </a:p>
        </p:txBody>
      </p:sp>
      <p:sp>
        <p:nvSpPr>
          <p:cNvPr id="9" name="Shape 7"/>
          <p:cNvSpPr/>
          <p:nvPr/>
        </p:nvSpPr>
        <p:spPr>
          <a:xfrm>
            <a:off x="6446520" y="1691640"/>
            <a:ext cx="5193792" cy="2148840"/>
          </a:xfrm>
          <a:prstGeom prst="roundRect">
            <a:avLst>
              <a:gd name="adj" fmla="val 3830"/>
            </a:avLst>
          </a:prstGeom>
          <a:solidFill>
            <a:srgbClr val="EDF2F6"/>
          </a:solidFill>
          <a:ln w="12700">
            <a:solidFill>
              <a:srgbClr val="EDF2F6"/>
            </a:solidFill>
            <a:prstDash val="solid"/>
          </a:ln>
          <a:effectLst>
            <a:outerShdw sx="100000" sy="100000" kx="0" ky="0" algn="bl" rotWithShape="0" blurRad="127000" dist="25400" dir="5400000">
              <a:srgbClr val="0B1620">
                <a:alpha val="13000"/>
              </a:srgbClr>
            </a:outerShdw>
          </a:effectLst>
        </p:spPr>
      </p:sp>
      <p:sp>
        <p:nvSpPr>
          <p:cNvPr id="10" name="Text 8"/>
          <p:cNvSpPr txBox="1"/>
          <p:nvPr/>
        </p:nvSpPr>
        <p:spPr>
          <a:xfrm>
            <a:off x="6739128" y="1874520"/>
            <a:ext cx="2743200" cy="274320"/>
          </a:xfrm>
          <a:prstGeom prst="rect">
            <a:avLst/>
          </a:prstGeom>
          <a:noFill/>
          <a:ln/>
        </p:spPr>
        <p:txBody>
          <a:bodyPr wrap="square" lIns="0" tIns="0" rIns="0" bIns="0" rtlCol="0" anchor="ctr"/>
          <a:lstStyle/>
          <a:p>
            <a:pPr indent="0" marL="0">
              <a:buNone/>
            </a:pPr>
            <a:r>
              <a:rPr lang="en-US" sz="1300" b="1" dirty="0">
                <a:solidFill>
                  <a:srgbClr val="101C26"/>
                </a:solidFill>
                <a:latin typeface="Calibri" pitchFamily="34" charset="0"/>
                <a:ea typeface="Calibri" pitchFamily="34" charset="-122"/>
                <a:cs typeface="Calibri" pitchFamily="34" charset="-120"/>
              </a:rPr>
              <a:t>Vertex conflict</a:t>
            </a:r>
            <a:endParaRPr lang="en-US" sz="1300" dirty="0"/>
          </a:p>
        </p:txBody>
      </p:sp>
      <p:sp>
        <p:nvSpPr>
          <p:cNvPr id="11" name="Shape 9"/>
          <p:cNvSpPr/>
          <p:nvPr/>
        </p:nvSpPr>
        <p:spPr>
          <a:xfrm>
            <a:off x="6446520" y="4023360"/>
            <a:ext cx="5193792" cy="2148840"/>
          </a:xfrm>
          <a:prstGeom prst="roundRect">
            <a:avLst>
              <a:gd name="adj" fmla="val 3830"/>
            </a:avLst>
          </a:prstGeom>
          <a:solidFill>
            <a:srgbClr val="EDF2F6"/>
          </a:solidFill>
          <a:ln w="12700">
            <a:solidFill>
              <a:srgbClr val="EDF2F6"/>
            </a:solidFill>
            <a:prstDash val="solid"/>
          </a:ln>
          <a:effectLst>
            <a:outerShdw sx="100000" sy="100000" kx="0" ky="0" algn="bl" rotWithShape="0" blurRad="127000" dist="25400" dir="5400000">
              <a:srgbClr val="0B1620">
                <a:alpha val="13000"/>
              </a:srgbClr>
            </a:outerShdw>
          </a:effectLst>
        </p:spPr>
      </p:sp>
      <p:sp>
        <p:nvSpPr>
          <p:cNvPr id="12" name="Text 10"/>
          <p:cNvSpPr txBox="1"/>
          <p:nvPr/>
        </p:nvSpPr>
        <p:spPr>
          <a:xfrm>
            <a:off x="6739128" y="4206240"/>
            <a:ext cx="2743200" cy="274320"/>
          </a:xfrm>
          <a:prstGeom prst="rect">
            <a:avLst/>
          </a:prstGeom>
          <a:noFill/>
          <a:ln/>
        </p:spPr>
        <p:txBody>
          <a:bodyPr wrap="square" lIns="0" tIns="0" rIns="0" bIns="0" rtlCol="0" anchor="ctr"/>
          <a:lstStyle/>
          <a:p>
            <a:pPr indent="0" marL="0">
              <a:buNone/>
            </a:pPr>
            <a:r>
              <a:rPr lang="en-US" sz="1300" b="1" dirty="0">
                <a:solidFill>
                  <a:srgbClr val="101C26"/>
                </a:solidFill>
                <a:latin typeface="Calibri" pitchFamily="34" charset="0"/>
                <a:ea typeface="Calibri" pitchFamily="34" charset="-122"/>
                <a:cs typeface="Calibri" pitchFamily="34" charset="-120"/>
              </a:rPr>
              <a:t>Swap conflict</a:t>
            </a:r>
            <a:endParaRPr lang="en-US" sz="1300" dirty="0"/>
          </a:p>
        </p:txBody>
      </p:sp>
      <p:sp>
        <p:nvSpPr>
          <p:cNvPr id="13" name="Shape 11"/>
          <p:cNvSpPr/>
          <p:nvPr/>
        </p:nvSpPr>
        <p:spPr>
          <a:xfrm>
            <a:off x="7863840" y="2487168"/>
            <a:ext cx="420624" cy="420624"/>
          </a:xfrm>
          <a:prstGeom prst="roundRect">
            <a:avLst>
              <a:gd name="adj" fmla="val 8696"/>
            </a:avLst>
          </a:prstGeom>
          <a:solidFill>
            <a:srgbClr val="FFFFFF"/>
          </a:solidFill>
          <a:ln w="12700">
            <a:solidFill>
              <a:srgbClr val="D0DAE3"/>
            </a:solidFill>
            <a:prstDash val="solid"/>
          </a:ln>
        </p:spPr>
      </p:sp>
      <p:sp>
        <p:nvSpPr>
          <p:cNvPr id="14" name="Shape 12"/>
          <p:cNvSpPr/>
          <p:nvPr/>
        </p:nvSpPr>
        <p:spPr>
          <a:xfrm>
            <a:off x="8357616" y="2487168"/>
            <a:ext cx="420624" cy="420624"/>
          </a:xfrm>
          <a:prstGeom prst="roundRect">
            <a:avLst>
              <a:gd name="adj" fmla="val 8696"/>
            </a:avLst>
          </a:prstGeom>
          <a:solidFill>
            <a:srgbClr val="FFFFFF"/>
          </a:solidFill>
          <a:ln w="12700">
            <a:solidFill>
              <a:srgbClr val="D0DAE3"/>
            </a:solidFill>
            <a:prstDash val="solid"/>
          </a:ln>
        </p:spPr>
      </p:sp>
      <p:sp>
        <p:nvSpPr>
          <p:cNvPr id="15" name="Shape 13"/>
          <p:cNvSpPr/>
          <p:nvPr/>
        </p:nvSpPr>
        <p:spPr>
          <a:xfrm>
            <a:off x="8851392" y="2487168"/>
            <a:ext cx="420624" cy="420624"/>
          </a:xfrm>
          <a:prstGeom prst="roundRect">
            <a:avLst>
              <a:gd name="adj" fmla="val 8696"/>
            </a:avLst>
          </a:prstGeom>
          <a:solidFill>
            <a:srgbClr val="FFFFFF"/>
          </a:solidFill>
          <a:ln w="12700">
            <a:solidFill>
              <a:srgbClr val="D0DAE3"/>
            </a:solidFill>
            <a:prstDash val="solid"/>
          </a:ln>
        </p:spPr>
      </p:sp>
      <p:sp>
        <p:nvSpPr>
          <p:cNvPr id="16" name="Shape 14"/>
          <p:cNvSpPr/>
          <p:nvPr/>
        </p:nvSpPr>
        <p:spPr>
          <a:xfrm>
            <a:off x="9345168" y="2487168"/>
            <a:ext cx="420624" cy="420624"/>
          </a:xfrm>
          <a:prstGeom prst="roundRect">
            <a:avLst>
              <a:gd name="adj" fmla="val 8696"/>
            </a:avLst>
          </a:prstGeom>
          <a:solidFill>
            <a:srgbClr val="FFFFFF"/>
          </a:solidFill>
          <a:ln w="12700">
            <a:solidFill>
              <a:srgbClr val="D0DAE3"/>
            </a:solidFill>
            <a:prstDash val="solid"/>
          </a:ln>
        </p:spPr>
      </p:sp>
      <p:sp>
        <p:nvSpPr>
          <p:cNvPr id="17" name="Shape 15"/>
          <p:cNvSpPr/>
          <p:nvPr/>
        </p:nvSpPr>
        <p:spPr>
          <a:xfrm>
            <a:off x="9838944" y="2487168"/>
            <a:ext cx="420624" cy="420624"/>
          </a:xfrm>
          <a:prstGeom prst="roundRect">
            <a:avLst>
              <a:gd name="adj" fmla="val 8696"/>
            </a:avLst>
          </a:prstGeom>
          <a:solidFill>
            <a:srgbClr val="FFFFFF"/>
          </a:solidFill>
          <a:ln w="12700">
            <a:solidFill>
              <a:srgbClr val="D0DAE3"/>
            </a:solidFill>
            <a:prstDash val="solid"/>
          </a:ln>
        </p:spPr>
      </p:sp>
      <p:sp>
        <p:nvSpPr>
          <p:cNvPr id="18" name="Shape 16"/>
          <p:cNvSpPr/>
          <p:nvPr/>
        </p:nvSpPr>
        <p:spPr>
          <a:xfrm>
            <a:off x="7927848" y="2551176"/>
            <a:ext cx="292608" cy="292608"/>
          </a:xfrm>
          <a:prstGeom prst="ellipse">
            <a:avLst/>
          </a:prstGeom>
          <a:solidFill>
            <a:srgbClr val="1D3346"/>
          </a:solidFill>
          <a:ln/>
        </p:spPr>
      </p:sp>
      <p:sp>
        <p:nvSpPr>
          <p:cNvPr id="19" name="Shape 17"/>
          <p:cNvSpPr/>
          <p:nvPr/>
        </p:nvSpPr>
        <p:spPr>
          <a:xfrm>
            <a:off x="9902952" y="2551176"/>
            <a:ext cx="292608" cy="292608"/>
          </a:xfrm>
          <a:prstGeom prst="ellipse">
            <a:avLst/>
          </a:prstGeom>
          <a:solidFill>
            <a:srgbClr val="F2A104"/>
          </a:solidFill>
          <a:ln/>
        </p:spPr>
      </p:sp>
      <p:sp>
        <p:nvSpPr>
          <p:cNvPr id="20" name="Shape 18"/>
          <p:cNvSpPr/>
          <p:nvPr/>
        </p:nvSpPr>
        <p:spPr>
          <a:xfrm>
            <a:off x="8275320" y="2697480"/>
            <a:ext cx="621792" cy="0"/>
          </a:xfrm>
          <a:prstGeom prst="line">
            <a:avLst/>
          </a:prstGeom>
          <a:noFill/>
          <a:ln w="25400">
            <a:solidFill>
              <a:srgbClr val="1D3346"/>
            </a:solidFill>
            <a:prstDash val="solid"/>
            <a:tailEnd type="triangle"/>
          </a:ln>
        </p:spPr>
      </p:sp>
      <p:sp>
        <p:nvSpPr>
          <p:cNvPr id="21" name="Shape 19"/>
          <p:cNvSpPr/>
          <p:nvPr/>
        </p:nvSpPr>
        <p:spPr>
          <a:xfrm>
            <a:off x="9208008" y="2697480"/>
            <a:ext cx="621792" cy="0"/>
          </a:xfrm>
          <a:prstGeom prst="line">
            <a:avLst/>
          </a:prstGeom>
          <a:noFill/>
          <a:ln w="25400">
            <a:solidFill>
              <a:srgbClr val="F2A104"/>
            </a:solidFill>
            <a:prstDash val="solid"/>
            <a:headEnd type="triangle"/>
          </a:ln>
        </p:spPr>
      </p:sp>
      <p:sp>
        <p:nvSpPr>
          <p:cNvPr id="22" name="Shape 20"/>
          <p:cNvSpPr/>
          <p:nvPr/>
        </p:nvSpPr>
        <p:spPr>
          <a:xfrm>
            <a:off x="8924544" y="2487168"/>
            <a:ext cx="420624" cy="420624"/>
          </a:xfrm>
          <a:prstGeom prst="roundRect">
            <a:avLst>
              <a:gd name="adj" fmla="val 8696"/>
            </a:avLst>
          </a:prstGeom>
          <a:solidFill>
            <a:srgbClr val="F7D9D3"/>
          </a:solidFill>
          <a:ln w="19050">
            <a:solidFill>
              <a:srgbClr val="AF3527"/>
            </a:solidFill>
            <a:prstDash val="solid"/>
          </a:ln>
        </p:spPr>
      </p:sp>
      <p:sp>
        <p:nvSpPr>
          <p:cNvPr id="23" name="Text 21"/>
          <p:cNvSpPr txBox="1"/>
          <p:nvPr/>
        </p:nvSpPr>
        <p:spPr>
          <a:xfrm>
            <a:off x="7863840" y="3054096"/>
            <a:ext cx="3291840" cy="274320"/>
          </a:xfrm>
          <a:prstGeom prst="rect">
            <a:avLst/>
          </a:prstGeom>
          <a:noFill/>
          <a:ln/>
        </p:spPr>
        <p:txBody>
          <a:bodyPr wrap="square" lIns="0" tIns="0" rIns="0" bIns="0" rtlCol="0" anchor="t"/>
          <a:lstStyle/>
          <a:p>
            <a:pPr algn="l" indent="0" marL="0">
              <a:lnSpc>
                <a:spcPts val="1452"/>
              </a:lnSpc>
              <a:buNone/>
            </a:pPr>
            <a:r>
              <a:rPr lang="en-US" sz="1100" dirty="0">
                <a:solidFill>
                  <a:srgbClr val="6C7C8A"/>
                </a:solidFill>
                <a:latin typeface="Calibri" pitchFamily="34" charset="0"/>
                <a:ea typeface="Calibri" pitchFamily="34" charset="-122"/>
                <a:cs typeface="Calibri" pitchFamily="34" charset="-120"/>
              </a:rPr>
              <a:t>both claim the shaded cell at t+1</a:t>
            </a:r>
            <a:endParaRPr lang="en-US" sz="1100" dirty="0"/>
          </a:p>
        </p:txBody>
      </p:sp>
      <p:sp>
        <p:nvSpPr>
          <p:cNvPr id="24" name="Shape 22"/>
          <p:cNvSpPr/>
          <p:nvPr/>
        </p:nvSpPr>
        <p:spPr>
          <a:xfrm>
            <a:off x="7635240" y="4828032"/>
            <a:ext cx="420624" cy="420624"/>
          </a:xfrm>
          <a:prstGeom prst="roundRect">
            <a:avLst>
              <a:gd name="adj" fmla="val 8696"/>
            </a:avLst>
          </a:prstGeom>
          <a:solidFill>
            <a:srgbClr val="FFFFFF"/>
          </a:solidFill>
          <a:ln w="19050">
            <a:solidFill>
              <a:srgbClr val="AF3527"/>
            </a:solidFill>
            <a:prstDash val="solid"/>
          </a:ln>
        </p:spPr>
      </p:sp>
      <p:sp>
        <p:nvSpPr>
          <p:cNvPr id="25" name="Shape 23"/>
          <p:cNvSpPr/>
          <p:nvPr/>
        </p:nvSpPr>
        <p:spPr>
          <a:xfrm>
            <a:off x="8129016" y="4828032"/>
            <a:ext cx="420624" cy="420624"/>
          </a:xfrm>
          <a:prstGeom prst="roundRect">
            <a:avLst>
              <a:gd name="adj" fmla="val 8696"/>
            </a:avLst>
          </a:prstGeom>
          <a:solidFill>
            <a:srgbClr val="FFFFFF"/>
          </a:solidFill>
          <a:ln w="19050">
            <a:solidFill>
              <a:srgbClr val="AF3527"/>
            </a:solidFill>
            <a:prstDash val="solid"/>
          </a:ln>
        </p:spPr>
      </p:sp>
      <p:sp>
        <p:nvSpPr>
          <p:cNvPr id="26" name="Shape 24"/>
          <p:cNvSpPr/>
          <p:nvPr/>
        </p:nvSpPr>
        <p:spPr>
          <a:xfrm>
            <a:off x="7699248" y="4892040"/>
            <a:ext cx="292608" cy="292608"/>
          </a:xfrm>
          <a:prstGeom prst="ellipse">
            <a:avLst/>
          </a:prstGeom>
          <a:solidFill>
            <a:srgbClr val="1D3346"/>
          </a:solidFill>
          <a:ln/>
        </p:spPr>
      </p:sp>
      <p:sp>
        <p:nvSpPr>
          <p:cNvPr id="27" name="Shape 25"/>
          <p:cNvSpPr/>
          <p:nvPr/>
        </p:nvSpPr>
        <p:spPr>
          <a:xfrm>
            <a:off x="8193024" y="4892040"/>
            <a:ext cx="292608" cy="292608"/>
          </a:xfrm>
          <a:prstGeom prst="ellipse">
            <a:avLst/>
          </a:prstGeom>
          <a:solidFill>
            <a:srgbClr val="F2A104"/>
          </a:solidFill>
          <a:ln/>
        </p:spPr>
      </p:sp>
      <p:sp>
        <p:nvSpPr>
          <p:cNvPr id="28" name="Shape 26"/>
          <p:cNvSpPr/>
          <p:nvPr/>
        </p:nvSpPr>
        <p:spPr>
          <a:xfrm>
            <a:off x="7790688" y="4681728"/>
            <a:ext cx="548640" cy="0"/>
          </a:xfrm>
          <a:prstGeom prst="line">
            <a:avLst/>
          </a:prstGeom>
          <a:noFill/>
          <a:ln w="25400">
            <a:solidFill>
              <a:srgbClr val="1D3346"/>
            </a:solidFill>
            <a:prstDash val="solid"/>
            <a:tailEnd type="triangle"/>
          </a:ln>
        </p:spPr>
      </p:sp>
      <p:sp>
        <p:nvSpPr>
          <p:cNvPr id="29" name="Shape 27"/>
          <p:cNvSpPr/>
          <p:nvPr/>
        </p:nvSpPr>
        <p:spPr>
          <a:xfrm>
            <a:off x="7790688" y="5394960"/>
            <a:ext cx="548640" cy="0"/>
          </a:xfrm>
          <a:prstGeom prst="line">
            <a:avLst/>
          </a:prstGeom>
          <a:noFill/>
          <a:ln w="25400">
            <a:solidFill>
              <a:srgbClr val="F2A104"/>
            </a:solidFill>
            <a:prstDash val="solid"/>
            <a:headEnd type="triangle"/>
          </a:ln>
        </p:spPr>
      </p:sp>
      <p:sp>
        <p:nvSpPr>
          <p:cNvPr id="30" name="Text 28"/>
          <p:cNvSpPr txBox="1"/>
          <p:nvPr/>
        </p:nvSpPr>
        <p:spPr>
          <a:xfrm>
            <a:off x="8823960" y="4681728"/>
            <a:ext cx="2651760" cy="731520"/>
          </a:xfrm>
          <a:prstGeom prst="rect">
            <a:avLst/>
          </a:prstGeom>
          <a:noFill/>
          <a:ln/>
        </p:spPr>
        <p:txBody>
          <a:bodyPr wrap="square" lIns="0" tIns="0" rIns="0" bIns="0" rtlCol="0" anchor="t"/>
          <a:lstStyle/>
          <a:p>
            <a:pPr algn="l" indent="0" marL="0">
              <a:lnSpc>
                <a:spcPts val="1400"/>
              </a:lnSpc>
              <a:buNone/>
            </a:pPr>
            <a:r>
              <a:rPr lang="en-US" sz="1100" dirty="0">
                <a:solidFill>
                  <a:srgbClr val="6C7C8A"/>
                </a:solidFill>
                <a:latin typeface="Calibri" pitchFamily="34" charset="0"/>
                <a:ea typeface="Calibri" pitchFamily="34" charset="-122"/>
                <a:cs typeface="Calibri" pitchFamily="34" charset="-120"/>
              </a:rPr>
              <a:t>they trade places along one edge — legal for each</a:t>
            </a:r>
            <a:endParaRPr lang="en-US" sz="1100" dirty="0"/>
          </a:p>
          <a:p>
            <a:pPr algn="l" indent="0" marL="0">
              <a:lnSpc>
                <a:spcPts val="1400"/>
              </a:lnSpc>
              <a:buNone/>
            </a:pPr>
            <a:r>
              <a:rPr lang="en-US" sz="1100" dirty="0">
                <a:solidFill>
                  <a:srgbClr val="6C7C8A"/>
                </a:solidFill>
                <a:latin typeface="Calibri" pitchFamily="34" charset="0"/>
                <a:ea typeface="Calibri" pitchFamily="34" charset="-122"/>
                <a:cs typeface="Calibri" pitchFamily="34" charset="-120"/>
              </a:rPr>
              <a:t>agent alone, illegal for the pair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515600" cy="237744"/>
          </a:xfrm>
          <a:prstGeom prst="rect">
            <a:avLst/>
          </a:prstGeom>
          <a:noFill/>
          <a:ln/>
        </p:spPr>
        <p:txBody>
          <a:bodyPr wrap="square" lIns="0" tIns="0" rIns="0" bIns="0" rtlCol="0" anchor="ctr"/>
          <a:lstStyle/>
          <a:p>
            <a:pPr indent="0" marL="0">
              <a:buNone/>
            </a:pPr>
            <a:r>
              <a:rPr lang="en-US" sz="1150" b="1" spc="220" kern="0" dirty="0">
                <a:solidFill>
                  <a:srgbClr val="F2A104"/>
                </a:solidFill>
                <a:latin typeface="Calibri" pitchFamily="34" charset="0"/>
                <a:ea typeface="Calibri" pitchFamily="34" charset="-122"/>
                <a:cs typeface="Calibri" pitchFamily="34" charset="-120"/>
              </a:rPr>
              <a:t>WHY IT RESISTED FORTY YEARS OF ATTACK</a:t>
            </a:r>
            <a:endParaRPr lang="en-US" sz="1150" dirty="0"/>
          </a:p>
        </p:txBody>
      </p:sp>
      <p:sp>
        <p:nvSpPr>
          <p:cNvPr id="3" name="Text 1"/>
          <p:cNvSpPr txBox="1"/>
          <p:nvPr/>
        </p:nvSpPr>
        <p:spPr>
          <a:xfrm>
            <a:off x="548640" y="658368"/>
            <a:ext cx="10607040" cy="658368"/>
          </a:xfrm>
          <a:prstGeom prst="rect">
            <a:avLst/>
          </a:prstGeom>
          <a:noFill/>
          <a:ln/>
        </p:spPr>
        <p:txBody>
          <a:bodyPr wrap="square" lIns="0" tIns="0" rIns="0" bIns="0" rtlCol="0" anchor="ctr"/>
          <a:lstStyle/>
          <a:p>
            <a:pPr indent="0" marL="0">
              <a:buNone/>
            </a:pPr>
            <a:r>
              <a:rPr lang="en-US" sz="3400" b="1" dirty="0">
                <a:solidFill>
                  <a:srgbClr val="101C26"/>
                </a:solidFill>
                <a:latin typeface="Cambria" pitchFamily="34" charset="0"/>
                <a:ea typeface="Cambria" pitchFamily="34" charset="-122"/>
                <a:cs typeface="Cambria" pitchFamily="34" charset="-120"/>
              </a:rPr>
              <a:t>The difficulty is structural</a:t>
            </a:r>
            <a:endParaRPr lang="en-US" sz="3400" dirty="0"/>
          </a:p>
        </p:txBody>
      </p:sp>
      <p:sp>
        <p:nvSpPr>
          <p:cNvPr id="4" name="Shape 2"/>
          <p:cNvSpPr/>
          <p:nvPr/>
        </p:nvSpPr>
        <p:spPr>
          <a:xfrm>
            <a:off x="548640" y="1691640"/>
            <a:ext cx="3456432" cy="3291840"/>
          </a:xfrm>
          <a:prstGeom prst="roundRect">
            <a:avLst>
              <a:gd name="adj" fmla="val 2500"/>
            </a:avLst>
          </a:prstGeom>
          <a:solidFill>
            <a:srgbClr val="EDF2F6"/>
          </a:solidFill>
          <a:ln w="12700">
            <a:solidFill>
              <a:srgbClr val="EDF2F6"/>
            </a:solidFill>
            <a:prstDash val="solid"/>
          </a:ln>
          <a:effectLst>
            <a:outerShdw sx="100000" sy="100000" kx="0" ky="0" algn="bl" rotWithShape="0" blurRad="127000" dist="25400" dir="5400000">
              <a:srgbClr val="0B1620">
                <a:alpha val="13000"/>
              </a:srgbClr>
            </a:outerShdw>
          </a:effectLst>
        </p:spPr>
      </p:sp>
      <p:sp>
        <p:nvSpPr>
          <p:cNvPr id="5" name="Text 3"/>
          <p:cNvSpPr txBox="1"/>
          <p:nvPr/>
        </p:nvSpPr>
        <p:spPr>
          <a:xfrm>
            <a:off x="859536" y="1938528"/>
            <a:ext cx="2834640" cy="868680"/>
          </a:xfrm>
          <a:prstGeom prst="rect">
            <a:avLst/>
          </a:prstGeom>
          <a:noFill/>
          <a:ln/>
        </p:spPr>
        <p:txBody>
          <a:bodyPr wrap="square" lIns="0" tIns="0" rIns="0" bIns="0" rtlCol="0" anchor="ctr"/>
          <a:lstStyle/>
          <a:p>
            <a:pPr indent="0" marL="0">
              <a:buNone/>
            </a:pPr>
            <a:r>
              <a:rPr lang="en-US" sz="4600" b="1" dirty="0">
                <a:solidFill>
                  <a:srgbClr val="101C26"/>
                </a:solidFill>
                <a:latin typeface="Cambria" pitchFamily="34" charset="0"/>
                <a:ea typeface="Cambria" pitchFamily="34" charset="-122"/>
                <a:cs typeface="Cambria" pitchFamily="34" charset="-120"/>
              </a:rPr>
              <a:t>≈5ᵏ</a:t>
            </a:r>
            <a:endParaRPr lang="en-US" sz="4600" dirty="0"/>
          </a:p>
        </p:txBody>
      </p:sp>
      <p:sp>
        <p:nvSpPr>
          <p:cNvPr id="6" name="Text 4"/>
          <p:cNvSpPr txBox="1"/>
          <p:nvPr/>
        </p:nvSpPr>
        <p:spPr>
          <a:xfrm>
            <a:off x="859536" y="2834640"/>
            <a:ext cx="2834640" cy="310896"/>
          </a:xfrm>
          <a:prstGeom prst="rect">
            <a:avLst/>
          </a:prstGeom>
          <a:noFill/>
          <a:ln/>
        </p:spPr>
        <p:txBody>
          <a:bodyPr wrap="square" lIns="0" tIns="0" rIns="0" bIns="0" rtlCol="0" anchor="ctr"/>
          <a:lstStyle/>
          <a:p>
            <a:pPr indent="0" marL="0">
              <a:buNone/>
            </a:pPr>
            <a:r>
              <a:rPr lang="en-US" sz="1200" b="1" spc="120" kern="0" dirty="0">
                <a:solidFill>
                  <a:srgbClr val="F2A104"/>
                </a:solidFill>
                <a:latin typeface="Calibri" pitchFamily="34" charset="0"/>
                <a:ea typeface="Calibri" pitchFamily="34" charset="-122"/>
                <a:cs typeface="Calibri" pitchFamily="34" charset="-120"/>
              </a:rPr>
              <a:t>joint branching factor</a:t>
            </a:r>
            <a:endParaRPr lang="en-US" sz="1200" dirty="0"/>
          </a:p>
        </p:txBody>
      </p:sp>
      <p:sp>
        <p:nvSpPr>
          <p:cNvPr id="7" name="Text 5"/>
          <p:cNvSpPr txBox="1"/>
          <p:nvPr/>
        </p:nvSpPr>
        <p:spPr>
          <a:xfrm>
            <a:off x="859536" y="3246120"/>
            <a:ext cx="2834640" cy="1554480"/>
          </a:xfrm>
          <a:prstGeom prst="rect">
            <a:avLst/>
          </a:prstGeom>
          <a:noFill/>
          <a:ln/>
        </p:spPr>
        <p:txBody>
          <a:bodyPr wrap="square" lIns="0" tIns="0" rIns="0" bIns="0" rtlCol="0" anchor="t"/>
          <a:lstStyle/>
          <a:p>
            <a:pPr algn="l" indent="0" marL="0">
              <a:lnSpc>
                <a:spcPts val="1700"/>
              </a:lnSpc>
              <a:buNone/>
            </a:pPr>
            <a:r>
              <a:rPr lang="en-US" sz="1250" dirty="0">
                <a:solidFill>
                  <a:srgbClr val="2C3E4D"/>
                </a:solidFill>
                <a:latin typeface="Calibri" pitchFamily="34" charset="0"/>
                <a:ea typeface="Calibri" pitchFamily="34" charset="-122"/>
                <a:cs typeface="Calibri" pitchFamily="34" charset="-120"/>
              </a:rPr>
              <a:t>Each agent may move in four directions or wait, so the joint action space of k agents grows as 5ᵏ. Coupled search is exponential in the number of agents, not the map.</a:t>
            </a:r>
            <a:endParaRPr lang="en-US" sz="1250" dirty="0"/>
          </a:p>
        </p:txBody>
      </p:sp>
      <p:sp>
        <p:nvSpPr>
          <p:cNvPr id="8" name="Shape 6"/>
          <p:cNvSpPr/>
          <p:nvPr/>
        </p:nvSpPr>
        <p:spPr>
          <a:xfrm>
            <a:off x="4279392" y="1691640"/>
            <a:ext cx="3456432" cy="3291840"/>
          </a:xfrm>
          <a:prstGeom prst="roundRect">
            <a:avLst>
              <a:gd name="adj" fmla="val 2500"/>
            </a:avLst>
          </a:prstGeom>
          <a:solidFill>
            <a:srgbClr val="EDF2F6"/>
          </a:solidFill>
          <a:ln w="12700">
            <a:solidFill>
              <a:srgbClr val="EDF2F6"/>
            </a:solidFill>
            <a:prstDash val="solid"/>
          </a:ln>
          <a:effectLst>
            <a:outerShdw sx="100000" sy="100000" kx="0" ky="0" algn="bl" rotWithShape="0" blurRad="127000" dist="25400" dir="5400000">
              <a:srgbClr val="0B1620">
                <a:alpha val="13000"/>
              </a:srgbClr>
            </a:outerShdw>
          </a:effectLst>
        </p:spPr>
      </p:sp>
      <p:sp>
        <p:nvSpPr>
          <p:cNvPr id="9" name="Text 7"/>
          <p:cNvSpPr txBox="1"/>
          <p:nvPr/>
        </p:nvSpPr>
        <p:spPr>
          <a:xfrm>
            <a:off x="4590288" y="1938528"/>
            <a:ext cx="2834640" cy="868680"/>
          </a:xfrm>
          <a:prstGeom prst="rect">
            <a:avLst/>
          </a:prstGeom>
          <a:noFill/>
          <a:ln/>
        </p:spPr>
        <p:txBody>
          <a:bodyPr wrap="square" lIns="0" tIns="0" rIns="0" bIns="0" rtlCol="0" anchor="ctr"/>
          <a:lstStyle/>
          <a:p>
            <a:pPr indent="0" marL="0">
              <a:buNone/>
            </a:pPr>
            <a:r>
              <a:rPr lang="en-US" sz="4600" b="1" dirty="0">
                <a:solidFill>
                  <a:srgbClr val="101C26"/>
                </a:solidFill>
                <a:latin typeface="Cambria" pitchFamily="34" charset="0"/>
                <a:ea typeface="Cambria" pitchFamily="34" charset="-122"/>
                <a:cs typeface="Cambria" pitchFamily="34" charset="-120"/>
              </a:rPr>
              <a:t>NP-hard</a:t>
            </a:r>
            <a:endParaRPr lang="en-US" sz="4600" dirty="0"/>
          </a:p>
        </p:txBody>
      </p:sp>
      <p:sp>
        <p:nvSpPr>
          <p:cNvPr id="10" name="Text 8"/>
          <p:cNvSpPr txBox="1"/>
          <p:nvPr/>
        </p:nvSpPr>
        <p:spPr>
          <a:xfrm>
            <a:off x="4590288" y="2834640"/>
            <a:ext cx="2834640" cy="310896"/>
          </a:xfrm>
          <a:prstGeom prst="rect">
            <a:avLst/>
          </a:prstGeom>
          <a:noFill/>
          <a:ln/>
        </p:spPr>
        <p:txBody>
          <a:bodyPr wrap="square" lIns="0" tIns="0" rIns="0" bIns="0" rtlCol="0" anchor="ctr"/>
          <a:lstStyle/>
          <a:p>
            <a:pPr indent="0" marL="0">
              <a:buNone/>
            </a:pPr>
            <a:r>
              <a:rPr lang="en-US" sz="1200" b="1" spc="120" kern="0" dirty="0">
                <a:solidFill>
                  <a:srgbClr val="F2A104"/>
                </a:solidFill>
                <a:latin typeface="Calibri" pitchFamily="34" charset="0"/>
                <a:ea typeface="Calibri" pitchFamily="34" charset="-122"/>
                <a:cs typeface="Calibri" pitchFamily="34" charset="-120"/>
              </a:rPr>
              <a:t>to solve optimally</a:t>
            </a:r>
            <a:endParaRPr lang="en-US" sz="1200" dirty="0"/>
          </a:p>
        </p:txBody>
      </p:sp>
      <p:sp>
        <p:nvSpPr>
          <p:cNvPr id="11" name="Text 9"/>
          <p:cNvSpPr txBox="1"/>
          <p:nvPr/>
        </p:nvSpPr>
        <p:spPr>
          <a:xfrm>
            <a:off x="4590288" y="3246120"/>
            <a:ext cx="2834640" cy="1554480"/>
          </a:xfrm>
          <a:prstGeom prst="rect">
            <a:avLst/>
          </a:prstGeom>
          <a:noFill/>
          <a:ln/>
        </p:spPr>
        <p:txBody>
          <a:bodyPr wrap="square" lIns="0" tIns="0" rIns="0" bIns="0" rtlCol="0" anchor="t"/>
          <a:lstStyle/>
          <a:p>
            <a:pPr algn="l" indent="0" marL="0">
              <a:lnSpc>
                <a:spcPts val="1700"/>
              </a:lnSpc>
              <a:buNone/>
            </a:pPr>
            <a:r>
              <a:rPr lang="en-US" sz="1250" dirty="0">
                <a:solidFill>
                  <a:srgbClr val="2C3E4D"/>
                </a:solidFill>
                <a:latin typeface="Calibri" pitchFamily="34" charset="0"/>
                <a:ea typeface="Calibri" pitchFamily="34" charset="-122"/>
                <a:cs typeface="Calibri" pitchFamily="34" charset="-120"/>
              </a:rPr>
              <a:t>Optimal MAPF on graphs is NP-hard for both makespan and sum-of-costs (Yu &amp; LaValle, 2013; anticipated by Ratner &amp; Warmuth on the generalised 15-puzzle, 1986).</a:t>
            </a:r>
            <a:endParaRPr lang="en-US" sz="1250" dirty="0"/>
          </a:p>
        </p:txBody>
      </p:sp>
      <p:sp>
        <p:nvSpPr>
          <p:cNvPr id="12" name="Shape 10"/>
          <p:cNvSpPr/>
          <p:nvPr/>
        </p:nvSpPr>
        <p:spPr>
          <a:xfrm>
            <a:off x="8010144" y="1691640"/>
            <a:ext cx="3456432" cy="3291840"/>
          </a:xfrm>
          <a:prstGeom prst="roundRect">
            <a:avLst>
              <a:gd name="adj" fmla="val 2500"/>
            </a:avLst>
          </a:prstGeom>
          <a:solidFill>
            <a:srgbClr val="1D3346"/>
          </a:solidFill>
          <a:ln w="12700">
            <a:solidFill>
              <a:srgbClr val="1D3346"/>
            </a:solidFill>
            <a:prstDash val="solid"/>
          </a:ln>
          <a:effectLst>
            <a:outerShdw sx="100000" sy="100000" kx="0" ky="0" algn="bl" rotWithShape="0" blurRad="127000" dist="25400" dir="5400000">
              <a:srgbClr val="0B1620">
                <a:alpha val="13000"/>
              </a:srgbClr>
            </a:outerShdw>
          </a:effectLst>
        </p:spPr>
      </p:sp>
      <p:sp>
        <p:nvSpPr>
          <p:cNvPr id="13" name="Text 11"/>
          <p:cNvSpPr txBox="1"/>
          <p:nvPr/>
        </p:nvSpPr>
        <p:spPr>
          <a:xfrm>
            <a:off x="8321040" y="1938528"/>
            <a:ext cx="2834640" cy="868680"/>
          </a:xfrm>
          <a:prstGeom prst="rect">
            <a:avLst/>
          </a:prstGeom>
          <a:noFill/>
          <a:ln/>
        </p:spPr>
        <p:txBody>
          <a:bodyPr wrap="square" lIns="0" tIns="0" rIns="0" bIns="0" rtlCol="0" anchor="ctr"/>
          <a:lstStyle/>
          <a:p>
            <a:pPr indent="0" marL="0">
              <a:buNone/>
            </a:pPr>
            <a:r>
              <a:rPr lang="en-US" sz="4600" b="1" dirty="0">
                <a:solidFill>
                  <a:srgbClr val="F2A104"/>
                </a:solidFill>
                <a:latin typeface="Cambria" pitchFamily="34" charset="0"/>
                <a:ea typeface="Cambria" pitchFamily="34" charset="-122"/>
                <a:cs typeface="Cambria" pitchFamily="34" charset="-120"/>
              </a:rPr>
              <a:t>Endless</a:t>
            </a:r>
            <a:endParaRPr lang="en-US" sz="4600" dirty="0"/>
          </a:p>
        </p:txBody>
      </p:sp>
      <p:sp>
        <p:nvSpPr>
          <p:cNvPr id="14" name="Text 12"/>
          <p:cNvSpPr txBox="1"/>
          <p:nvPr/>
        </p:nvSpPr>
        <p:spPr>
          <a:xfrm>
            <a:off x="8321040" y="2834640"/>
            <a:ext cx="2834640" cy="310896"/>
          </a:xfrm>
          <a:prstGeom prst="rect">
            <a:avLst/>
          </a:prstGeom>
          <a:noFill/>
          <a:ln/>
        </p:spPr>
        <p:txBody>
          <a:bodyPr wrap="square" lIns="0" tIns="0" rIns="0" bIns="0" rtlCol="0" anchor="ctr"/>
          <a:lstStyle/>
          <a:p>
            <a:pPr indent="0" marL="0">
              <a:buNone/>
            </a:pPr>
            <a:r>
              <a:rPr lang="en-US" sz="1200" b="1" spc="120" kern="0" dirty="0">
                <a:solidFill>
                  <a:srgbClr val="FBE6B8"/>
                </a:solidFill>
                <a:latin typeface="Calibri" pitchFamily="34" charset="0"/>
                <a:ea typeface="Calibri" pitchFamily="34" charset="-122"/>
                <a:cs typeface="Calibri" pitchFamily="34" charset="-120"/>
              </a:rPr>
              <a:t>the horizon never ends</a:t>
            </a:r>
            <a:endParaRPr lang="en-US" sz="1200" dirty="0"/>
          </a:p>
        </p:txBody>
      </p:sp>
      <p:sp>
        <p:nvSpPr>
          <p:cNvPr id="15" name="Text 13"/>
          <p:cNvSpPr txBox="1"/>
          <p:nvPr/>
        </p:nvSpPr>
        <p:spPr>
          <a:xfrm>
            <a:off x="8321040" y="3246120"/>
            <a:ext cx="2834640" cy="1554480"/>
          </a:xfrm>
          <a:prstGeom prst="rect">
            <a:avLst/>
          </a:prstGeom>
          <a:noFill/>
          <a:ln/>
        </p:spPr>
        <p:txBody>
          <a:bodyPr wrap="square" lIns="0" tIns="0" rIns="0" bIns="0" rtlCol="0" anchor="t"/>
          <a:lstStyle/>
          <a:p>
            <a:pPr algn="l" indent="0" marL="0">
              <a:lnSpc>
                <a:spcPts val="1700"/>
              </a:lnSpc>
              <a:buNone/>
            </a:pPr>
            <a:r>
              <a:rPr lang="en-US" sz="1250" dirty="0">
                <a:solidFill>
                  <a:srgbClr val="C6D5E0"/>
                </a:solidFill>
                <a:latin typeface="Calibri" pitchFamily="34" charset="0"/>
                <a:ea typeface="Calibri" pitchFamily="34" charset="-122"/>
                <a:cs typeface="Calibri" pitchFamily="34" charset="-120"/>
              </a:rPr>
              <a:t>In a working warehouse, a delivered task is replaced by a new one. There is no final goal configuration to plan to — the classical formulation simply stops applying.</a:t>
            </a:r>
            <a:endParaRPr lang="en-US" sz="1250" dirty="0"/>
          </a:p>
        </p:txBody>
      </p:sp>
      <p:sp>
        <p:nvSpPr>
          <p:cNvPr id="16" name="Shape 14"/>
          <p:cNvSpPr/>
          <p:nvPr/>
        </p:nvSpPr>
        <p:spPr>
          <a:xfrm>
            <a:off x="548640" y="5230368"/>
            <a:ext cx="11091672" cy="804672"/>
          </a:xfrm>
          <a:prstGeom prst="roundRect">
            <a:avLst>
              <a:gd name="adj" fmla="val 10227"/>
            </a:avLst>
          </a:prstGeom>
          <a:solidFill>
            <a:srgbClr val="EDF2F6"/>
          </a:solidFill>
          <a:ln w="12700">
            <a:solidFill>
              <a:srgbClr val="D0DAE3"/>
            </a:solidFill>
            <a:prstDash val="solid"/>
          </a:ln>
        </p:spPr>
      </p:sp>
      <p:sp>
        <p:nvSpPr>
          <p:cNvPr id="17" name="Text 15"/>
          <p:cNvSpPr txBox="1"/>
          <p:nvPr/>
        </p:nvSpPr>
        <p:spPr>
          <a:xfrm>
            <a:off x="868680" y="5431536"/>
            <a:ext cx="10469880" cy="548640"/>
          </a:xfrm>
          <a:prstGeom prst="rect">
            <a:avLst/>
          </a:prstGeom>
          <a:noFill/>
          <a:ln/>
        </p:spPr>
        <p:txBody>
          <a:bodyPr wrap="square" lIns="0" tIns="0" rIns="0" bIns="0" rtlCol="0" anchor="t"/>
          <a:lstStyle/>
          <a:p>
            <a:pPr algn="l" indent="0" marL="0">
              <a:lnSpc>
                <a:spcPts val="1782"/>
              </a:lnSpc>
              <a:buNone/>
            </a:pPr>
            <a:r>
              <a:rPr lang="en-US" sz="1350" dirty="0">
                <a:solidFill>
                  <a:srgbClr val="101C26"/>
                </a:solidFill>
                <a:latin typeface="Calibri" pitchFamily="34" charset="0"/>
                <a:ea typeface="Calibri" pitchFamily="34" charset="-122"/>
                <a:cs typeface="Calibri" pitchFamily="34" charset="-120"/>
              </a:rPr>
              <a:t>So the field split. One branch chased optimality and paid for it in scale. Another gave up optimality for completeness. A third gave up both for speed — and turned out to be the branch warehouses needed.</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515600" cy="237744"/>
          </a:xfrm>
          <a:prstGeom prst="rect">
            <a:avLst/>
          </a:prstGeom>
          <a:noFill/>
          <a:ln/>
        </p:spPr>
        <p:txBody>
          <a:bodyPr wrap="square" lIns="0" tIns="0" rIns="0" bIns="0" rtlCol="0" anchor="ctr"/>
          <a:lstStyle/>
          <a:p>
            <a:pPr indent="0" marL="0">
              <a:buNone/>
            </a:pPr>
            <a:r>
              <a:rPr lang="en-US" sz="1150" b="1" spc="220" kern="0" dirty="0">
                <a:solidFill>
                  <a:srgbClr val="F2A104"/>
                </a:solidFill>
                <a:latin typeface="Calibri" pitchFamily="34" charset="0"/>
                <a:ea typeface="Calibri" pitchFamily="34" charset="-122"/>
                <a:cs typeface="Calibri" pitchFamily="34" charset="-120"/>
              </a:rPr>
              <a:t>HISTORY</a:t>
            </a:r>
            <a:endParaRPr lang="en-US" sz="1150" dirty="0"/>
          </a:p>
        </p:txBody>
      </p:sp>
      <p:sp>
        <p:nvSpPr>
          <p:cNvPr id="3" name="Text 1"/>
          <p:cNvSpPr txBox="1"/>
          <p:nvPr/>
        </p:nvSpPr>
        <p:spPr>
          <a:xfrm>
            <a:off x="548640" y="658368"/>
            <a:ext cx="10607040" cy="658368"/>
          </a:xfrm>
          <a:prstGeom prst="rect">
            <a:avLst/>
          </a:prstGeom>
          <a:noFill/>
          <a:ln/>
        </p:spPr>
        <p:txBody>
          <a:bodyPr wrap="square" lIns="0" tIns="0" rIns="0" bIns="0" rtlCol="0" anchor="ctr"/>
          <a:lstStyle/>
          <a:p>
            <a:pPr indent="0" marL="0">
              <a:buNone/>
            </a:pPr>
            <a:r>
              <a:rPr lang="en-US" sz="3400" b="1" dirty="0">
                <a:solidFill>
                  <a:srgbClr val="101C26"/>
                </a:solidFill>
                <a:latin typeface="Cambria" pitchFamily="34" charset="0"/>
                <a:ea typeface="Cambria" pitchFamily="34" charset="-122"/>
                <a:cs typeface="Cambria" pitchFamily="34" charset="-120"/>
              </a:rPr>
              <a:t>Five eras of multi-agent path finding</a:t>
            </a:r>
            <a:endParaRPr lang="en-US" sz="3400" dirty="0"/>
          </a:p>
        </p:txBody>
      </p:sp>
      <p:sp>
        <p:nvSpPr>
          <p:cNvPr id="4" name="Shape 2"/>
          <p:cNvSpPr/>
          <p:nvPr/>
        </p:nvSpPr>
        <p:spPr>
          <a:xfrm>
            <a:off x="457200" y="1645920"/>
            <a:ext cx="2148840" cy="4160520"/>
          </a:xfrm>
          <a:prstGeom prst="roundRect">
            <a:avLst>
              <a:gd name="adj" fmla="val 3830"/>
            </a:avLst>
          </a:prstGeom>
          <a:solidFill>
            <a:srgbClr val="EDF2F6"/>
          </a:solidFill>
          <a:ln w="12700">
            <a:solidFill>
              <a:srgbClr val="EDF2F6"/>
            </a:solidFill>
            <a:prstDash val="solid"/>
          </a:ln>
          <a:effectLst>
            <a:outerShdw sx="100000" sy="100000" kx="0" ky="0" algn="bl" rotWithShape="0" blurRad="127000" dist="25400" dir="5400000">
              <a:srgbClr val="0B1620">
                <a:alpha val="13000"/>
              </a:srgbClr>
            </a:outerShdw>
          </a:effectLst>
        </p:spPr>
      </p:sp>
      <p:sp>
        <p:nvSpPr>
          <p:cNvPr id="5" name="Text 3"/>
          <p:cNvSpPr txBox="1"/>
          <p:nvPr/>
        </p:nvSpPr>
        <p:spPr>
          <a:xfrm>
            <a:off x="676656" y="1856232"/>
            <a:ext cx="1709928" cy="256032"/>
          </a:xfrm>
          <a:prstGeom prst="rect">
            <a:avLst/>
          </a:prstGeom>
          <a:noFill/>
          <a:ln/>
        </p:spPr>
        <p:txBody>
          <a:bodyPr wrap="square" lIns="0" tIns="0" rIns="0" bIns="0" rtlCol="0" anchor="ctr"/>
          <a:lstStyle/>
          <a:p>
            <a:pPr indent="0" marL="0">
              <a:buNone/>
            </a:pPr>
            <a:r>
              <a:rPr lang="en-US" sz="1150" b="1" spc="120" kern="0" dirty="0">
                <a:solidFill>
                  <a:srgbClr val="F2A104"/>
                </a:solidFill>
                <a:latin typeface="Calibri" pitchFamily="34" charset="0"/>
                <a:ea typeface="Calibri" pitchFamily="34" charset="-122"/>
                <a:cs typeface="Calibri" pitchFamily="34" charset="-120"/>
              </a:rPr>
              <a:t>1987–2005</a:t>
            </a:r>
            <a:endParaRPr lang="en-US" sz="1150" dirty="0"/>
          </a:p>
        </p:txBody>
      </p:sp>
      <p:sp>
        <p:nvSpPr>
          <p:cNvPr id="6" name="Text 4"/>
          <p:cNvSpPr txBox="1"/>
          <p:nvPr/>
        </p:nvSpPr>
        <p:spPr>
          <a:xfrm>
            <a:off x="676656" y="2121408"/>
            <a:ext cx="1709928" cy="384048"/>
          </a:xfrm>
          <a:prstGeom prst="rect">
            <a:avLst/>
          </a:prstGeom>
          <a:noFill/>
          <a:ln/>
        </p:spPr>
        <p:txBody>
          <a:bodyPr wrap="square" lIns="0" tIns="0" rIns="0" bIns="0" rtlCol="0" anchor="ctr"/>
          <a:lstStyle/>
          <a:p>
            <a:pPr indent="0" marL="0">
              <a:buNone/>
            </a:pPr>
            <a:r>
              <a:rPr lang="en-US" sz="2100" b="1" dirty="0">
                <a:solidFill>
                  <a:srgbClr val="101C26"/>
                </a:solidFill>
                <a:latin typeface="Cambria" pitchFamily="34" charset="0"/>
                <a:ea typeface="Cambria" pitchFamily="34" charset="-122"/>
                <a:cs typeface="Cambria" pitchFamily="34" charset="-120"/>
              </a:rPr>
              <a:t>Decoupled</a:t>
            </a:r>
            <a:endParaRPr lang="en-US" sz="2100" dirty="0"/>
          </a:p>
        </p:txBody>
      </p:sp>
      <p:sp>
        <p:nvSpPr>
          <p:cNvPr id="7" name="Text 5"/>
          <p:cNvSpPr txBox="1"/>
          <p:nvPr/>
        </p:nvSpPr>
        <p:spPr>
          <a:xfrm>
            <a:off x="640080" y="2633472"/>
            <a:ext cx="1801368" cy="3017520"/>
          </a:xfrm>
          <a:prstGeom prst="rect">
            <a:avLst/>
          </a:prstGeom>
          <a:noFill/>
          <a:ln/>
        </p:spPr>
        <p:txBody>
          <a:bodyPr wrap="square" lIns="0" tIns="0" rIns="0" bIns="0" rtlCol="0" anchor="t"/>
          <a:lstStyle/>
          <a:p>
            <a:pPr marL="177800" indent="-177800">
              <a:lnSpc>
                <a:spcPts val="1400"/>
              </a:lnSpc>
              <a:spcAft>
                <a:spcPts val="800"/>
              </a:spcAft>
              <a:buSzPct val="100000"/>
              <a:buChar char="•"/>
            </a:pPr>
            <a:r>
              <a:rPr lang="en-US" sz="1100" dirty="0">
                <a:solidFill>
                  <a:srgbClr val="2C3E4D"/>
                </a:solidFill>
                <a:latin typeface="Calibri" pitchFamily="34" charset="0"/>
                <a:ea typeface="Calibri" pitchFamily="34" charset="-122"/>
                <a:cs typeface="Calibri" pitchFamily="34" charset="-120"/>
              </a:rPr>
              <a:t>Erdmann &amp; Lozano-Pérez: plan one agent at a time, treat the others as moving obstacles.</a:t>
            </a:r>
            <a:endParaRPr lang="en-US" sz="1100" dirty="0"/>
          </a:p>
          <a:p>
            <a:pPr marL="177800" indent="-177800">
              <a:lnSpc>
                <a:spcPts val="1400"/>
              </a:lnSpc>
              <a:spcAft>
                <a:spcPts val="800"/>
              </a:spcAft>
              <a:buSzPct val="100000"/>
              <a:buChar char="•"/>
            </a:pPr>
            <a:r>
              <a:rPr lang="en-US" sz="1100" dirty="0">
                <a:solidFill>
                  <a:srgbClr val="2C3E4D"/>
                </a:solidFill>
                <a:latin typeface="Calibri" pitchFamily="34" charset="0"/>
                <a:ea typeface="Calibri" pitchFamily="34" charset="-122"/>
                <a:cs typeface="Calibri" pitchFamily="34" charset="-120"/>
              </a:rPr>
              <a:t>Silver's Cooperative A* / WHCA* (2005) adds a shared reservation table over space-time.</a:t>
            </a:r>
            <a:endParaRPr lang="en-US" sz="1100" dirty="0"/>
          </a:p>
          <a:p>
            <a:pPr marL="177800" indent="-177800">
              <a:lnSpc>
                <a:spcPts val="1400"/>
              </a:lnSpc>
              <a:spcAft>
                <a:spcPts val="800"/>
              </a:spcAft>
              <a:buSzPct val="100000"/>
              <a:buChar char="•"/>
            </a:pPr>
            <a:r>
              <a:rPr lang="en-US" sz="1100" dirty="0">
                <a:solidFill>
                  <a:srgbClr val="2C3E4D"/>
                </a:solidFill>
                <a:latin typeface="Calibri" pitchFamily="34" charset="0"/>
                <a:ea typeface="Calibri" pitchFamily="34" charset="-122"/>
                <a:cs typeface="Calibri" pitchFamily="34" charset="-120"/>
              </a:rPr>
              <a:t>Fast, incomplete, order-sensitive.</a:t>
            </a:r>
            <a:endParaRPr lang="en-US" sz="1100" dirty="0"/>
          </a:p>
        </p:txBody>
      </p:sp>
      <p:sp>
        <p:nvSpPr>
          <p:cNvPr id="8" name="Shape 6"/>
          <p:cNvSpPr/>
          <p:nvPr/>
        </p:nvSpPr>
        <p:spPr>
          <a:xfrm>
            <a:off x="2752344" y="1645920"/>
            <a:ext cx="2148840" cy="4160520"/>
          </a:xfrm>
          <a:prstGeom prst="roundRect">
            <a:avLst>
              <a:gd name="adj" fmla="val 3830"/>
            </a:avLst>
          </a:prstGeom>
          <a:solidFill>
            <a:srgbClr val="EDF2F6"/>
          </a:solidFill>
          <a:ln w="12700">
            <a:solidFill>
              <a:srgbClr val="EDF2F6"/>
            </a:solidFill>
            <a:prstDash val="solid"/>
          </a:ln>
          <a:effectLst>
            <a:outerShdw sx="100000" sy="100000" kx="0" ky="0" algn="bl" rotWithShape="0" blurRad="127000" dist="25400" dir="5400000">
              <a:srgbClr val="0B1620">
                <a:alpha val="13000"/>
              </a:srgbClr>
            </a:outerShdw>
          </a:effectLst>
        </p:spPr>
      </p:sp>
      <p:sp>
        <p:nvSpPr>
          <p:cNvPr id="9" name="Text 7"/>
          <p:cNvSpPr txBox="1"/>
          <p:nvPr/>
        </p:nvSpPr>
        <p:spPr>
          <a:xfrm>
            <a:off x="2971800" y="1856232"/>
            <a:ext cx="1709928" cy="256032"/>
          </a:xfrm>
          <a:prstGeom prst="rect">
            <a:avLst/>
          </a:prstGeom>
          <a:noFill/>
          <a:ln/>
        </p:spPr>
        <p:txBody>
          <a:bodyPr wrap="square" lIns="0" tIns="0" rIns="0" bIns="0" rtlCol="0" anchor="ctr"/>
          <a:lstStyle/>
          <a:p>
            <a:pPr indent="0" marL="0">
              <a:buNone/>
            </a:pPr>
            <a:r>
              <a:rPr lang="en-US" sz="1150" b="1" spc="120" kern="0" dirty="0">
                <a:solidFill>
                  <a:srgbClr val="F2A104"/>
                </a:solidFill>
                <a:latin typeface="Calibri" pitchFamily="34" charset="0"/>
                <a:ea typeface="Calibri" pitchFamily="34" charset="-122"/>
                <a:cs typeface="Calibri" pitchFamily="34" charset="-120"/>
              </a:rPr>
              <a:t>2010–2015</a:t>
            </a:r>
            <a:endParaRPr lang="en-US" sz="1150" dirty="0"/>
          </a:p>
        </p:txBody>
      </p:sp>
      <p:sp>
        <p:nvSpPr>
          <p:cNvPr id="10" name="Text 8"/>
          <p:cNvSpPr txBox="1"/>
          <p:nvPr/>
        </p:nvSpPr>
        <p:spPr>
          <a:xfrm>
            <a:off x="2971800" y="2121408"/>
            <a:ext cx="1709928" cy="384048"/>
          </a:xfrm>
          <a:prstGeom prst="rect">
            <a:avLst/>
          </a:prstGeom>
          <a:noFill/>
          <a:ln/>
        </p:spPr>
        <p:txBody>
          <a:bodyPr wrap="square" lIns="0" tIns="0" rIns="0" bIns="0" rtlCol="0" anchor="ctr"/>
          <a:lstStyle/>
          <a:p>
            <a:pPr indent="0" marL="0">
              <a:buNone/>
            </a:pPr>
            <a:r>
              <a:rPr lang="en-US" sz="2100" b="1" dirty="0">
                <a:solidFill>
                  <a:srgbClr val="101C26"/>
                </a:solidFill>
                <a:latin typeface="Cambria" pitchFamily="34" charset="0"/>
                <a:ea typeface="Cambria" pitchFamily="34" charset="-122"/>
                <a:cs typeface="Cambria" pitchFamily="34" charset="-120"/>
              </a:rPr>
              <a:t>Optimal</a:t>
            </a:r>
            <a:endParaRPr lang="en-US" sz="2100" dirty="0"/>
          </a:p>
        </p:txBody>
      </p:sp>
      <p:sp>
        <p:nvSpPr>
          <p:cNvPr id="11" name="Text 9"/>
          <p:cNvSpPr txBox="1"/>
          <p:nvPr/>
        </p:nvSpPr>
        <p:spPr>
          <a:xfrm>
            <a:off x="2935224" y="2633472"/>
            <a:ext cx="1801368" cy="3017520"/>
          </a:xfrm>
          <a:prstGeom prst="rect">
            <a:avLst/>
          </a:prstGeom>
          <a:noFill/>
          <a:ln/>
        </p:spPr>
        <p:txBody>
          <a:bodyPr wrap="square" lIns="0" tIns="0" rIns="0" bIns="0" rtlCol="0" anchor="t"/>
          <a:lstStyle/>
          <a:p>
            <a:pPr marL="177800" indent="-177800">
              <a:lnSpc>
                <a:spcPts val="1400"/>
              </a:lnSpc>
              <a:spcAft>
                <a:spcPts val="800"/>
              </a:spcAft>
              <a:buSzPct val="100000"/>
              <a:buChar char="•"/>
            </a:pPr>
            <a:r>
              <a:rPr lang="en-US" sz="1100" dirty="0">
                <a:solidFill>
                  <a:srgbClr val="2C3E4D"/>
                </a:solidFill>
                <a:latin typeface="Calibri" pitchFamily="34" charset="0"/>
                <a:ea typeface="Calibri" pitchFamily="34" charset="-122"/>
                <a:cs typeface="Calibri" pitchFamily="34" charset="-120"/>
              </a:rPr>
              <a:t>CBS (Sharon et al.) splits on conflicts and re-plans single agents under constraints.</a:t>
            </a:r>
            <a:endParaRPr lang="en-US" sz="1100" dirty="0"/>
          </a:p>
          <a:p>
            <a:pPr marL="177800" indent="-177800">
              <a:lnSpc>
                <a:spcPts val="1400"/>
              </a:lnSpc>
              <a:spcAft>
                <a:spcPts val="800"/>
              </a:spcAft>
              <a:buSzPct val="100000"/>
              <a:buChar char="•"/>
            </a:pPr>
            <a:r>
              <a:rPr lang="en-US" sz="1100" dirty="0">
                <a:solidFill>
                  <a:srgbClr val="2C3E4D"/>
                </a:solidFill>
                <a:latin typeface="Calibri" pitchFamily="34" charset="0"/>
                <a:ea typeface="Calibri" pitchFamily="34" charset="-122"/>
                <a:cs typeface="Calibri" pitchFamily="34" charset="-120"/>
              </a:rPr>
              <a:t>ICTS, M* and BCP follow soon after.</a:t>
            </a:r>
            <a:endParaRPr lang="en-US" sz="1100" dirty="0"/>
          </a:p>
          <a:p>
            <a:pPr marL="177800" indent="-177800">
              <a:lnSpc>
                <a:spcPts val="1400"/>
              </a:lnSpc>
              <a:spcAft>
                <a:spcPts val="800"/>
              </a:spcAft>
              <a:buSzPct val="100000"/>
              <a:buChar char="•"/>
            </a:pPr>
            <a:r>
              <a:rPr lang="en-US" sz="1100" dirty="0">
                <a:solidFill>
                  <a:srgbClr val="2C3E4D"/>
                </a:solidFill>
                <a:latin typeface="Calibri" pitchFamily="34" charset="0"/>
                <a:ea typeface="Calibri" pitchFamily="34" charset="-122"/>
                <a:cs typeface="Calibri" pitchFamily="34" charset="-120"/>
              </a:rPr>
              <a:t>Optimal, elegant — and it falls over past tens of agents in dense maps.</a:t>
            </a:r>
            <a:endParaRPr lang="en-US" sz="1100" dirty="0"/>
          </a:p>
        </p:txBody>
      </p:sp>
      <p:sp>
        <p:nvSpPr>
          <p:cNvPr id="12" name="Shape 10"/>
          <p:cNvSpPr/>
          <p:nvPr/>
        </p:nvSpPr>
        <p:spPr>
          <a:xfrm>
            <a:off x="5047488" y="1645920"/>
            <a:ext cx="2148840" cy="4160520"/>
          </a:xfrm>
          <a:prstGeom prst="roundRect">
            <a:avLst>
              <a:gd name="adj" fmla="val 3830"/>
            </a:avLst>
          </a:prstGeom>
          <a:solidFill>
            <a:srgbClr val="EDF2F6"/>
          </a:solidFill>
          <a:ln w="12700">
            <a:solidFill>
              <a:srgbClr val="EDF2F6"/>
            </a:solidFill>
            <a:prstDash val="solid"/>
          </a:ln>
          <a:effectLst>
            <a:outerShdw sx="100000" sy="100000" kx="0" ky="0" algn="bl" rotWithShape="0" blurRad="127000" dist="25400" dir="5400000">
              <a:srgbClr val="0B1620">
                <a:alpha val="13000"/>
              </a:srgbClr>
            </a:outerShdw>
          </a:effectLst>
        </p:spPr>
      </p:sp>
      <p:sp>
        <p:nvSpPr>
          <p:cNvPr id="13" name="Text 11"/>
          <p:cNvSpPr txBox="1"/>
          <p:nvPr/>
        </p:nvSpPr>
        <p:spPr>
          <a:xfrm>
            <a:off x="5266944" y="1856232"/>
            <a:ext cx="1709928" cy="256032"/>
          </a:xfrm>
          <a:prstGeom prst="rect">
            <a:avLst/>
          </a:prstGeom>
          <a:noFill/>
          <a:ln/>
        </p:spPr>
        <p:txBody>
          <a:bodyPr wrap="square" lIns="0" tIns="0" rIns="0" bIns="0" rtlCol="0" anchor="ctr"/>
          <a:lstStyle/>
          <a:p>
            <a:pPr indent="0" marL="0">
              <a:buNone/>
            </a:pPr>
            <a:r>
              <a:rPr lang="en-US" sz="1150" b="1" spc="120" kern="0" dirty="0">
                <a:solidFill>
                  <a:srgbClr val="F2A104"/>
                </a:solidFill>
                <a:latin typeface="Calibri" pitchFamily="34" charset="0"/>
                <a:ea typeface="Calibri" pitchFamily="34" charset="-122"/>
                <a:cs typeface="Calibri" pitchFamily="34" charset="-120"/>
              </a:rPr>
              <a:t>2011–2016</a:t>
            </a:r>
            <a:endParaRPr lang="en-US" sz="1150" dirty="0"/>
          </a:p>
        </p:txBody>
      </p:sp>
      <p:sp>
        <p:nvSpPr>
          <p:cNvPr id="14" name="Text 12"/>
          <p:cNvSpPr txBox="1"/>
          <p:nvPr/>
        </p:nvSpPr>
        <p:spPr>
          <a:xfrm>
            <a:off x="5266944" y="2121408"/>
            <a:ext cx="1709928" cy="384048"/>
          </a:xfrm>
          <a:prstGeom prst="rect">
            <a:avLst/>
          </a:prstGeom>
          <a:noFill/>
          <a:ln/>
        </p:spPr>
        <p:txBody>
          <a:bodyPr wrap="square" lIns="0" tIns="0" rIns="0" bIns="0" rtlCol="0" anchor="ctr"/>
          <a:lstStyle/>
          <a:p>
            <a:pPr indent="0" marL="0">
              <a:buNone/>
            </a:pPr>
            <a:r>
              <a:rPr lang="en-US" sz="2100" b="1" dirty="0">
                <a:solidFill>
                  <a:srgbClr val="101C26"/>
                </a:solidFill>
                <a:latin typeface="Cambria" pitchFamily="34" charset="0"/>
                <a:ea typeface="Cambria" pitchFamily="34" charset="-122"/>
                <a:cs typeface="Cambria" pitchFamily="34" charset="-120"/>
              </a:rPr>
              <a:t>Rule-based</a:t>
            </a:r>
            <a:endParaRPr lang="en-US" sz="2100" dirty="0"/>
          </a:p>
        </p:txBody>
      </p:sp>
      <p:sp>
        <p:nvSpPr>
          <p:cNvPr id="15" name="Text 13"/>
          <p:cNvSpPr txBox="1"/>
          <p:nvPr/>
        </p:nvSpPr>
        <p:spPr>
          <a:xfrm>
            <a:off x="5230368" y="2633472"/>
            <a:ext cx="1801368" cy="3017520"/>
          </a:xfrm>
          <a:prstGeom prst="rect">
            <a:avLst/>
          </a:prstGeom>
          <a:noFill/>
          <a:ln/>
        </p:spPr>
        <p:txBody>
          <a:bodyPr wrap="square" lIns="0" tIns="0" rIns="0" bIns="0" rtlCol="0" anchor="t"/>
          <a:lstStyle/>
          <a:p>
            <a:pPr marL="177800" indent="-177800">
              <a:lnSpc>
                <a:spcPts val="1400"/>
              </a:lnSpc>
              <a:spcAft>
                <a:spcPts val="800"/>
              </a:spcAft>
              <a:buSzPct val="100000"/>
              <a:buChar char="•"/>
            </a:pPr>
            <a:r>
              <a:rPr lang="en-US" sz="1100" dirty="0">
                <a:solidFill>
                  <a:srgbClr val="2C3E4D"/>
                </a:solidFill>
                <a:latin typeface="Calibri" pitchFamily="34" charset="0"/>
                <a:ea typeface="Calibri" pitchFamily="34" charset="-122"/>
                <a:cs typeface="Calibri" pitchFamily="34" charset="-120"/>
              </a:rPr>
              <a:t>Push and Swap, Push and Rotate, TASS: complete in polynomial time by construction.</a:t>
            </a:r>
            <a:endParaRPr lang="en-US" sz="1100" dirty="0"/>
          </a:p>
          <a:p>
            <a:pPr marL="177800" indent="-177800">
              <a:lnSpc>
                <a:spcPts val="1400"/>
              </a:lnSpc>
              <a:spcAft>
                <a:spcPts val="800"/>
              </a:spcAft>
              <a:buSzPct val="100000"/>
              <a:buChar char="•"/>
            </a:pPr>
            <a:r>
              <a:rPr lang="en-US" sz="1100" dirty="0">
                <a:solidFill>
                  <a:srgbClr val="2C3E4D"/>
                </a:solidFill>
                <a:latin typeface="Calibri" pitchFamily="34" charset="0"/>
                <a:ea typeface="Calibri" pitchFamily="34" charset="-122"/>
                <a:cs typeface="Calibri" pitchFamily="34" charset="-120"/>
              </a:rPr>
              <a:t>Solution quality is poor, but they never fail to terminate.</a:t>
            </a:r>
            <a:endParaRPr lang="en-US" sz="1100" dirty="0"/>
          </a:p>
        </p:txBody>
      </p:sp>
      <p:sp>
        <p:nvSpPr>
          <p:cNvPr id="16" name="Shape 14"/>
          <p:cNvSpPr/>
          <p:nvPr/>
        </p:nvSpPr>
        <p:spPr>
          <a:xfrm>
            <a:off x="7342632" y="1645920"/>
            <a:ext cx="2148840" cy="4160520"/>
          </a:xfrm>
          <a:prstGeom prst="roundRect">
            <a:avLst>
              <a:gd name="adj" fmla="val 3830"/>
            </a:avLst>
          </a:prstGeom>
          <a:solidFill>
            <a:srgbClr val="EDF2F6"/>
          </a:solidFill>
          <a:ln w="12700">
            <a:solidFill>
              <a:srgbClr val="EDF2F6"/>
            </a:solidFill>
            <a:prstDash val="solid"/>
          </a:ln>
          <a:effectLst>
            <a:outerShdw sx="100000" sy="100000" kx="0" ky="0" algn="bl" rotWithShape="0" blurRad="127000" dist="25400" dir="5400000">
              <a:srgbClr val="0B1620">
                <a:alpha val="13000"/>
              </a:srgbClr>
            </a:outerShdw>
          </a:effectLst>
        </p:spPr>
      </p:sp>
      <p:sp>
        <p:nvSpPr>
          <p:cNvPr id="17" name="Text 15"/>
          <p:cNvSpPr txBox="1"/>
          <p:nvPr/>
        </p:nvSpPr>
        <p:spPr>
          <a:xfrm>
            <a:off x="7562088" y="1856232"/>
            <a:ext cx="1709928" cy="256032"/>
          </a:xfrm>
          <a:prstGeom prst="rect">
            <a:avLst/>
          </a:prstGeom>
          <a:noFill/>
          <a:ln/>
        </p:spPr>
        <p:txBody>
          <a:bodyPr wrap="square" lIns="0" tIns="0" rIns="0" bIns="0" rtlCol="0" anchor="ctr"/>
          <a:lstStyle/>
          <a:p>
            <a:pPr indent="0" marL="0">
              <a:buNone/>
            </a:pPr>
            <a:r>
              <a:rPr lang="en-US" sz="1150" b="1" spc="120" kern="0" dirty="0">
                <a:solidFill>
                  <a:srgbClr val="F2A104"/>
                </a:solidFill>
                <a:latin typeface="Calibri" pitchFamily="34" charset="0"/>
                <a:ea typeface="Calibri" pitchFamily="34" charset="-122"/>
                <a:cs typeface="Calibri" pitchFamily="34" charset="-120"/>
              </a:rPr>
              <a:t>2017–2021</a:t>
            </a:r>
            <a:endParaRPr lang="en-US" sz="1150" dirty="0"/>
          </a:p>
        </p:txBody>
      </p:sp>
      <p:sp>
        <p:nvSpPr>
          <p:cNvPr id="18" name="Text 16"/>
          <p:cNvSpPr txBox="1"/>
          <p:nvPr/>
        </p:nvSpPr>
        <p:spPr>
          <a:xfrm>
            <a:off x="7562088" y="2121408"/>
            <a:ext cx="1709928" cy="384048"/>
          </a:xfrm>
          <a:prstGeom prst="rect">
            <a:avLst/>
          </a:prstGeom>
          <a:noFill/>
          <a:ln/>
        </p:spPr>
        <p:txBody>
          <a:bodyPr wrap="square" lIns="0" tIns="0" rIns="0" bIns="0" rtlCol="0" anchor="ctr"/>
          <a:lstStyle/>
          <a:p>
            <a:pPr indent="0" marL="0">
              <a:buNone/>
            </a:pPr>
            <a:r>
              <a:rPr lang="en-US" sz="2100" b="1" dirty="0">
                <a:solidFill>
                  <a:srgbClr val="101C26"/>
                </a:solidFill>
                <a:latin typeface="Cambria" pitchFamily="34" charset="0"/>
                <a:ea typeface="Cambria" pitchFamily="34" charset="-122"/>
                <a:cs typeface="Cambria" pitchFamily="34" charset="-120"/>
              </a:rPr>
              <a:t>Lifelong</a:t>
            </a:r>
            <a:endParaRPr lang="en-US" sz="2100" dirty="0"/>
          </a:p>
        </p:txBody>
      </p:sp>
      <p:sp>
        <p:nvSpPr>
          <p:cNvPr id="19" name="Text 17"/>
          <p:cNvSpPr txBox="1"/>
          <p:nvPr/>
        </p:nvSpPr>
        <p:spPr>
          <a:xfrm>
            <a:off x="7525512" y="2633472"/>
            <a:ext cx="1801368" cy="3017520"/>
          </a:xfrm>
          <a:prstGeom prst="rect">
            <a:avLst/>
          </a:prstGeom>
          <a:noFill/>
          <a:ln/>
        </p:spPr>
        <p:txBody>
          <a:bodyPr wrap="square" lIns="0" tIns="0" rIns="0" bIns="0" rtlCol="0" anchor="t"/>
          <a:lstStyle/>
          <a:p>
            <a:pPr marL="177800" indent="-177800">
              <a:lnSpc>
                <a:spcPts val="1400"/>
              </a:lnSpc>
              <a:spcAft>
                <a:spcPts val="800"/>
              </a:spcAft>
              <a:buSzPct val="100000"/>
              <a:buChar char="•"/>
            </a:pPr>
            <a:r>
              <a:rPr lang="en-US" sz="1100" dirty="0">
                <a:solidFill>
                  <a:srgbClr val="2C3E4D"/>
                </a:solidFill>
                <a:latin typeface="Calibri" pitchFamily="34" charset="0"/>
                <a:ea typeface="Calibri" pitchFamily="34" charset="-122"/>
                <a:cs typeface="Calibri" pitchFamily="34" charset="-120"/>
              </a:rPr>
              <a:t>Warehouses (Kiva / Amazon Robotics, 2008) make the one-shot formulation obsolete.</a:t>
            </a:r>
            <a:endParaRPr lang="en-US" sz="1100" dirty="0"/>
          </a:p>
          <a:p>
            <a:pPr marL="177800" indent="-177800">
              <a:lnSpc>
                <a:spcPts val="1400"/>
              </a:lnSpc>
              <a:spcAft>
                <a:spcPts val="800"/>
              </a:spcAft>
              <a:buSzPct val="100000"/>
              <a:buChar char="•"/>
            </a:pPr>
            <a:r>
              <a:rPr lang="en-US" sz="1100" dirty="0">
                <a:solidFill>
                  <a:srgbClr val="2C3E4D"/>
                </a:solidFill>
                <a:latin typeface="Calibri" pitchFamily="34" charset="0"/>
                <a:ea typeface="Calibri" pitchFamily="34" charset="-122"/>
                <a:cs typeface="Calibri" pitchFamily="34" charset="-120"/>
              </a:rPr>
              <a:t>MAPD and Token Passing (Ma, Li, Kumar &amp; Koenig, 2017); RHCR replans a rolling window (Li et al., 2021).</a:t>
            </a:r>
            <a:endParaRPr lang="en-US" sz="1100" dirty="0"/>
          </a:p>
        </p:txBody>
      </p:sp>
      <p:sp>
        <p:nvSpPr>
          <p:cNvPr id="20" name="Shape 18"/>
          <p:cNvSpPr/>
          <p:nvPr/>
        </p:nvSpPr>
        <p:spPr>
          <a:xfrm>
            <a:off x="9637776" y="1645920"/>
            <a:ext cx="2148840" cy="4160520"/>
          </a:xfrm>
          <a:prstGeom prst="roundRect">
            <a:avLst>
              <a:gd name="adj" fmla="val 3830"/>
            </a:avLst>
          </a:prstGeom>
          <a:solidFill>
            <a:srgbClr val="1D3346"/>
          </a:solidFill>
          <a:ln w="12700">
            <a:solidFill>
              <a:srgbClr val="1D3346"/>
            </a:solidFill>
            <a:prstDash val="solid"/>
          </a:ln>
          <a:effectLst>
            <a:outerShdw sx="100000" sy="100000" kx="0" ky="0" algn="bl" rotWithShape="0" blurRad="127000" dist="25400" dir="5400000">
              <a:srgbClr val="0B1620">
                <a:alpha val="13000"/>
              </a:srgbClr>
            </a:outerShdw>
          </a:effectLst>
        </p:spPr>
      </p:sp>
      <p:sp>
        <p:nvSpPr>
          <p:cNvPr id="21" name="Text 19"/>
          <p:cNvSpPr txBox="1"/>
          <p:nvPr/>
        </p:nvSpPr>
        <p:spPr>
          <a:xfrm>
            <a:off x="9857232" y="1856232"/>
            <a:ext cx="1709928" cy="256032"/>
          </a:xfrm>
          <a:prstGeom prst="rect">
            <a:avLst/>
          </a:prstGeom>
          <a:noFill/>
          <a:ln/>
        </p:spPr>
        <p:txBody>
          <a:bodyPr wrap="square" lIns="0" tIns="0" rIns="0" bIns="0" rtlCol="0" anchor="ctr"/>
          <a:lstStyle/>
          <a:p>
            <a:pPr indent="0" marL="0">
              <a:buNone/>
            </a:pPr>
            <a:r>
              <a:rPr lang="en-US" sz="1150" b="1" spc="120" kern="0" dirty="0">
                <a:solidFill>
                  <a:srgbClr val="F2A104"/>
                </a:solidFill>
                <a:latin typeface="Calibri" pitchFamily="34" charset="0"/>
                <a:ea typeface="Calibri" pitchFamily="34" charset="-122"/>
                <a:cs typeface="Calibri" pitchFamily="34" charset="-120"/>
              </a:rPr>
              <a:t>2019–2023</a:t>
            </a:r>
            <a:endParaRPr lang="en-US" sz="1150" dirty="0"/>
          </a:p>
        </p:txBody>
      </p:sp>
      <p:sp>
        <p:nvSpPr>
          <p:cNvPr id="22" name="Text 20"/>
          <p:cNvSpPr txBox="1"/>
          <p:nvPr/>
        </p:nvSpPr>
        <p:spPr>
          <a:xfrm>
            <a:off x="9857232" y="2121408"/>
            <a:ext cx="1709928" cy="384048"/>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Scalable</a:t>
            </a:r>
            <a:endParaRPr lang="en-US" sz="2100" dirty="0"/>
          </a:p>
        </p:txBody>
      </p:sp>
      <p:sp>
        <p:nvSpPr>
          <p:cNvPr id="23" name="Text 21"/>
          <p:cNvSpPr txBox="1"/>
          <p:nvPr/>
        </p:nvSpPr>
        <p:spPr>
          <a:xfrm>
            <a:off x="9820656" y="2633472"/>
            <a:ext cx="1801368" cy="3017520"/>
          </a:xfrm>
          <a:prstGeom prst="rect">
            <a:avLst/>
          </a:prstGeom>
          <a:noFill/>
          <a:ln/>
        </p:spPr>
        <p:txBody>
          <a:bodyPr wrap="square" lIns="0" tIns="0" rIns="0" bIns="0" rtlCol="0" anchor="t"/>
          <a:lstStyle/>
          <a:p>
            <a:pPr marL="177800" indent="-177800">
              <a:lnSpc>
                <a:spcPts val="1400"/>
              </a:lnSpc>
              <a:spcAft>
                <a:spcPts val="800"/>
              </a:spcAft>
              <a:buSzPct val="100000"/>
              <a:buChar char="•"/>
            </a:pPr>
            <a:r>
              <a:rPr lang="en-US" sz="1100" dirty="0">
                <a:solidFill>
                  <a:srgbClr val="C6D5E0"/>
                </a:solidFill>
                <a:latin typeface="Calibri" pitchFamily="34" charset="0"/>
                <a:ea typeface="Calibri" pitchFamily="34" charset="-122"/>
                <a:cs typeface="Calibri" pitchFamily="34" charset="-120"/>
              </a:rPr>
              <a:t>PIBT (Okumura et al.): one timestep at a time, priority inheritance and backtracking.</a:t>
            </a:r>
            <a:endParaRPr lang="en-US" sz="1100" dirty="0"/>
          </a:p>
          <a:p>
            <a:pPr marL="177800" indent="-177800">
              <a:lnSpc>
                <a:spcPts val="1400"/>
              </a:lnSpc>
              <a:spcAft>
                <a:spcPts val="800"/>
              </a:spcAft>
              <a:buSzPct val="100000"/>
              <a:buChar char="•"/>
            </a:pPr>
            <a:r>
              <a:rPr lang="en-US" sz="1100" dirty="0">
                <a:solidFill>
                  <a:srgbClr val="C6D5E0"/>
                </a:solidFill>
                <a:latin typeface="Calibri" pitchFamily="34" charset="0"/>
                <a:ea typeface="Calibri" pitchFamily="34" charset="-122"/>
                <a:cs typeface="Calibri" pitchFamily="34" charset="-120"/>
              </a:rPr>
              <a:t>LaCAM (2023) builds a complete search on top of it.</a:t>
            </a:r>
            <a:endParaRPr lang="en-US" sz="1100" dirty="0"/>
          </a:p>
          <a:p>
            <a:pPr marL="177800" indent="-177800">
              <a:lnSpc>
                <a:spcPts val="1400"/>
              </a:lnSpc>
              <a:spcAft>
                <a:spcPts val="800"/>
              </a:spcAft>
              <a:buSzPct val="100000"/>
              <a:buChar char="•"/>
            </a:pPr>
            <a:r>
              <a:rPr lang="en-US" sz="1100" dirty="0">
                <a:solidFill>
                  <a:srgbClr val="C6D5E0"/>
                </a:solidFill>
                <a:latin typeface="Calibri" pitchFamily="34" charset="0"/>
                <a:ea typeface="Calibri" pitchFamily="34" charset="-122"/>
                <a:cs typeface="Calibri" pitchFamily="34" charset="-120"/>
              </a:rPr>
              <a:t>Thousands of agents in real time.</a:t>
            </a:r>
            <a:endParaRPr lang="en-US" sz="1100" dirty="0"/>
          </a:p>
        </p:txBody>
      </p:sp>
      <p:sp>
        <p:nvSpPr>
          <p:cNvPr id="24" name="Text 22"/>
          <p:cNvSpPr txBox="1"/>
          <p:nvPr/>
        </p:nvSpPr>
        <p:spPr>
          <a:xfrm>
            <a:off x="548640" y="6217920"/>
            <a:ext cx="11064240" cy="411480"/>
          </a:xfrm>
          <a:prstGeom prst="rect">
            <a:avLst/>
          </a:prstGeom>
          <a:noFill/>
          <a:ln/>
        </p:spPr>
        <p:txBody>
          <a:bodyPr wrap="square" lIns="0" tIns="0" rIns="0" bIns="0" rtlCol="0" anchor="ctr"/>
          <a:lstStyle/>
          <a:p>
            <a:pPr indent="0" marL="0">
              <a:buNone/>
            </a:pPr>
            <a:r>
              <a:rPr lang="en-US" sz="1000" i="1" dirty="0">
                <a:solidFill>
                  <a:srgbClr val="6C7C8A"/>
                </a:solidFill>
                <a:latin typeface="Calibri" pitchFamily="34" charset="0"/>
                <a:ea typeface="Calibri" pitchFamily="34" charset="-122"/>
                <a:cs typeface="Calibri" pitchFamily="34" charset="-120"/>
              </a:rPr>
              <a:t>BCP — branch-and-cut-and-price. PIBT — Priority Inheritance with Backtracking, Okumura, Machida, Défago &amp; Tamura (IJCAI 2019; Artificial Intelligence, 2022) — is the algorithm this repository extends.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515600" cy="237744"/>
          </a:xfrm>
          <a:prstGeom prst="rect">
            <a:avLst/>
          </a:prstGeom>
          <a:noFill/>
          <a:ln/>
        </p:spPr>
        <p:txBody>
          <a:bodyPr wrap="square" lIns="0" tIns="0" rIns="0" bIns="0" rtlCol="0" anchor="ctr"/>
          <a:lstStyle/>
          <a:p>
            <a:pPr indent="0" marL="0">
              <a:buNone/>
            </a:pPr>
            <a:r>
              <a:rPr lang="en-US" sz="1150" b="1" spc="220" kern="0" dirty="0">
                <a:solidFill>
                  <a:srgbClr val="F2A104"/>
                </a:solidFill>
                <a:latin typeface="Calibri" pitchFamily="34" charset="0"/>
                <a:ea typeface="Calibri" pitchFamily="34" charset="-122"/>
                <a:cs typeface="Calibri" pitchFamily="34" charset="-120"/>
              </a:rPr>
              <a:t>HOW THE FAMILIES TRADE OFF</a:t>
            </a:r>
            <a:endParaRPr lang="en-US" sz="1150" dirty="0"/>
          </a:p>
        </p:txBody>
      </p:sp>
      <p:sp>
        <p:nvSpPr>
          <p:cNvPr id="3" name="Text 1"/>
          <p:cNvSpPr txBox="1"/>
          <p:nvPr/>
        </p:nvSpPr>
        <p:spPr>
          <a:xfrm>
            <a:off x="548640" y="658368"/>
            <a:ext cx="10607040" cy="658368"/>
          </a:xfrm>
          <a:prstGeom prst="rect">
            <a:avLst/>
          </a:prstGeom>
          <a:noFill/>
          <a:ln/>
        </p:spPr>
        <p:txBody>
          <a:bodyPr wrap="square" lIns="0" tIns="0" rIns="0" bIns="0" rtlCol="0" anchor="ctr"/>
          <a:lstStyle/>
          <a:p>
            <a:pPr indent="0" marL="0">
              <a:buNone/>
            </a:pPr>
            <a:r>
              <a:rPr lang="en-US" sz="3400" b="1" dirty="0">
                <a:solidFill>
                  <a:srgbClr val="101C26"/>
                </a:solidFill>
                <a:latin typeface="Cambria" pitchFamily="34" charset="0"/>
                <a:ea typeface="Cambria" pitchFamily="34" charset="-122"/>
                <a:cs typeface="Cambria" pitchFamily="34" charset="-120"/>
              </a:rPr>
              <a:t>You choose two of three: optimal, complete, fast</a:t>
            </a:r>
            <a:endParaRPr lang="en-US" sz="3400" dirty="0"/>
          </a:p>
        </p:txBody>
      </p:sp>
      <p:sp>
        <p:nvSpPr>
          <p:cNvPr id="4" name="Text 2"/>
          <p:cNvSpPr txBox="1"/>
          <p:nvPr/>
        </p:nvSpPr>
        <p:spPr>
          <a:xfrm>
            <a:off x="548640" y="1737360"/>
            <a:ext cx="2103120" cy="274320"/>
          </a:xfrm>
          <a:prstGeom prst="rect">
            <a:avLst/>
          </a:prstGeom>
          <a:noFill/>
          <a:ln/>
        </p:spPr>
        <p:txBody>
          <a:bodyPr wrap="square" lIns="0" tIns="0" rIns="0" bIns="0" rtlCol="0" anchor="ctr"/>
          <a:lstStyle/>
          <a:p>
            <a:pPr indent="0" marL="0">
              <a:buNone/>
            </a:pPr>
            <a:r>
              <a:rPr lang="en-US" sz="1050" b="1" spc="130" kern="0" dirty="0">
                <a:solidFill>
                  <a:srgbClr val="F2A104"/>
                </a:solidFill>
                <a:latin typeface="Calibri" pitchFamily="34" charset="0"/>
                <a:ea typeface="Calibri" pitchFamily="34" charset="-122"/>
                <a:cs typeface="Calibri" pitchFamily="34" charset="-120"/>
              </a:rPr>
              <a:t>FAMILY</a:t>
            </a:r>
            <a:endParaRPr lang="en-US" sz="1050" dirty="0"/>
          </a:p>
        </p:txBody>
      </p:sp>
      <p:sp>
        <p:nvSpPr>
          <p:cNvPr id="5" name="Text 3"/>
          <p:cNvSpPr txBox="1"/>
          <p:nvPr/>
        </p:nvSpPr>
        <p:spPr>
          <a:xfrm>
            <a:off x="2697480" y="1737360"/>
            <a:ext cx="2286000" cy="274320"/>
          </a:xfrm>
          <a:prstGeom prst="rect">
            <a:avLst/>
          </a:prstGeom>
          <a:noFill/>
          <a:ln/>
        </p:spPr>
        <p:txBody>
          <a:bodyPr wrap="square" lIns="0" tIns="0" rIns="0" bIns="0" rtlCol="0" anchor="ctr"/>
          <a:lstStyle/>
          <a:p>
            <a:pPr indent="0" marL="0">
              <a:buNone/>
            </a:pPr>
            <a:r>
              <a:rPr lang="en-US" sz="1050" b="1" spc="130" kern="0" dirty="0">
                <a:solidFill>
                  <a:srgbClr val="F2A104"/>
                </a:solidFill>
                <a:latin typeface="Calibri" pitchFamily="34" charset="0"/>
                <a:ea typeface="Calibri" pitchFamily="34" charset="-122"/>
                <a:cs typeface="Calibri" pitchFamily="34" charset="-120"/>
              </a:rPr>
              <a:t>REPRESENTATIVES</a:t>
            </a:r>
            <a:endParaRPr lang="en-US" sz="1050" dirty="0"/>
          </a:p>
        </p:txBody>
      </p:sp>
      <p:sp>
        <p:nvSpPr>
          <p:cNvPr id="6" name="Text 4"/>
          <p:cNvSpPr txBox="1"/>
          <p:nvPr/>
        </p:nvSpPr>
        <p:spPr>
          <a:xfrm>
            <a:off x="5029200" y="1737360"/>
            <a:ext cx="2606040" cy="274320"/>
          </a:xfrm>
          <a:prstGeom prst="rect">
            <a:avLst/>
          </a:prstGeom>
          <a:noFill/>
          <a:ln/>
        </p:spPr>
        <p:txBody>
          <a:bodyPr wrap="square" lIns="0" tIns="0" rIns="0" bIns="0" rtlCol="0" anchor="ctr"/>
          <a:lstStyle/>
          <a:p>
            <a:pPr indent="0" marL="0">
              <a:buNone/>
            </a:pPr>
            <a:r>
              <a:rPr lang="en-US" sz="1050" b="1" spc="130" kern="0" dirty="0">
                <a:solidFill>
                  <a:srgbClr val="F2A104"/>
                </a:solidFill>
                <a:latin typeface="Calibri" pitchFamily="34" charset="0"/>
                <a:ea typeface="Calibri" pitchFamily="34" charset="-122"/>
                <a:cs typeface="Calibri" pitchFamily="34" charset="-120"/>
              </a:rPr>
              <a:t>GUARANTEE</a:t>
            </a:r>
            <a:endParaRPr lang="en-US" sz="1050" dirty="0"/>
          </a:p>
        </p:txBody>
      </p:sp>
      <p:sp>
        <p:nvSpPr>
          <p:cNvPr id="7" name="Text 5"/>
          <p:cNvSpPr txBox="1"/>
          <p:nvPr/>
        </p:nvSpPr>
        <p:spPr>
          <a:xfrm>
            <a:off x="7680960" y="1737360"/>
            <a:ext cx="1920240" cy="274320"/>
          </a:xfrm>
          <a:prstGeom prst="rect">
            <a:avLst/>
          </a:prstGeom>
          <a:noFill/>
          <a:ln/>
        </p:spPr>
        <p:txBody>
          <a:bodyPr wrap="square" lIns="0" tIns="0" rIns="0" bIns="0" rtlCol="0" anchor="ctr"/>
          <a:lstStyle/>
          <a:p>
            <a:pPr indent="0" marL="0">
              <a:buNone/>
            </a:pPr>
            <a:r>
              <a:rPr lang="en-US" sz="1050" b="1" spc="130" kern="0" dirty="0">
                <a:solidFill>
                  <a:srgbClr val="F2A104"/>
                </a:solidFill>
                <a:latin typeface="Calibri" pitchFamily="34" charset="0"/>
                <a:ea typeface="Calibri" pitchFamily="34" charset="-122"/>
                <a:cs typeface="Calibri" pitchFamily="34" charset="-120"/>
              </a:rPr>
              <a:t>SCALE</a:t>
            </a:r>
            <a:endParaRPr lang="en-US" sz="1050" dirty="0"/>
          </a:p>
        </p:txBody>
      </p:sp>
      <p:sp>
        <p:nvSpPr>
          <p:cNvPr id="8" name="Text 6"/>
          <p:cNvSpPr txBox="1"/>
          <p:nvPr/>
        </p:nvSpPr>
        <p:spPr>
          <a:xfrm>
            <a:off x="9646920" y="1737360"/>
            <a:ext cx="2011680" cy="274320"/>
          </a:xfrm>
          <a:prstGeom prst="rect">
            <a:avLst/>
          </a:prstGeom>
          <a:noFill/>
          <a:ln/>
        </p:spPr>
        <p:txBody>
          <a:bodyPr wrap="square" lIns="0" tIns="0" rIns="0" bIns="0" rtlCol="0" anchor="ctr"/>
          <a:lstStyle/>
          <a:p>
            <a:pPr indent="0" marL="0">
              <a:buNone/>
            </a:pPr>
            <a:r>
              <a:rPr lang="en-US" sz="1050" b="1" spc="130" kern="0" dirty="0">
                <a:solidFill>
                  <a:srgbClr val="F2A104"/>
                </a:solidFill>
                <a:latin typeface="Calibri" pitchFamily="34" charset="0"/>
                <a:ea typeface="Calibri" pitchFamily="34" charset="-122"/>
                <a:cs typeface="Calibri" pitchFamily="34" charset="-120"/>
              </a:rPr>
              <a:t>THE PRICE</a:t>
            </a:r>
            <a:endParaRPr lang="en-US" sz="1050" dirty="0"/>
          </a:p>
        </p:txBody>
      </p:sp>
      <p:sp>
        <p:nvSpPr>
          <p:cNvPr id="9" name="Shape 7"/>
          <p:cNvSpPr/>
          <p:nvPr/>
        </p:nvSpPr>
        <p:spPr>
          <a:xfrm>
            <a:off x="420624" y="2121408"/>
            <a:ext cx="11338560" cy="841248"/>
          </a:xfrm>
          <a:prstGeom prst="roundRect">
            <a:avLst>
              <a:gd name="adj" fmla="val 9783"/>
            </a:avLst>
          </a:prstGeom>
          <a:solidFill>
            <a:srgbClr val="EDF2F6"/>
          </a:solidFill>
          <a:ln w="12700">
            <a:solidFill>
              <a:srgbClr val="EDF2F6"/>
            </a:solidFill>
            <a:prstDash val="solid"/>
          </a:ln>
        </p:spPr>
      </p:sp>
      <p:sp>
        <p:nvSpPr>
          <p:cNvPr id="10" name="Text 8"/>
          <p:cNvSpPr txBox="1"/>
          <p:nvPr/>
        </p:nvSpPr>
        <p:spPr>
          <a:xfrm>
            <a:off x="548640" y="2249424"/>
            <a:ext cx="2103120" cy="603504"/>
          </a:xfrm>
          <a:prstGeom prst="rect">
            <a:avLst/>
          </a:prstGeom>
          <a:noFill/>
          <a:ln/>
        </p:spPr>
        <p:txBody>
          <a:bodyPr wrap="square" lIns="0" tIns="0" rIns="0" bIns="0" rtlCol="0" anchor="ctr"/>
          <a:lstStyle/>
          <a:p>
            <a:pPr indent="0" marL="0">
              <a:lnSpc>
                <a:spcPts val="1600"/>
              </a:lnSpc>
              <a:buNone/>
            </a:pPr>
            <a:r>
              <a:rPr lang="en-US" sz="1500" b="1" dirty="0">
                <a:solidFill>
                  <a:srgbClr val="101C26"/>
                </a:solidFill>
                <a:latin typeface="Cambria" pitchFamily="34" charset="0"/>
                <a:ea typeface="Cambria" pitchFamily="34" charset="-122"/>
                <a:cs typeface="Cambria" pitchFamily="34" charset="-120"/>
              </a:rPr>
              <a:t>Optimal search</a:t>
            </a:r>
            <a:endParaRPr lang="en-US" sz="1500" dirty="0"/>
          </a:p>
        </p:txBody>
      </p:sp>
      <p:sp>
        <p:nvSpPr>
          <p:cNvPr id="11" name="Text 9"/>
          <p:cNvSpPr txBox="1"/>
          <p:nvPr/>
        </p:nvSpPr>
        <p:spPr>
          <a:xfrm>
            <a:off x="2697480" y="2249424"/>
            <a:ext cx="2286000" cy="603504"/>
          </a:xfrm>
          <a:prstGeom prst="rect">
            <a:avLst/>
          </a:prstGeom>
          <a:noFill/>
          <a:ln/>
        </p:spPr>
        <p:txBody>
          <a:bodyPr wrap="square" lIns="0" tIns="0" rIns="0" bIns="0" rtlCol="0" anchor="ctr"/>
          <a:lstStyle/>
          <a:p>
            <a:pPr indent="0" marL="0">
              <a:lnSpc>
                <a:spcPts val="1600"/>
              </a:lnSpc>
              <a:buNone/>
            </a:pPr>
            <a:r>
              <a:rPr lang="en-US" sz="1250" dirty="0">
                <a:solidFill>
                  <a:srgbClr val="2C3E4D"/>
                </a:solidFill>
                <a:latin typeface="Calibri" pitchFamily="34" charset="0"/>
                <a:ea typeface="Calibri" pitchFamily="34" charset="-122"/>
                <a:cs typeface="Calibri" pitchFamily="34" charset="-120"/>
              </a:rPr>
              <a:t>CBS, ICTS, M*, BCP</a:t>
            </a:r>
            <a:endParaRPr lang="en-US" sz="1250" dirty="0"/>
          </a:p>
        </p:txBody>
      </p:sp>
      <p:sp>
        <p:nvSpPr>
          <p:cNvPr id="12" name="Text 10"/>
          <p:cNvSpPr txBox="1"/>
          <p:nvPr/>
        </p:nvSpPr>
        <p:spPr>
          <a:xfrm>
            <a:off x="5029200" y="2249424"/>
            <a:ext cx="2606040" cy="603504"/>
          </a:xfrm>
          <a:prstGeom prst="rect">
            <a:avLst/>
          </a:prstGeom>
          <a:noFill/>
          <a:ln/>
        </p:spPr>
        <p:txBody>
          <a:bodyPr wrap="square" lIns="0" tIns="0" rIns="0" bIns="0" rtlCol="0" anchor="ctr"/>
          <a:lstStyle/>
          <a:p>
            <a:pPr indent="0" marL="0">
              <a:lnSpc>
                <a:spcPts val="1600"/>
              </a:lnSpc>
              <a:buNone/>
            </a:pPr>
            <a:r>
              <a:rPr lang="en-US" sz="1250" dirty="0">
                <a:solidFill>
                  <a:srgbClr val="2C3E4D"/>
                </a:solidFill>
                <a:latin typeface="Calibri" pitchFamily="34" charset="0"/>
                <a:ea typeface="Calibri" pitchFamily="34" charset="-122"/>
                <a:cs typeface="Calibri" pitchFamily="34" charset="-120"/>
              </a:rPr>
              <a:t>Optimal + complete</a:t>
            </a:r>
            <a:endParaRPr lang="en-US" sz="1250" dirty="0"/>
          </a:p>
        </p:txBody>
      </p:sp>
      <p:sp>
        <p:nvSpPr>
          <p:cNvPr id="13" name="Text 11"/>
          <p:cNvSpPr txBox="1"/>
          <p:nvPr/>
        </p:nvSpPr>
        <p:spPr>
          <a:xfrm>
            <a:off x="7680960" y="2249424"/>
            <a:ext cx="1920240" cy="603504"/>
          </a:xfrm>
          <a:prstGeom prst="rect">
            <a:avLst/>
          </a:prstGeom>
          <a:noFill/>
          <a:ln/>
        </p:spPr>
        <p:txBody>
          <a:bodyPr wrap="square" lIns="0" tIns="0" rIns="0" bIns="0" rtlCol="0" anchor="ctr"/>
          <a:lstStyle/>
          <a:p>
            <a:pPr indent="0" marL="0">
              <a:lnSpc>
                <a:spcPts val="1600"/>
              </a:lnSpc>
              <a:buNone/>
            </a:pPr>
            <a:r>
              <a:rPr lang="en-US" sz="1250" dirty="0">
                <a:solidFill>
                  <a:srgbClr val="2C3E4D"/>
                </a:solidFill>
                <a:latin typeface="Calibri" pitchFamily="34" charset="0"/>
                <a:ea typeface="Calibri" pitchFamily="34" charset="-122"/>
                <a:cs typeface="Calibri" pitchFamily="34" charset="-120"/>
              </a:rPr>
              <a:t>Tens of agents</a:t>
            </a:r>
            <a:endParaRPr lang="en-US" sz="1250" dirty="0"/>
          </a:p>
        </p:txBody>
      </p:sp>
      <p:sp>
        <p:nvSpPr>
          <p:cNvPr id="14" name="Text 12"/>
          <p:cNvSpPr txBox="1"/>
          <p:nvPr/>
        </p:nvSpPr>
        <p:spPr>
          <a:xfrm>
            <a:off x="9646920" y="2249424"/>
            <a:ext cx="2011680" cy="603504"/>
          </a:xfrm>
          <a:prstGeom prst="rect">
            <a:avLst/>
          </a:prstGeom>
          <a:noFill/>
          <a:ln/>
        </p:spPr>
        <p:txBody>
          <a:bodyPr wrap="square" lIns="0" tIns="0" rIns="0" bIns="0" rtlCol="0" anchor="ctr"/>
          <a:lstStyle/>
          <a:p>
            <a:pPr indent="0" marL="0">
              <a:lnSpc>
                <a:spcPts val="1600"/>
              </a:lnSpc>
              <a:buNone/>
            </a:pPr>
            <a:r>
              <a:rPr lang="en-US" sz="1250" dirty="0">
                <a:solidFill>
                  <a:srgbClr val="2C3E4D"/>
                </a:solidFill>
                <a:latin typeface="Calibri" pitchFamily="34" charset="0"/>
                <a:ea typeface="Calibri" pitchFamily="34" charset="-122"/>
                <a:cs typeface="Calibri" pitchFamily="34" charset="-120"/>
              </a:rPr>
              <a:t>Exponential in conflicts</a:t>
            </a:r>
            <a:endParaRPr lang="en-US" sz="1250" dirty="0"/>
          </a:p>
        </p:txBody>
      </p:sp>
      <p:sp>
        <p:nvSpPr>
          <p:cNvPr id="15" name="Shape 13"/>
          <p:cNvSpPr/>
          <p:nvPr/>
        </p:nvSpPr>
        <p:spPr>
          <a:xfrm>
            <a:off x="420624" y="3090672"/>
            <a:ext cx="11338560" cy="841248"/>
          </a:xfrm>
          <a:prstGeom prst="roundRect">
            <a:avLst>
              <a:gd name="adj" fmla="val 9783"/>
            </a:avLst>
          </a:prstGeom>
          <a:solidFill>
            <a:srgbClr val="EDF2F6"/>
          </a:solidFill>
          <a:ln w="12700">
            <a:solidFill>
              <a:srgbClr val="EDF2F6"/>
            </a:solidFill>
            <a:prstDash val="solid"/>
          </a:ln>
        </p:spPr>
      </p:sp>
      <p:sp>
        <p:nvSpPr>
          <p:cNvPr id="16" name="Text 14"/>
          <p:cNvSpPr txBox="1"/>
          <p:nvPr/>
        </p:nvSpPr>
        <p:spPr>
          <a:xfrm>
            <a:off x="548640" y="3218688"/>
            <a:ext cx="2103120" cy="603504"/>
          </a:xfrm>
          <a:prstGeom prst="rect">
            <a:avLst/>
          </a:prstGeom>
          <a:noFill/>
          <a:ln/>
        </p:spPr>
        <p:txBody>
          <a:bodyPr wrap="square" lIns="0" tIns="0" rIns="0" bIns="0" rtlCol="0" anchor="ctr"/>
          <a:lstStyle/>
          <a:p>
            <a:pPr indent="0" marL="0">
              <a:lnSpc>
                <a:spcPts val="1600"/>
              </a:lnSpc>
              <a:buNone/>
            </a:pPr>
            <a:r>
              <a:rPr lang="en-US" sz="1500" b="1" dirty="0">
                <a:solidFill>
                  <a:srgbClr val="101C26"/>
                </a:solidFill>
                <a:latin typeface="Cambria" pitchFamily="34" charset="0"/>
                <a:ea typeface="Cambria" pitchFamily="34" charset="-122"/>
                <a:cs typeface="Cambria" pitchFamily="34" charset="-120"/>
              </a:rPr>
              <a:t>Bounded suboptimal</a:t>
            </a:r>
            <a:endParaRPr lang="en-US" sz="1500" dirty="0"/>
          </a:p>
        </p:txBody>
      </p:sp>
      <p:sp>
        <p:nvSpPr>
          <p:cNvPr id="17" name="Text 15"/>
          <p:cNvSpPr txBox="1"/>
          <p:nvPr/>
        </p:nvSpPr>
        <p:spPr>
          <a:xfrm>
            <a:off x="2697480" y="3218688"/>
            <a:ext cx="2286000" cy="603504"/>
          </a:xfrm>
          <a:prstGeom prst="rect">
            <a:avLst/>
          </a:prstGeom>
          <a:noFill/>
          <a:ln/>
        </p:spPr>
        <p:txBody>
          <a:bodyPr wrap="square" lIns="0" tIns="0" rIns="0" bIns="0" rtlCol="0" anchor="ctr"/>
          <a:lstStyle/>
          <a:p>
            <a:pPr indent="0" marL="0">
              <a:lnSpc>
                <a:spcPts val="1600"/>
              </a:lnSpc>
              <a:buNone/>
            </a:pPr>
            <a:r>
              <a:rPr lang="en-US" sz="1250" dirty="0">
                <a:solidFill>
                  <a:srgbClr val="2C3E4D"/>
                </a:solidFill>
                <a:latin typeface="Calibri" pitchFamily="34" charset="0"/>
                <a:ea typeface="Calibri" pitchFamily="34" charset="-122"/>
                <a:cs typeface="Calibri" pitchFamily="34" charset="-120"/>
              </a:rPr>
              <a:t>ECBS, EECBS</a:t>
            </a:r>
            <a:endParaRPr lang="en-US" sz="1250" dirty="0"/>
          </a:p>
        </p:txBody>
      </p:sp>
      <p:sp>
        <p:nvSpPr>
          <p:cNvPr id="18" name="Text 16"/>
          <p:cNvSpPr txBox="1"/>
          <p:nvPr/>
        </p:nvSpPr>
        <p:spPr>
          <a:xfrm>
            <a:off x="5029200" y="3218688"/>
            <a:ext cx="2606040" cy="603504"/>
          </a:xfrm>
          <a:prstGeom prst="rect">
            <a:avLst/>
          </a:prstGeom>
          <a:noFill/>
          <a:ln/>
        </p:spPr>
        <p:txBody>
          <a:bodyPr wrap="square" lIns="0" tIns="0" rIns="0" bIns="0" rtlCol="0" anchor="ctr"/>
          <a:lstStyle/>
          <a:p>
            <a:pPr indent="0" marL="0">
              <a:lnSpc>
                <a:spcPts val="1600"/>
              </a:lnSpc>
              <a:buNone/>
            </a:pPr>
            <a:r>
              <a:rPr lang="en-US" sz="1250" dirty="0">
                <a:solidFill>
                  <a:srgbClr val="2C3E4D"/>
                </a:solidFill>
                <a:latin typeface="Calibri" pitchFamily="34" charset="0"/>
                <a:ea typeface="Calibri" pitchFamily="34" charset="-122"/>
                <a:cs typeface="Calibri" pitchFamily="34" charset="-120"/>
              </a:rPr>
              <a:t>Within a factor of optimal</a:t>
            </a:r>
            <a:endParaRPr lang="en-US" sz="1250" dirty="0"/>
          </a:p>
        </p:txBody>
      </p:sp>
      <p:sp>
        <p:nvSpPr>
          <p:cNvPr id="19" name="Text 17"/>
          <p:cNvSpPr txBox="1"/>
          <p:nvPr/>
        </p:nvSpPr>
        <p:spPr>
          <a:xfrm>
            <a:off x="7680960" y="3218688"/>
            <a:ext cx="1920240" cy="603504"/>
          </a:xfrm>
          <a:prstGeom prst="rect">
            <a:avLst/>
          </a:prstGeom>
          <a:noFill/>
          <a:ln/>
        </p:spPr>
        <p:txBody>
          <a:bodyPr wrap="square" lIns="0" tIns="0" rIns="0" bIns="0" rtlCol="0" anchor="ctr"/>
          <a:lstStyle/>
          <a:p>
            <a:pPr indent="0" marL="0">
              <a:lnSpc>
                <a:spcPts val="1600"/>
              </a:lnSpc>
              <a:buNone/>
            </a:pPr>
            <a:r>
              <a:rPr lang="en-US" sz="1250" dirty="0">
                <a:solidFill>
                  <a:srgbClr val="2C3E4D"/>
                </a:solidFill>
                <a:latin typeface="Calibri" pitchFamily="34" charset="0"/>
                <a:ea typeface="Calibri" pitchFamily="34" charset="-122"/>
                <a:cs typeface="Calibri" pitchFamily="34" charset="-120"/>
              </a:rPr>
              <a:t>Low hundreds</a:t>
            </a:r>
            <a:endParaRPr lang="en-US" sz="1250" dirty="0"/>
          </a:p>
        </p:txBody>
      </p:sp>
      <p:sp>
        <p:nvSpPr>
          <p:cNvPr id="20" name="Text 18"/>
          <p:cNvSpPr txBox="1"/>
          <p:nvPr/>
        </p:nvSpPr>
        <p:spPr>
          <a:xfrm>
            <a:off x="9646920" y="3218688"/>
            <a:ext cx="2011680" cy="603504"/>
          </a:xfrm>
          <a:prstGeom prst="rect">
            <a:avLst/>
          </a:prstGeom>
          <a:noFill/>
          <a:ln/>
        </p:spPr>
        <p:txBody>
          <a:bodyPr wrap="square" lIns="0" tIns="0" rIns="0" bIns="0" rtlCol="0" anchor="ctr"/>
          <a:lstStyle/>
          <a:p>
            <a:pPr indent="0" marL="0">
              <a:lnSpc>
                <a:spcPts val="1600"/>
              </a:lnSpc>
              <a:buNone/>
            </a:pPr>
            <a:r>
              <a:rPr lang="en-US" sz="1250" dirty="0">
                <a:solidFill>
                  <a:srgbClr val="2C3E4D"/>
                </a:solidFill>
                <a:latin typeface="Calibri" pitchFamily="34" charset="0"/>
                <a:ea typeface="Calibri" pitchFamily="34" charset="-122"/>
                <a:cs typeface="Calibri" pitchFamily="34" charset="-120"/>
              </a:rPr>
              <a:t>Focal search overhead</a:t>
            </a:r>
            <a:endParaRPr lang="en-US" sz="1250" dirty="0"/>
          </a:p>
        </p:txBody>
      </p:sp>
      <p:sp>
        <p:nvSpPr>
          <p:cNvPr id="21" name="Shape 19"/>
          <p:cNvSpPr/>
          <p:nvPr/>
        </p:nvSpPr>
        <p:spPr>
          <a:xfrm>
            <a:off x="420624" y="4059936"/>
            <a:ext cx="11338560" cy="841248"/>
          </a:xfrm>
          <a:prstGeom prst="roundRect">
            <a:avLst>
              <a:gd name="adj" fmla="val 9783"/>
            </a:avLst>
          </a:prstGeom>
          <a:solidFill>
            <a:srgbClr val="EDF2F6"/>
          </a:solidFill>
          <a:ln w="12700">
            <a:solidFill>
              <a:srgbClr val="EDF2F6"/>
            </a:solidFill>
            <a:prstDash val="solid"/>
          </a:ln>
        </p:spPr>
      </p:sp>
      <p:sp>
        <p:nvSpPr>
          <p:cNvPr id="22" name="Text 20"/>
          <p:cNvSpPr txBox="1"/>
          <p:nvPr/>
        </p:nvSpPr>
        <p:spPr>
          <a:xfrm>
            <a:off x="548640" y="4187952"/>
            <a:ext cx="2103120" cy="603504"/>
          </a:xfrm>
          <a:prstGeom prst="rect">
            <a:avLst/>
          </a:prstGeom>
          <a:noFill/>
          <a:ln/>
        </p:spPr>
        <p:txBody>
          <a:bodyPr wrap="square" lIns="0" tIns="0" rIns="0" bIns="0" rtlCol="0" anchor="ctr"/>
          <a:lstStyle/>
          <a:p>
            <a:pPr indent="0" marL="0">
              <a:lnSpc>
                <a:spcPts val="1600"/>
              </a:lnSpc>
              <a:buNone/>
            </a:pPr>
            <a:r>
              <a:rPr lang="en-US" sz="1500" b="1" dirty="0">
                <a:solidFill>
                  <a:srgbClr val="101C26"/>
                </a:solidFill>
                <a:latin typeface="Cambria" pitchFamily="34" charset="0"/>
                <a:ea typeface="Cambria" pitchFamily="34" charset="-122"/>
                <a:cs typeface="Cambria" pitchFamily="34" charset="-120"/>
              </a:rPr>
              <a:t>Rule-based</a:t>
            </a:r>
            <a:endParaRPr lang="en-US" sz="1500" dirty="0"/>
          </a:p>
        </p:txBody>
      </p:sp>
      <p:sp>
        <p:nvSpPr>
          <p:cNvPr id="23" name="Text 21"/>
          <p:cNvSpPr txBox="1"/>
          <p:nvPr/>
        </p:nvSpPr>
        <p:spPr>
          <a:xfrm>
            <a:off x="2697480" y="4187952"/>
            <a:ext cx="2286000" cy="603504"/>
          </a:xfrm>
          <a:prstGeom prst="rect">
            <a:avLst/>
          </a:prstGeom>
          <a:noFill/>
          <a:ln/>
        </p:spPr>
        <p:txBody>
          <a:bodyPr wrap="square" lIns="0" tIns="0" rIns="0" bIns="0" rtlCol="0" anchor="ctr"/>
          <a:lstStyle/>
          <a:p>
            <a:pPr indent="0" marL="0">
              <a:lnSpc>
                <a:spcPts val="1600"/>
              </a:lnSpc>
              <a:buNone/>
            </a:pPr>
            <a:r>
              <a:rPr lang="en-US" sz="1250" dirty="0">
                <a:solidFill>
                  <a:srgbClr val="2C3E4D"/>
                </a:solidFill>
                <a:latin typeface="Calibri" pitchFamily="34" charset="0"/>
                <a:ea typeface="Calibri" pitchFamily="34" charset="-122"/>
                <a:cs typeface="Calibri" pitchFamily="34" charset="-120"/>
              </a:rPr>
              <a:t>Push and Swap, Push and Rotate</a:t>
            </a:r>
            <a:endParaRPr lang="en-US" sz="1250" dirty="0"/>
          </a:p>
        </p:txBody>
      </p:sp>
      <p:sp>
        <p:nvSpPr>
          <p:cNvPr id="24" name="Text 22"/>
          <p:cNvSpPr txBox="1"/>
          <p:nvPr/>
        </p:nvSpPr>
        <p:spPr>
          <a:xfrm>
            <a:off x="5029200" y="4187952"/>
            <a:ext cx="2606040" cy="603504"/>
          </a:xfrm>
          <a:prstGeom prst="rect">
            <a:avLst/>
          </a:prstGeom>
          <a:noFill/>
          <a:ln/>
        </p:spPr>
        <p:txBody>
          <a:bodyPr wrap="square" lIns="0" tIns="0" rIns="0" bIns="0" rtlCol="0" anchor="ctr"/>
          <a:lstStyle/>
          <a:p>
            <a:pPr indent="0" marL="0">
              <a:lnSpc>
                <a:spcPts val="1600"/>
              </a:lnSpc>
              <a:buNone/>
            </a:pPr>
            <a:r>
              <a:rPr lang="en-US" sz="1250" dirty="0">
                <a:solidFill>
                  <a:srgbClr val="2C3E4D"/>
                </a:solidFill>
                <a:latin typeface="Calibri" pitchFamily="34" charset="0"/>
                <a:ea typeface="Calibri" pitchFamily="34" charset="-122"/>
                <a:cs typeface="Calibri" pitchFamily="34" charset="-120"/>
              </a:rPr>
              <a:t>Complete, polynomial</a:t>
            </a:r>
            <a:endParaRPr lang="en-US" sz="1250" dirty="0"/>
          </a:p>
        </p:txBody>
      </p:sp>
      <p:sp>
        <p:nvSpPr>
          <p:cNvPr id="25" name="Text 23"/>
          <p:cNvSpPr txBox="1"/>
          <p:nvPr/>
        </p:nvSpPr>
        <p:spPr>
          <a:xfrm>
            <a:off x="7680960" y="4187952"/>
            <a:ext cx="1920240" cy="603504"/>
          </a:xfrm>
          <a:prstGeom prst="rect">
            <a:avLst/>
          </a:prstGeom>
          <a:noFill/>
          <a:ln/>
        </p:spPr>
        <p:txBody>
          <a:bodyPr wrap="square" lIns="0" tIns="0" rIns="0" bIns="0" rtlCol="0" anchor="ctr"/>
          <a:lstStyle/>
          <a:p>
            <a:pPr indent="0" marL="0">
              <a:lnSpc>
                <a:spcPts val="1600"/>
              </a:lnSpc>
              <a:buNone/>
            </a:pPr>
            <a:r>
              <a:rPr lang="en-US" sz="1250" dirty="0">
                <a:solidFill>
                  <a:srgbClr val="2C3E4D"/>
                </a:solidFill>
                <a:latin typeface="Calibri" pitchFamily="34" charset="0"/>
                <a:ea typeface="Calibri" pitchFamily="34" charset="-122"/>
                <a:cs typeface="Calibri" pitchFamily="34" charset="-120"/>
              </a:rPr>
              <a:t>Hundreds</a:t>
            </a:r>
            <a:endParaRPr lang="en-US" sz="1250" dirty="0"/>
          </a:p>
        </p:txBody>
      </p:sp>
      <p:sp>
        <p:nvSpPr>
          <p:cNvPr id="26" name="Text 24"/>
          <p:cNvSpPr txBox="1"/>
          <p:nvPr/>
        </p:nvSpPr>
        <p:spPr>
          <a:xfrm>
            <a:off x="9646920" y="4187952"/>
            <a:ext cx="2011680" cy="603504"/>
          </a:xfrm>
          <a:prstGeom prst="rect">
            <a:avLst/>
          </a:prstGeom>
          <a:noFill/>
          <a:ln/>
        </p:spPr>
        <p:txBody>
          <a:bodyPr wrap="square" lIns="0" tIns="0" rIns="0" bIns="0" rtlCol="0" anchor="ctr"/>
          <a:lstStyle/>
          <a:p>
            <a:pPr indent="0" marL="0">
              <a:lnSpc>
                <a:spcPts val="1600"/>
              </a:lnSpc>
              <a:buNone/>
            </a:pPr>
            <a:r>
              <a:rPr lang="en-US" sz="1250" dirty="0">
                <a:solidFill>
                  <a:srgbClr val="2C3E4D"/>
                </a:solidFill>
                <a:latin typeface="Calibri" pitchFamily="34" charset="0"/>
                <a:ea typeface="Calibri" pitchFamily="34" charset="-122"/>
                <a:cs typeface="Calibri" pitchFamily="34" charset="-120"/>
              </a:rPr>
              <a:t>Poor solution quality</a:t>
            </a:r>
            <a:endParaRPr lang="en-US" sz="1250" dirty="0"/>
          </a:p>
        </p:txBody>
      </p:sp>
      <p:sp>
        <p:nvSpPr>
          <p:cNvPr id="27" name="Shape 25"/>
          <p:cNvSpPr/>
          <p:nvPr/>
        </p:nvSpPr>
        <p:spPr>
          <a:xfrm>
            <a:off x="420624" y="5029200"/>
            <a:ext cx="11338560" cy="841248"/>
          </a:xfrm>
          <a:prstGeom prst="roundRect">
            <a:avLst>
              <a:gd name="adj" fmla="val 9783"/>
            </a:avLst>
          </a:prstGeom>
          <a:solidFill>
            <a:srgbClr val="1D3346"/>
          </a:solidFill>
          <a:ln w="12700">
            <a:solidFill>
              <a:srgbClr val="1D3346"/>
            </a:solidFill>
            <a:prstDash val="solid"/>
          </a:ln>
          <a:effectLst>
            <a:outerShdw sx="100000" sy="100000" kx="0" ky="0" algn="bl" rotWithShape="0" blurRad="127000" dist="25400" dir="5400000">
              <a:srgbClr val="0B1620">
                <a:alpha val="13000"/>
              </a:srgbClr>
            </a:outerShdw>
          </a:effectLst>
        </p:spPr>
      </p:sp>
      <p:sp>
        <p:nvSpPr>
          <p:cNvPr id="28" name="Text 26"/>
          <p:cNvSpPr txBox="1"/>
          <p:nvPr/>
        </p:nvSpPr>
        <p:spPr>
          <a:xfrm>
            <a:off x="548640" y="5157216"/>
            <a:ext cx="2103120" cy="603504"/>
          </a:xfrm>
          <a:prstGeom prst="rect">
            <a:avLst/>
          </a:prstGeom>
          <a:noFill/>
          <a:ln/>
        </p:spPr>
        <p:txBody>
          <a:bodyPr wrap="square" lIns="0" tIns="0" rIns="0" bIns="0" rtlCol="0" anchor="ctr"/>
          <a:lstStyle/>
          <a:p>
            <a:pPr indent="0" marL="0">
              <a:lnSpc>
                <a:spcPts val="1600"/>
              </a:lnSpc>
              <a:buNone/>
            </a:pPr>
            <a:r>
              <a:rPr lang="en-US" sz="1500" b="1" dirty="0">
                <a:solidFill>
                  <a:srgbClr val="F2A104"/>
                </a:solidFill>
                <a:latin typeface="Cambria" pitchFamily="34" charset="0"/>
                <a:ea typeface="Cambria" pitchFamily="34" charset="-122"/>
                <a:cs typeface="Cambria" pitchFamily="34" charset="-120"/>
              </a:rPr>
              <a:t>Greedy / reactive</a:t>
            </a:r>
            <a:endParaRPr lang="en-US" sz="1500" dirty="0"/>
          </a:p>
        </p:txBody>
      </p:sp>
      <p:sp>
        <p:nvSpPr>
          <p:cNvPr id="29" name="Text 27"/>
          <p:cNvSpPr txBox="1"/>
          <p:nvPr/>
        </p:nvSpPr>
        <p:spPr>
          <a:xfrm>
            <a:off x="2697480" y="5157216"/>
            <a:ext cx="2286000" cy="603504"/>
          </a:xfrm>
          <a:prstGeom prst="rect">
            <a:avLst/>
          </a:prstGeom>
          <a:noFill/>
          <a:ln/>
        </p:spPr>
        <p:txBody>
          <a:bodyPr wrap="square" lIns="0" tIns="0" rIns="0" bIns="0" rtlCol="0" anchor="ctr"/>
          <a:lstStyle/>
          <a:p>
            <a:pPr indent="0" marL="0">
              <a:lnSpc>
                <a:spcPts val="1600"/>
              </a:lnSpc>
              <a:buNone/>
            </a:pPr>
            <a:r>
              <a:rPr lang="en-US" sz="1250" dirty="0">
                <a:solidFill>
                  <a:srgbClr val="C6D5E0"/>
                </a:solidFill>
                <a:latin typeface="Calibri" pitchFamily="34" charset="0"/>
                <a:ea typeface="Calibri" pitchFamily="34" charset="-122"/>
                <a:cs typeface="Calibri" pitchFamily="34" charset="-120"/>
              </a:rPr>
              <a:t>PIBT, LaCAM, this repo</a:t>
            </a:r>
            <a:endParaRPr lang="en-US" sz="1250" dirty="0"/>
          </a:p>
        </p:txBody>
      </p:sp>
      <p:sp>
        <p:nvSpPr>
          <p:cNvPr id="30" name="Text 28"/>
          <p:cNvSpPr txBox="1"/>
          <p:nvPr/>
        </p:nvSpPr>
        <p:spPr>
          <a:xfrm>
            <a:off x="5029200" y="5157216"/>
            <a:ext cx="2606040" cy="603504"/>
          </a:xfrm>
          <a:prstGeom prst="rect">
            <a:avLst/>
          </a:prstGeom>
          <a:noFill/>
          <a:ln/>
        </p:spPr>
        <p:txBody>
          <a:bodyPr wrap="square" lIns="0" tIns="0" rIns="0" bIns="0" rtlCol="0" anchor="ctr"/>
          <a:lstStyle/>
          <a:p>
            <a:pPr indent="0" marL="0">
              <a:lnSpc>
                <a:spcPts val="1600"/>
              </a:lnSpc>
              <a:buNone/>
            </a:pPr>
            <a:r>
              <a:rPr lang="en-US" sz="1250" dirty="0">
                <a:solidFill>
                  <a:srgbClr val="C6D5E0"/>
                </a:solidFill>
                <a:latin typeface="Calibri" pitchFamily="34" charset="0"/>
                <a:ea typeface="Calibri" pitchFamily="34" charset="-122"/>
                <a:cs typeface="Calibri" pitchFamily="34" charset="-120"/>
              </a:rPr>
              <a:t>Conditional progress only</a:t>
            </a:r>
            <a:endParaRPr lang="en-US" sz="1250" dirty="0"/>
          </a:p>
        </p:txBody>
      </p:sp>
      <p:sp>
        <p:nvSpPr>
          <p:cNvPr id="31" name="Text 29"/>
          <p:cNvSpPr txBox="1"/>
          <p:nvPr/>
        </p:nvSpPr>
        <p:spPr>
          <a:xfrm>
            <a:off x="7680960" y="5157216"/>
            <a:ext cx="1920240" cy="603504"/>
          </a:xfrm>
          <a:prstGeom prst="rect">
            <a:avLst/>
          </a:prstGeom>
          <a:noFill/>
          <a:ln/>
        </p:spPr>
        <p:txBody>
          <a:bodyPr wrap="square" lIns="0" tIns="0" rIns="0" bIns="0" rtlCol="0" anchor="ctr"/>
          <a:lstStyle/>
          <a:p>
            <a:pPr indent="0" marL="0">
              <a:lnSpc>
                <a:spcPts val="1600"/>
              </a:lnSpc>
              <a:buNone/>
            </a:pPr>
            <a:r>
              <a:rPr lang="en-US" sz="1250" dirty="0">
                <a:solidFill>
                  <a:srgbClr val="C6D5E0"/>
                </a:solidFill>
                <a:latin typeface="Calibri" pitchFamily="34" charset="0"/>
                <a:ea typeface="Calibri" pitchFamily="34" charset="-122"/>
                <a:cs typeface="Calibri" pitchFamily="34" charset="-120"/>
              </a:rPr>
              <a:t>Thousands, real time</a:t>
            </a:r>
            <a:endParaRPr lang="en-US" sz="1250" dirty="0"/>
          </a:p>
        </p:txBody>
      </p:sp>
      <p:sp>
        <p:nvSpPr>
          <p:cNvPr id="32" name="Text 30"/>
          <p:cNvSpPr txBox="1"/>
          <p:nvPr/>
        </p:nvSpPr>
        <p:spPr>
          <a:xfrm>
            <a:off x="9646920" y="5157216"/>
            <a:ext cx="2011680" cy="603504"/>
          </a:xfrm>
          <a:prstGeom prst="rect">
            <a:avLst/>
          </a:prstGeom>
          <a:noFill/>
          <a:ln/>
        </p:spPr>
        <p:txBody>
          <a:bodyPr wrap="square" lIns="0" tIns="0" rIns="0" bIns="0" rtlCol="0" anchor="ctr"/>
          <a:lstStyle/>
          <a:p>
            <a:pPr indent="0" marL="0">
              <a:lnSpc>
                <a:spcPts val="1600"/>
              </a:lnSpc>
              <a:buNone/>
            </a:pPr>
            <a:r>
              <a:rPr lang="en-US" sz="1250" dirty="0">
                <a:solidFill>
                  <a:srgbClr val="C6D5E0"/>
                </a:solidFill>
                <a:latin typeface="Calibri" pitchFamily="34" charset="0"/>
                <a:ea typeface="Calibri" pitchFamily="34" charset="-122"/>
                <a:cs typeface="Calibri" pitchFamily="34" charset="-120"/>
              </a:rPr>
              <a:t>No global optimality</a:t>
            </a:r>
            <a:endParaRPr lang="en-US" sz="1250" dirty="0"/>
          </a:p>
        </p:txBody>
      </p:sp>
      <p:sp>
        <p:nvSpPr>
          <p:cNvPr id="33" name="Shape 31"/>
          <p:cNvSpPr/>
          <p:nvPr/>
        </p:nvSpPr>
        <p:spPr>
          <a:xfrm>
            <a:off x="420624" y="6053328"/>
            <a:ext cx="11338560" cy="658368"/>
          </a:xfrm>
          <a:prstGeom prst="roundRect">
            <a:avLst>
              <a:gd name="adj" fmla="val 12500"/>
            </a:avLst>
          </a:prstGeom>
          <a:solidFill>
            <a:srgbClr val="FFFFFF"/>
          </a:solidFill>
          <a:ln w="12700">
            <a:solidFill>
              <a:srgbClr val="F2A104"/>
            </a:solidFill>
            <a:prstDash val="solid"/>
          </a:ln>
        </p:spPr>
      </p:sp>
      <p:sp>
        <p:nvSpPr>
          <p:cNvPr id="34" name="Text 32"/>
          <p:cNvSpPr txBox="1"/>
          <p:nvPr/>
        </p:nvSpPr>
        <p:spPr>
          <a:xfrm>
            <a:off x="731520" y="6199632"/>
            <a:ext cx="10698480" cy="411480"/>
          </a:xfrm>
          <a:prstGeom prst="rect">
            <a:avLst/>
          </a:prstGeom>
          <a:noFill/>
          <a:ln/>
        </p:spPr>
        <p:txBody>
          <a:bodyPr wrap="square" lIns="0" tIns="0" rIns="0" bIns="0" rtlCol="0" anchor="t"/>
          <a:lstStyle/>
          <a:p>
            <a:pPr algn="l" indent="0" marL="0">
              <a:lnSpc>
                <a:spcPts val="1650"/>
              </a:lnSpc>
              <a:buNone/>
            </a:pPr>
            <a:r>
              <a:rPr lang="en-US" sz="1250" dirty="0">
                <a:solidFill>
                  <a:srgbClr val="101C26"/>
                </a:solidFill>
                <a:latin typeface="Calibri" pitchFamily="34" charset="0"/>
                <a:ea typeface="Calibri" pitchFamily="34" charset="-122"/>
                <a:cs typeface="Calibri" pitchFamily="34" charset="-120"/>
              </a:rPr>
              <a:t>AisleFlow lives on the bottom row. The question this project asks is whether a warehouse-aware layer on top of a greedy planner can buy back some of the quality the greedy choice gave away.</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515600" cy="237744"/>
          </a:xfrm>
          <a:prstGeom prst="rect">
            <a:avLst/>
          </a:prstGeom>
          <a:noFill/>
          <a:ln/>
        </p:spPr>
        <p:txBody>
          <a:bodyPr wrap="square" lIns="0" tIns="0" rIns="0" bIns="0" rtlCol="0" anchor="ctr"/>
          <a:lstStyle/>
          <a:p>
            <a:pPr indent="0" marL="0">
              <a:buNone/>
            </a:pPr>
            <a:r>
              <a:rPr lang="en-US" sz="1150" b="1" spc="220" kern="0" dirty="0">
                <a:solidFill>
                  <a:srgbClr val="F2A104"/>
                </a:solidFill>
                <a:latin typeface="Calibri" pitchFamily="34" charset="0"/>
                <a:ea typeface="Calibri" pitchFamily="34" charset="-122"/>
                <a:cs typeface="Calibri" pitchFamily="34" charset="-120"/>
              </a:rPr>
              <a:t>THE TURN THAT MADE THIS PROJECT NECESSARY</a:t>
            </a:r>
            <a:endParaRPr lang="en-US" sz="1150" dirty="0"/>
          </a:p>
        </p:txBody>
      </p:sp>
      <p:sp>
        <p:nvSpPr>
          <p:cNvPr id="3" name="Text 1"/>
          <p:cNvSpPr txBox="1"/>
          <p:nvPr/>
        </p:nvSpPr>
        <p:spPr>
          <a:xfrm>
            <a:off x="548640" y="658368"/>
            <a:ext cx="10607040" cy="658368"/>
          </a:xfrm>
          <a:prstGeom prst="rect">
            <a:avLst/>
          </a:prstGeom>
          <a:noFill/>
          <a:ln/>
        </p:spPr>
        <p:txBody>
          <a:bodyPr wrap="square" lIns="0" tIns="0" rIns="0" bIns="0" rtlCol="0" anchor="ctr"/>
          <a:lstStyle/>
          <a:p>
            <a:pPr indent="0" marL="0">
              <a:buNone/>
            </a:pPr>
            <a:r>
              <a:rPr lang="en-US" sz="3400" b="1" dirty="0">
                <a:solidFill>
                  <a:srgbClr val="101C26"/>
                </a:solidFill>
                <a:latin typeface="Cambria" pitchFamily="34" charset="0"/>
                <a:ea typeface="Cambria" pitchFamily="34" charset="-122"/>
                <a:cs typeface="Cambria" pitchFamily="34" charset="-120"/>
              </a:rPr>
              <a:t>From one-shot MAPF to lifelong MAPD</a:t>
            </a:r>
            <a:endParaRPr lang="en-US" sz="3400" dirty="0"/>
          </a:p>
        </p:txBody>
      </p:sp>
      <p:sp>
        <p:nvSpPr>
          <p:cNvPr id="4" name="Shape 2"/>
          <p:cNvSpPr/>
          <p:nvPr/>
        </p:nvSpPr>
        <p:spPr>
          <a:xfrm>
            <a:off x="548640" y="1691640"/>
            <a:ext cx="5394960" cy="3246120"/>
          </a:xfrm>
          <a:prstGeom prst="roundRect">
            <a:avLst>
              <a:gd name="adj" fmla="val 2535"/>
            </a:avLst>
          </a:prstGeom>
          <a:solidFill>
            <a:srgbClr val="EDF2F6"/>
          </a:solidFill>
          <a:ln w="12700">
            <a:solidFill>
              <a:srgbClr val="EDF2F6"/>
            </a:solidFill>
            <a:prstDash val="solid"/>
          </a:ln>
          <a:effectLst>
            <a:outerShdw sx="100000" sy="100000" kx="0" ky="0" algn="bl" rotWithShape="0" blurRad="127000" dist="25400" dir="5400000">
              <a:srgbClr val="0B1620">
                <a:alpha val="13000"/>
              </a:srgbClr>
            </a:outerShdw>
          </a:effectLst>
        </p:spPr>
      </p:sp>
      <p:sp>
        <p:nvSpPr>
          <p:cNvPr id="5" name="Text 3"/>
          <p:cNvSpPr txBox="1"/>
          <p:nvPr/>
        </p:nvSpPr>
        <p:spPr>
          <a:xfrm>
            <a:off x="896112" y="1938528"/>
            <a:ext cx="4663440" cy="384048"/>
          </a:xfrm>
          <a:prstGeom prst="rect">
            <a:avLst/>
          </a:prstGeom>
          <a:noFill/>
          <a:ln/>
        </p:spPr>
        <p:txBody>
          <a:bodyPr wrap="square" lIns="0" tIns="0" rIns="0" bIns="0" rtlCol="0" anchor="ctr"/>
          <a:lstStyle/>
          <a:p>
            <a:pPr indent="0" marL="0">
              <a:buNone/>
            </a:pPr>
            <a:r>
              <a:rPr lang="en-US" sz="2200" b="1" dirty="0">
                <a:solidFill>
                  <a:srgbClr val="101C26"/>
                </a:solidFill>
                <a:latin typeface="Cambria" pitchFamily="34" charset="0"/>
                <a:ea typeface="Cambria" pitchFamily="34" charset="-122"/>
                <a:cs typeface="Cambria" pitchFamily="34" charset="-120"/>
              </a:rPr>
              <a:t>Classical MAPF</a:t>
            </a:r>
            <a:endParaRPr lang="en-US" sz="2200" dirty="0"/>
          </a:p>
        </p:txBody>
      </p:sp>
      <p:sp>
        <p:nvSpPr>
          <p:cNvPr id="6" name="Text 4"/>
          <p:cNvSpPr txBox="1"/>
          <p:nvPr/>
        </p:nvSpPr>
        <p:spPr>
          <a:xfrm>
            <a:off x="896112" y="2450592"/>
            <a:ext cx="4709160" cy="2377440"/>
          </a:xfrm>
          <a:prstGeom prst="rect">
            <a:avLst/>
          </a:prstGeom>
          <a:noFill/>
          <a:ln/>
        </p:spPr>
        <p:txBody>
          <a:bodyPr wrap="square" lIns="0" tIns="0" rIns="0" bIns="0" rtlCol="0" anchor="t"/>
          <a:lstStyle/>
          <a:p>
            <a:pPr marL="177800" indent="-177800">
              <a:lnSpc>
                <a:spcPts val="1700"/>
              </a:lnSpc>
              <a:spcAft>
                <a:spcPts val="1400"/>
              </a:spcAft>
              <a:buSzPct val="100000"/>
              <a:buChar char="•"/>
            </a:pPr>
            <a:r>
              <a:rPr lang="en-US" sz="1350" dirty="0">
                <a:solidFill>
                  <a:srgbClr val="2C3E4D"/>
                </a:solidFill>
                <a:latin typeface="Calibri" pitchFamily="34" charset="0"/>
                <a:ea typeface="Calibri" pitchFamily="34" charset="-122"/>
                <a:cs typeface="Calibri" pitchFamily="34" charset="-120"/>
              </a:rPr>
              <a:t>k agents, k goals, fixed in advance.</a:t>
            </a:r>
            <a:endParaRPr lang="en-US" sz="1350" dirty="0"/>
          </a:p>
          <a:p>
            <a:pPr marL="177800" indent="-177800">
              <a:lnSpc>
                <a:spcPts val="1700"/>
              </a:lnSpc>
              <a:spcAft>
                <a:spcPts val="1400"/>
              </a:spcAft>
              <a:buSzPct val="100000"/>
              <a:buChar char="•"/>
            </a:pPr>
            <a:r>
              <a:rPr lang="en-US" sz="1350" dirty="0">
                <a:solidFill>
                  <a:srgbClr val="2C3E4D"/>
                </a:solidFill>
                <a:latin typeface="Calibri" pitchFamily="34" charset="0"/>
                <a:ea typeface="Calibri" pitchFamily="34" charset="-122"/>
                <a:cs typeface="Calibri" pitchFamily="34" charset="-120"/>
              </a:rPr>
              <a:t>Plan once, offline, then execute.</a:t>
            </a:r>
            <a:endParaRPr lang="en-US" sz="1350" dirty="0"/>
          </a:p>
          <a:p>
            <a:pPr marL="177800" indent="-177800">
              <a:lnSpc>
                <a:spcPts val="1700"/>
              </a:lnSpc>
              <a:spcAft>
                <a:spcPts val="1400"/>
              </a:spcAft>
              <a:buSzPct val="100000"/>
              <a:buChar char="•"/>
            </a:pPr>
            <a:r>
              <a:rPr lang="en-US" sz="1350" dirty="0">
                <a:solidFill>
                  <a:srgbClr val="2C3E4D"/>
                </a:solidFill>
                <a:latin typeface="Calibri" pitchFamily="34" charset="0"/>
                <a:ea typeface="Calibri" pitchFamily="34" charset="-122"/>
                <a:cs typeface="Calibri" pitchFamily="34" charset="-120"/>
              </a:rPr>
              <a:t>Success = every agent parked on its goal.</a:t>
            </a:r>
            <a:endParaRPr lang="en-US" sz="1350" dirty="0"/>
          </a:p>
          <a:p>
            <a:pPr marL="177800" indent="-177800">
              <a:lnSpc>
                <a:spcPts val="1700"/>
              </a:lnSpc>
              <a:spcAft>
                <a:spcPts val="1400"/>
              </a:spcAft>
              <a:buSzPct val="100000"/>
              <a:buChar char="•"/>
            </a:pPr>
            <a:r>
              <a:rPr lang="en-US" sz="1350" dirty="0">
                <a:solidFill>
                  <a:srgbClr val="2C3E4D"/>
                </a:solidFill>
                <a:latin typeface="Calibri" pitchFamily="34" charset="0"/>
                <a:ea typeface="Calibri" pitchFamily="34" charset="-122"/>
                <a:cs typeface="Calibri" pitchFamily="34" charset="-120"/>
              </a:rPr>
              <a:t>Objective: makespan or sum-of-costs.</a:t>
            </a:r>
            <a:endParaRPr lang="en-US" sz="1350" dirty="0"/>
          </a:p>
          <a:p>
            <a:pPr marL="177800" indent="-177800">
              <a:lnSpc>
                <a:spcPts val="1700"/>
              </a:lnSpc>
              <a:spcAft>
                <a:spcPts val="1400"/>
              </a:spcAft>
              <a:buSzPct val="100000"/>
              <a:buChar char="•"/>
            </a:pPr>
            <a:r>
              <a:rPr lang="en-US" sz="1350" dirty="0">
                <a:solidFill>
                  <a:srgbClr val="2C3E4D"/>
                </a:solidFill>
                <a:latin typeface="Calibri" pitchFamily="34" charset="0"/>
                <a:ea typeface="Calibri" pitchFamily="34" charset="-122"/>
                <a:cs typeface="Calibri" pitchFamily="34" charset="-120"/>
              </a:rPr>
              <a:t>The plan is valid until it finishes.</a:t>
            </a:r>
            <a:endParaRPr lang="en-US" sz="1350" dirty="0"/>
          </a:p>
        </p:txBody>
      </p:sp>
      <p:sp>
        <p:nvSpPr>
          <p:cNvPr id="7" name="Shape 5"/>
          <p:cNvSpPr/>
          <p:nvPr/>
        </p:nvSpPr>
        <p:spPr>
          <a:xfrm>
            <a:off x="6263640" y="1691640"/>
            <a:ext cx="5376672" cy="3246120"/>
          </a:xfrm>
          <a:prstGeom prst="roundRect">
            <a:avLst>
              <a:gd name="adj" fmla="val 2535"/>
            </a:avLst>
          </a:prstGeom>
          <a:solidFill>
            <a:srgbClr val="1D3346"/>
          </a:solidFill>
          <a:ln w="12700">
            <a:solidFill>
              <a:srgbClr val="1D3346"/>
            </a:solidFill>
            <a:prstDash val="solid"/>
          </a:ln>
          <a:effectLst>
            <a:outerShdw sx="100000" sy="100000" kx="0" ky="0" algn="bl" rotWithShape="0" blurRad="127000" dist="25400" dir="5400000">
              <a:srgbClr val="0B1620">
                <a:alpha val="13000"/>
              </a:srgbClr>
            </a:outerShdw>
          </a:effectLst>
        </p:spPr>
      </p:sp>
      <p:sp>
        <p:nvSpPr>
          <p:cNvPr id="8" name="Text 6"/>
          <p:cNvSpPr txBox="1"/>
          <p:nvPr/>
        </p:nvSpPr>
        <p:spPr>
          <a:xfrm>
            <a:off x="6611112" y="1938528"/>
            <a:ext cx="4663440" cy="384048"/>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Lifelong MAPD</a:t>
            </a:r>
            <a:endParaRPr lang="en-US" sz="2200" dirty="0"/>
          </a:p>
        </p:txBody>
      </p:sp>
      <p:sp>
        <p:nvSpPr>
          <p:cNvPr id="9" name="Text 7"/>
          <p:cNvSpPr txBox="1"/>
          <p:nvPr/>
        </p:nvSpPr>
        <p:spPr>
          <a:xfrm>
            <a:off x="6611112" y="2450592"/>
            <a:ext cx="4709160" cy="2377440"/>
          </a:xfrm>
          <a:prstGeom prst="rect">
            <a:avLst/>
          </a:prstGeom>
          <a:noFill/>
          <a:ln/>
        </p:spPr>
        <p:txBody>
          <a:bodyPr wrap="square" lIns="0" tIns="0" rIns="0" bIns="0" rtlCol="0" anchor="t"/>
          <a:lstStyle/>
          <a:p>
            <a:pPr marL="177800" indent="-177800">
              <a:lnSpc>
                <a:spcPts val="1700"/>
              </a:lnSpc>
              <a:spcAft>
                <a:spcPts val="1400"/>
              </a:spcAft>
              <a:buSzPct val="100000"/>
              <a:buChar char="•"/>
            </a:pPr>
            <a:r>
              <a:rPr lang="en-US" sz="1350" dirty="0">
                <a:solidFill>
                  <a:srgbClr val="C6D5E0"/>
                </a:solidFill>
                <a:latin typeface="Calibri" pitchFamily="34" charset="0"/>
                <a:ea typeface="Calibri" pitchFamily="34" charset="-122"/>
                <a:cs typeface="Calibri" pitchFamily="34" charset="-120"/>
              </a:rPr>
              <a:t>Tasks arrive as a stream — Poisson, bursty, or scheduled.</a:t>
            </a:r>
            <a:endParaRPr lang="en-US" sz="1350" dirty="0"/>
          </a:p>
          <a:p>
            <a:pPr marL="177800" indent="-177800">
              <a:lnSpc>
                <a:spcPts val="1700"/>
              </a:lnSpc>
              <a:spcAft>
                <a:spcPts val="1400"/>
              </a:spcAft>
              <a:buSzPct val="100000"/>
              <a:buChar char="•"/>
            </a:pPr>
            <a:r>
              <a:rPr lang="en-US" sz="1350" dirty="0">
                <a:solidFill>
                  <a:srgbClr val="C6D5E0"/>
                </a:solidFill>
                <a:latin typeface="Calibri" pitchFamily="34" charset="0"/>
                <a:ea typeface="Calibri" pitchFamily="34" charset="-122"/>
                <a:cs typeface="Calibri" pitchFamily="34" charset="-120"/>
              </a:rPr>
              <a:t>A robot that delivers is immediately re-assigned.</a:t>
            </a:r>
            <a:endParaRPr lang="en-US" sz="1350" dirty="0"/>
          </a:p>
          <a:p>
            <a:pPr marL="177800" indent="-177800">
              <a:lnSpc>
                <a:spcPts val="1700"/>
              </a:lnSpc>
              <a:spcAft>
                <a:spcPts val="1400"/>
              </a:spcAft>
              <a:buSzPct val="100000"/>
              <a:buChar char="•"/>
            </a:pPr>
            <a:r>
              <a:rPr lang="en-US" sz="1350" dirty="0">
                <a:solidFill>
                  <a:srgbClr val="C6D5E0"/>
                </a:solidFill>
                <a:latin typeface="Calibri" pitchFamily="34" charset="0"/>
                <a:ea typeface="Calibri" pitchFamily="34" charset="-122"/>
                <a:cs typeface="Calibri" pitchFamily="34" charset="-120"/>
              </a:rPr>
              <a:t>There is no terminal configuration to plan to.</a:t>
            </a:r>
            <a:endParaRPr lang="en-US" sz="1350" dirty="0"/>
          </a:p>
          <a:p>
            <a:pPr marL="177800" indent="-177800">
              <a:lnSpc>
                <a:spcPts val="1700"/>
              </a:lnSpc>
              <a:spcAft>
                <a:spcPts val="1400"/>
              </a:spcAft>
              <a:buSzPct val="100000"/>
              <a:buChar char="•"/>
            </a:pPr>
            <a:r>
              <a:rPr lang="en-US" sz="1350" dirty="0">
                <a:solidFill>
                  <a:srgbClr val="C6D5E0"/>
                </a:solidFill>
                <a:latin typeface="Calibri" pitchFamily="34" charset="0"/>
                <a:ea typeface="Calibri" pitchFamily="34" charset="-122"/>
                <a:cs typeface="Calibri" pitchFamily="34" charset="-120"/>
              </a:rPr>
              <a:t>Objective: throughput, service time, and its tail.</a:t>
            </a:r>
            <a:endParaRPr lang="en-US" sz="1350" dirty="0"/>
          </a:p>
          <a:p>
            <a:pPr marL="177800" indent="-177800">
              <a:lnSpc>
                <a:spcPts val="1700"/>
              </a:lnSpc>
              <a:spcAft>
                <a:spcPts val="1400"/>
              </a:spcAft>
              <a:buSzPct val="100000"/>
              <a:buChar char="•"/>
            </a:pPr>
            <a:r>
              <a:rPr lang="en-US" sz="1350" dirty="0">
                <a:solidFill>
                  <a:srgbClr val="C6D5E0"/>
                </a:solidFill>
                <a:latin typeface="Calibri" pitchFamily="34" charset="0"/>
                <a:ea typeface="Calibri" pitchFamily="34" charset="-122"/>
                <a:cs typeface="Calibri" pitchFamily="34" charset="-120"/>
              </a:rPr>
              <a:t>Every plan is provisional; you replan forever.</a:t>
            </a:r>
            <a:endParaRPr lang="en-US" sz="1350" dirty="0"/>
          </a:p>
        </p:txBody>
      </p:sp>
      <p:sp>
        <p:nvSpPr>
          <p:cNvPr id="10" name="Shape 8"/>
          <p:cNvSpPr/>
          <p:nvPr/>
        </p:nvSpPr>
        <p:spPr>
          <a:xfrm>
            <a:off x="548640" y="5193792"/>
            <a:ext cx="11091672" cy="822960"/>
          </a:xfrm>
          <a:prstGeom prst="roundRect">
            <a:avLst>
              <a:gd name="adj" fmla="val 10000"/>
            </a:avLst>
          </a:prstGeom>
          <a:solidFill>
            <a:srgbClr val="FFFFFF"/>
          </a:solidFill>
          <a:ln w="12700">
            <a:solidFill>
              <a:srgbClr val="F2A104"/>
            </a:solidFill>
            <a:prstDash val="solid"/>
          </a:ln>
        </p:spPr>
      </p:sp>
      <p:sp>
        <p:nvSpPr>
          <p:cNvPr id="11" name="Text 9"/>
          <p:cNvSpPr txBox="1"/>
          <p:nvPr/>
        </p:nvSpPr>
        <p:spPr>
          <a:xfrm>
            <a:off x="868680" y="5358384"/>
            <a:ext cx="10424160" cy="502920"/>
          </a:xfrm>
          <a:prstGeom prst="rect">
            <a:avLst/>
          </a:prstGeom>
          <a:noFill/>
          <a:ln/>
        </p:spPr>
        <p:txBody>
          <a:bodyPr wrap="square" lIns="0" tIns="0" rIns="0" bIns="0" rtlCol="0" anchor="t"/>
          <a:lstStyle/>
          <a:p>
            <a:pPr algn="l" indent="0" marL="0">
              <a:lnSpc>
                <a:spcPts val="1716"/>
              </a:lnSpc>
              <a:buNone/>
            </a:pPr>
            <a:r>
              <a:rPr lang="en-US" sz="1300" dirty="0">
                <a:solidFill>
                  <a:srgbClr val="101C26"/>
                </a:solidFill>
                <a:latin typeface="Calibri" pitchFamily="34" charset="0"/>
                <a:ea typeface="Calibri" pitchFamily="34" charset="-122"/>
                <a:cs typeface="Calibri" pitchFamily="34" charset="-120"/>
              </a:rPr>
              <a:t>Amazon's Kiva fulfilment floors (Wurman, D'Andrea &amp; Mountz, 2008) are the reason this reframing mattered commercially: hundreds of robots, narrow aisles, tasks that never stop arriving.</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515600" cy="237744"/>
          </a:xfrm>
          <a:prstGeom prst="rect">
            <a:avLst/>
          </a:prstGeom>
          <a:noFill/>
          <a:ln/>
        </p:spPr>
        <p:txBody>
          <a:bodyPr wrap="square" lIns="0" tIns="0" rIns="0" bIns="0" rtlCol="0" anchor="ctr"/>
          <a:lstStyle/>
          <a:p>
            <a:pPr indent="0" marL="0">
              <a:buNone/>
            </a:pPr>
            <a:r>
              <a:rPr lang="en-US" sz="1150" b="1" spc="220" kern="0" dirty="0">
                <a:solidFill>
                  <a:srgbClr val="F2A104"/>
                </a:solidFill>
                <a:latin typeface="Calibri" pitchFamily="34" charset="0"/>
                <a:ea typeface="Calibri" pitchFamily="34" charset="-122"/>
                <a:cs typeface="Calibri" pitchFamily="34" charset="-120"/>
              </a:rPr>
              <a:t>THE CORE WE BUILD ON</a:t>
            </a:r>
            <a:endParaRPr lang="en-US" sz="1150" dirty="0"/>
          </a:p>
        </p:txBody>
      </p:sp>
      <p:sp>
        <p:nvSpPr>
          <p:cNvPr id="3" name="Text 1"/>
          <p:cNvSpPr txBox="1"/>
          <p:nvPr/>
        </p:nvSpPr>
        <p:spPr>
          <a:xfrm>
            <a:off x="548640" y="658368"/>
            <a:ext cx="10607040" cy="658368"/>
          </a:xfrm>
          <a:prstGeom prst="rect">
            <a:avLst/>
          </a:prstGeom>
          <a:noFill/>
          <a:ln/>
        </p:spPr>
        <p:txBody>
          <a:bodyPr wrap="square" lIns="0" tIns="0" rIns="0" bIns="0" rtlCol="0" anchor="ctr"/>
          <a:lstStyle/>
          <a:p>
            <a:pPr indent="0" marL="0">
              <a:buNone/>
            </a:pPr>
            <a:r>
              <a:rPr lang="en-US" sz="3400" b="1" dirty="0">
                <a:solidFill>
                  <a:srgbClr val="101C26"/>
                </a:solidFill>
                <a:latin typeface="Cambria" pitchFamily="34" charset="0"/>
                <a:ea typeface="Cambria" pitchFamily="34" charset="-122"/>
                <a:cs typeface="Cambria" pitchFamily="34" charset="-120"/>
              </a:rPr>
              <a:t>PIBT: one timestep, priority inheritance, backtracking</a:t>
            </a:r>
            <a:endParaRPr lang="en-US" sz="3400" dirty="0"/>
          </a:p>
        </p:txBody>
      </p:sp>
      <p:sp>
        <p:nvSpPr>
          <p:cNvPr id="4" name="Shape 2"/>
          <p:cNvSpPr/>
          <p:nvPr/>
        </p:nvSpPr>
        <p:spPr>
          <a:xfrm>
            <a:off x="548640" y="1737360"/>
            <a:ext cx="365760" cy="365760"/>
          </a:xfrm>
          <a:prstGeom prst="ellipse">
            <a:avLst/>
          </a:prstGeom>
          <a:solidFill>
            <a:srgbClr val="F2A104"/>
          </a:solidFill>
          <a:ln/>
        </p:spPr>
      </p:sp>
      <p:sp>
        <p:nvSpPr>
          <p:cNvPr id="5" name="Text 3"/>
          <p:cNvSpPr txBox="1"/>
          <p:nvPr/>
        </p:nvSpPr>
        <p:spPr>
          <a:xfrm>
            <a:off x="548640" y="1737360"/>
            <a:ext cx="365760" cy="365760"/>
          </a:xfrm>
          <a:prstGeom prst="rect">
            <a:avLst/>
          </a:prstGeom>
          <a:noFill/>
          <a:ln/>
        </p:spPr>
        <p:txBody>
          <a:bodyPr wrap="square" lIns="0" tIns="0" rIns="0" bIns="0" rtlCol="0" anchor="ctr"/>
          <a:lstStyle/>
          <a:p>
            <a:pPr algn="ctr" indent="0" marL="0">
              <a:buNone/>
            </a:pPr>
            <a:r>
              <a:rPr lang="en-US" sz="1400" b="1" dirty="0">
                <a:solidFill>
                  <a:srgbClr val="101C26"/>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078992" y="1691640"/>
            <a:ext cx="2194560" cy="310896"/>
          </a:xfrm>
          <a:prstGeom prst="rect">
            <a:avLst/>
          </a:prstGeom>
          <a:noFill/>
          <a:ln/>
        </p:spPr>
        <p:txBody>
          <a:bodyPr wrap="square" lIns="0" tIns="0" rIns="0" bIns="0" rtlCol="0" anchor="ctr"/>
          <a:lstStyle/>
          <a:p>
            <a:pPr indent="0" marL="0">
              <a:buNone/>
            </a:pPr>
            <a:r>
              <a:rPr lang="en-US" sz="1600" b="1" dirty="0">
                <a:solidFill>
                  <a:srgbClr val="101C26"/>
                </a:solidFill>
                <a:latin typeface="Cambria" pitchFamily="34" charset="0"/>
                <a:ea typeface="Cambria" pitchFamily="34" charset="-122"/>
                <a:cs typeface="Cambria" pitchFamily="34" charset="-120"/>
              </a:rPr>
              <a:t>Candidates</a:t>
            </a:r>
            <a:endParaRPr lang="en-US" sz="1600" dirty="0"/>
          </a:p>
        </p:txBody>
      </p:sp>
      <p:sp>
        <p:nvSpPr>
          <p:cNvPr id="7" name="Text 5"/>
          <p:cNvSpPr txBox="1"/>
          <p:nvPr/>
        </p:nvSpPr>
        <p:spPr>
          <a:xfrm>
            <a:off x="1078992" y="2020824"/>
            <a:ext cx="5349240" cy="731520"/>
          </a:xfrm>
          <a:prstGeom prst="rect">
            <a:avLst/>
          </a:prstGeom>
          <a:noFill/>
          <a:ln/>
        </p:spPr>
        <p:txBody>
          <a:bodyPr wrap="square" lIns="0" tIns="0" rIns="0" bIns="0" rtlCol="0" anchor="t"/>
          <a:lstStyle/>
          <a:p>
            <a:pPr algn="l" indent="0" marL="0">
              <a:lnSpc>
                <a:spcPts val="1600"/>
              </a:lnSpc>
              <a:buNone/>
            </a:pPr>
            <a:r>
              <a:rPr lang="en-US" sz="1250" dirty="0">
                <a:solidFill>
                  <a:srgbClr val="2C3E4D"/>
                </a:solidFill>
                <a:latin typeface="Calibri" pitchFamily="34" charset="0"/>
                <a:ea typeface="Calibri" pitchFamily="34" charset="-122"/>
                <a:cs typeface="Calibri" pitchFamily="34" charset="-120"/>
              </a:rPr>
              <a:t>The four neighbours of the current cell, plus staying put. Nothing longer than one step is ever planned.</a:t>
            </a:r>
            <a:endParaRPr lang="en-US" sz="1250" dirty="0"/>
          </a:p>
        </p:txBody>
      </p:sp>
      <p:sp>
        <p:nvSpPr>
          <p:cNvPr id="8" name="Shape 6"/>
          <p:cNvSpPr/>
          <p:nvPr/>
        </p:nvSpPr>
        <p:spPr>
          <a:xfrm>
            <a:off x="548640" y="2834640"/>
            <a:ext cx="365760" cy="365760"/>
          </a:xfrm>
          <a:prstGeom prst="ellipse">
            <a:avLst/>
          </a:prstGeom>
          <a:solidFill>
            <a:srgbClr val="F2A104"/>
          </a:solidFill>
          <a:ln/>
        </p:spPr>
      </p:sp>
      <p:sp>
        <p:nvSpPr>
          <p:cNvPr id="9" name="Text 7"/>
          <p:cNvSpPr txBox="1"/>
          <p:nvPr/>
        </p:nvSpPr>
        <p:spPr>
          <a:xfrm>
            <a:off x="548640" y="2834640"/>
            <a:ext cx="365760" cy="365760"/>
          </a:xfrm>
          <a:prstGeom prst="rect">
            <a:avLst/>
          </a:prstGeom>
          <a:noFill/>
          <a:ln/>
        </p:spPr>
        <p:txBody>
          <a:bodyPr wrap="square" lIns="0" tIns="0" rIns="0" bIns="0" rtlCol="0" anchor="ctr"/>
          <a:lstStyle/>
          <a:p>
            <a:pPr algn="ctr" indent="0" marL="0">
              <a:buNone/>
            </a:pPr>
            <a:r>
              <a:rPr lang="en-US" sz="1400" b="1" dirty="0">
                <a:solidFill>
                  <a:srgbClr val="101C26"/>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078992" y="2788920"/>
            <a:ext cx="2194560" cy="310896"/>
          </a:xfrm>
          <a:prstGeom prst="rect">
            <a:avLst/>
          </a:prstGeom>
          <a:noFill/>
          <a:ln/>
        </p:spPr>
        <p:txBody>
          <a:bodyPr wrap="square" lIns="0" tIns="0" rIns="0" bIns="0" rtlCol="0" anchor="ctr"/>
          <a:lstStyle/>
          <a:p>
            <a:pPr indent="0" marL="0">
              <a:buNone/>
            </a:pPr>
            <a:r>
              <a:rPr lang="en-US" sz="1600" b="1" dirty="0">
                <a:solidFill>
                  <a:srgbClr val="101C26"/>
                </a:solidFill>
                <a:latin typeface="Cambria" pitchFamily="34" charset="0"/>
                <a:ea typeface="Cambria" pitchFamily="34" charset="-122"/>
                <a:cs typeface="Cambria" pitchFamily="34" charset="-120"/>
              </a:rPr>
              <a:t>Hard rejection</a:t>
            </a:r>
            <a:endParaRPr lang="en-US" sz="1600" dirty="0"/>
          </a:p>
        </p:txBody>
      </p:sp>
      <p:sp>
        <p:nvSpPr>
          <p:cNvPr id="11" name="Text 9"/>
          <p:cNvSpPr txBox="1"/>
          <p:nvPr/>
        </p:nvSpPr>
        <p:spPr>
          <a:xfrm>
            <a:off x="1078992" y="3118104"/>
            <a:ext cx="5349240" cy="731520"/>
          </a:xfrm>
          <a:prstGeom prst="rect">
            <a:avLst/>
          </a:prstGeom>
          <a:noFill/>
          <a:ln/>
        </p:spPr>
        <p:txBody>
          <a:bodyPr wrap="square" lIns="0" tIns="0" rIns="0" bIns="0" rtlCol="0" anchor="t"/>
          <a:lstStyle/>
          <a:p>
            <a:pPr algn="l" indent="0" marL="0">
              <a:lnSpc>
                <a:spcPts val="1600"/>
              </a:lnSpc>
              <a:buNone/>
            </a:pPr>
            <a:r>
              <a:rPr lang="en-US" sz="1250" dirty="0">
                <a:solidFill>
                  <a:srgbClr val="2C3E4D"/>
                </a:solidFill>
                <a:latin typeface="Calibri" pitchFamily="34" charset="0"/>
                <a:ea typeface="Calibri" pitchFamily="34" charset="-122"/>
                <a:cs typeface="Calibri" pitchFamily="34" charset="-120"/>
              </a:rPr>
              <a:t>Off-graph, kinematics, vertex conflict, swap conflict. Nothing else: a rule that deletes a legal move breaks the progress argument below.</a:t>
            </a:r>
            <a:endParaRPr lang="en-US" sz="1250" dirty="0"/>
          </a:p>
        </p:txBody>
      </p:sp>
      <p:sp>
        <p:nvSpPr>
          <p:cNvPr id="12" name="Shape 10"/>
          <p:cNvSpPr/>
          <p:nvPr/>
        </p:nvSpPr>
        <p:spPr>
          <a:xfrm>
            <a:off x="548640" y="3931920"/>
            <a:ext cx="365760" cy="365760"/>
          </a:xfrm>
          <a:prstGeom prst="ellipse">
            <a:avLst/>
          </a:prstGeom>
          <a:solidFill>
            <a:srgbClr val="F2A104"/>
          </a:solidFill>
          <a:ln/>
        </p:spPr>
      </p:sp>
      <p:sp>
        <p:nvSpPr>
          <p:cNvPr id="13" name="Text 11"/>
          <p:cNvSpPr txBox="1"/>
          <p:nvPr/>
        </p:nvSpPr>
        <p:spPr>
          <a:xfrm>
            <a:off x="548640" y="3931920"/>
            <a:ext cx="365760" cy="365760"/>
          </a:xfrm>
          <a:prstGeom prst="rect">
            <a:avLst/>
          </a:prstGeom>
          <a:noFill/>
          <a:ln/>
        </p:spPr>
        <p:txBody>
          <a:bodyPr wrap="square" lIns="0" tIns="0" rIns="0" bIns="0" rtlCol="0" anchor="ctr"/>
          <a:lstStyle/>
          <a:p>
            <a:pPr algn="ctr" indent="0" marL="0">
              <a:buNone/>
            </a:pPr>
            <a:r>
              <a:rPr lang="en-US" sz="1400" b="1" dirty="0">
                <a:solidFill>
                  <a:srgbClr val="101C26"/>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078992" y="3886200"/>
            <a:ext cx="2194560" cy="310896"/>
          </a:xfrm>
          <a:prstGeom prst="rect">
            <a:avLst/>
          </a:prstGeom>
          <a:noFill/>
          <a:ln/>
        </p:spPr>
        <p:txBody>
          <a:bodyPr wrap="square" lIns="0" tIns="0" rIns="0" bIns="0" rtlCol="0" anchor="ctr"/>
          <a:lstStyle/>
          <a:p>
            <a:pPr indent="0" marL="0">
              <a:buNone/>
            </a:pPr>
            <a:r>
              <a:rPr lang="en-US" sz="1600" b="1" dirty="0">
                <a:solidFill>
                  <a:srgbClr val="101C26"/>
                </a:solidFill>
                <a:latin typeface="Cambria" pitchFamily="34" charset="0"/>
                <a:ea typeface="Cambria" pitchFamily="34" charset="-122"/>
                <a:cs typeface="Cambria" pitchFamily="34" charset="-120"/>
              </a:rPr>
              <a:t>Score and sort</a:t>
            </a:r>
            <a:endParaRPr lang="en-US" sz="1600" dirty="0"/>
          </a:p>
        </p:txBody>
      </p:sp>
      <p:sp>
        <p:nvSpPr>
          <p:cNvPr id="15" name="Text 13"/>
          <p:cNvSpPr txBox="1"/>
          <p:nvPr/>
        </p:nvSpPr>
        <p:spPr>
          <a:xfrm>
            <a:off x="1078992" y="4215384"/>
            <a:ext cx="5349240" cy="731520"/>
          </a:xfrm>
          <a:prstGeom prst="rect">
            <a:avLst/>
          </a:prstGeom>
          <a:noFill/>
          <a:ln/>
        </p:spPr>
        <p:txBody>
          <a:bodyPr wrap="square" lIns="0" tIns="0" rIns="0" bIns="0" rtlCol="0" anchor="t"/>
          <a:lstStyle/>
          <a:p>
            <a:pPr algn="l" indent="0" marL="0">
              <a:lnSpc>
                <a:spcPts val="1600"/>
              </a:lnSpc>
              <a:buNone/>
            </a:pPr>
            <a:r>
              <a:rPr lang="en-US" sz="1250" dirty="0">
                <a:solidFill>
                  <a:srgbClr val="2C3E4D"/>
                </a:solidFill>
                <a:latin typeface="Calibri" pitchFamily="34" charset="0"/>
                <a:ea typeface="Calibri" pitchFamily="34" charset="-122"/>
                <a:cs typeface="Calibri" pitchFamily="34" charset="-120"/>
              </a:rPr>
              <a:t>Survivors are ranked by S(v). Direction, congestion, turning cost and aisle rules all act here, and only here.</a:t>
            </a:r>
            <a:endParaRPr lang="en-US" sz="1250" dirty="0"/>
          </a:p>
        </p:txBody>
      </p:sp>
      <p:sp>
        <p:nvSpPr>
          <p:cNvPr id="16" name="Shape 14"/>
          <p:cNvSpPr/>
          <p:nvPr/>
        </p:nvSpPr>
        <p:spPr>
          <a:xfrm>
            <a:off x="548640" y="5029200"/>
            <a:ext cx="365760" cy="365760"/>
          </a:xfrm>
          <a:prstGeom prst="ellipse">
            <a:avLst/>
          </a:prstGeom>
          <a:solidFill>
            <a:srgbClr val="F2A104"/>
          </a:solidFill>
          <a:ln/>
        </p:spPr>
      </p:sp>
      <p:sp>
        <p:nvSpPr>
          <p:cNvPr id="17" name="Text 15"/>
          <p:cNvSpPr txBox="1"/>
          <p:nvPr/>
        </p:nvSpPr>
        <p:spPr>
          <a:xfrm>
            <a:off x="548640" y="5029200"/>
            <a:ext cx="365760" cy="365760"/>
          </a:xfrm>
          <a:prstGeom prst="rect">
            <a:avLst/>
          </a:prstGeom>
          <a:noFill/>
          <a:ln/>
        </p:spPr>
        <p:txBody>
          <a:bodyPr wrap="square" lIns="0" tIns="0" rIns="0" bIns="0" rtlCol="0" anchor="ctr"/>
          <a:lstStyle/>
          <a:p>
            <a:pPr algn="ctr" indent="0" marL="0">
              <a:buNone/>
            </a:pPr>
            <a:r>
              <a:rPr lang="en-US" sz="1400" b="1" dirty="0">
                <a:solidFill>
                  <a:srgbClr val="101C26"/>
                </a:solidFill>
                <a:latin typeface="Calibri" pitchFamily="34" charset="0"/>
                <a:ea typeface="Calibri" pitchFamily="34" charset="-122"/>
                <a:cs typeface="Calibri" pitchFamily="34" charset="-120"/>
              </a:rPr>
              <a:t>4</a:t>
            </a:r>
            <a:endParaRPr lang="en-US" sz="1400" dirty="0"/>
          </a:p>
        </p:txBody>
      </p:sp>
      <p:sp>
        <p:nvSpPr>
          <p:cNvPr id="18" name="Text 16"/>
          <p:cNvSpPr txBox="1"/>
          <p:nvPr/>
        </p:nvSpPr>
        <p:spPr>
          <a:xfrm>
            <a:off x="1078992" y="4983480"/>
            <a:ext cx="2194560" cy="310896"/>
          </a:xfrm>
          <a:prstGeom prst="rect">
            <a:avLst/>
          </a:prstGeom>
          <a:noFill/>
          <a:ln/>
        </p:spPr>
        <p:txBody>
          <a:bodyPr wrap="square" lIns="0" tIns="0" rIns="0" bIns="0" rtlCol="0" anchor="ctr"/>
          <a:lstStyle/>
          <a:p>
            <a:pPr indent="0" marL="0">
              <a:buNone/>
            </a:pPr>
            <a:r>
              <a:rPr lang="en-US" sz="1600" b="1" dirty="0">
                <a:solidFill>
                  <a:srgbClr val="101C26"/>
                </a:solidFill>
                <a:latin typeface="Cambria" pitchFamily="34" charset="0"/>
                <a:ea typeface="Cambria" pitchFamily="34" charset="-122"/>
                <a:cs typeface="Cambria" pitchFamily="34" charset="-120"/>
              </a:rPr>
              <a:t>Inherit, then backtrack</a:t>
            </a:r>
            <a:endParaRPr lang="en-US" sz="1600" dirty="0"/>
          </a:p>
        </p:txBody>
      </p:sp>
      <p:sp>
        <p:nvSpPr>
          <p:cNvPr id="19" name="Text 17"/>
          <p:cNvSpPr txBox="1"/>
          <p:nvPr/>
        </p:nvSpPr>
        <p:spPr>
          <a:xfrm>
            <a:off x="1078992" y="5312664"/>
            <a:ext cx="5349240" cy="731520"/>
          </a:xfrm>
          <a:prstGeom prst="rect">
            <a:avLst/>
          </a:prstGeom>
          <a:noFill/>
          <a:ln/>
        </p:spPr>
        <p:txBody>
          <a:bodyPr wrap="square" lIns="0" tIns="0" rIns="0" bIns="0" rtlCol="0" anchor="t"/>
          <a:lstStyle/>
          <a:p>
            <a:pPr algn="l" indent="0" marL="0">
              <a:lnSpc>
                <a:spcPts val="1600"/>
              </a:lnSpc>
              <a:buNone/>
            </a:pPr>
            <a:r>
              <a:rPr lang="en-US" sz="1250" dirty="0">
                <a:solidFill>
                  <a:srgbClr val="2C3E4D"/>
                </a:solidFill>
                <a:latin typeface="Calibri" pitchFamily="34" charset="0"/>
                <a:ea typeface="Calibri" pitchFamily="34" charset="-122"/>
                <a:cs typeface="Calibri" pitchFamily="34" charset="-120"/>
              </a:rPr>
              <a:t>If the best cell is occupied by an unplanned robot, that robot plans next with the caller's priority. If it fails, undo and try the next candidate.</a:t>
            </a:r>
            <a:endParaRPr lang="en-US" sz="1250" dirty="0"/>
          </a:p>
        </p:txBody>
      </p:sp>
      <p:sp>
        <p:nvSpPr>
          <p:cNvPr id="20" name="Shape 18"/>
          <p:cNvSpPr/>
          <p:nvPr/>
        </p:nvSpPr>
        <p:spPr>
          <a:xfrm>
            <a:off x="6720840" y="1691640"/>
            <a:ext cx="4919472" cy="4160520"/>
          </a:xfrm>
          <a:prstGeom prst="roundRect">
            <a:avLst>
              <a:gd name="adj" fmla="val 1978"/>
            </a:avLst>
          </a:prstGeom>
          <a:solidFill>
            <a:srgbClr val="1D3346"/>
          </a:solidFill>
          <a:ln w="12700">
            <a:solidFill>
              <a:srgbClr val="1D3346"/>
            </a:solidFill>
            <a:prstDash val="solid"/>
          </a:ln>
          <a:effectLst>
            <a:outerShdw sx="100000" sy="100000" kx="0" ky="0" algn="bl" rotWithShape="0" blurRad="127000" dist="25400" dir="5400000">
              <a:srgbClr val="0B1620">
                <a:alpha val="13000"/>
              </a:srgbClr>
            </a:outerShdw>
          </a:effectLst>
        </p:spPr>
      </p:sp>
      <p:sp>
        <p:nvSpPr>
          <p:cNvPr id="21" name="Text 19"/>
          <p:cNvSpPr txBox="1"/>
          <p:nvPr/>
        </p:nvSpPr>
        <p:spPr>
          <a:xfrm>
            <a:off x="7022592" y="1901952"/>
            <a:ext cx="4023360" cy="310896"/>
          </a:xfrm>
          <a:prstGeom prst="rect">
            <a:avLst/>
          </a:prstGeom>
          <a:noFill/>
          <a:ln/>
        </p:spPr>
        <p:txBody>
          <a:bodyPr wrap="square" lIns="0" tIns="0" rIns="0" bIns="0" rtlCol="0" anchor="ctr"/>
          <a:lstStyle/>
          <a:p>
            <a:pPr indent="0" marL="0">
              <a:buNone/>
            </a:pPr>
            <a:r>
              <a:rPr lang="en-US" sz="1250" b="1" spc="120" kern="0" dirty="0">
                <a:solidFill>
                  <a:srgbClr val="F2A104"/>
                </a:solidFill>
                <a:latin typeface="Calibri" pitchFamily="34" charset="0"/>
                <a:ea typeface="Calibri" pitchFamily="34" charset="-122"/>
                <a:cs typeface="Calibri" pitchFamily="34" charset="-120"/>
              </a:rPr>
              <a:t>Priority inheritance</a:t>
            </a:r>
            <a:endParaRPr lang="en-US" sz="1250" dirty="0"/>
          </a:p>
        </p:txBody>
      </p:sp>
      <p:sp>
        <p:nvSpPr>
          <p:cNvPr id="22" name="Shape 20"/>
          <p:cNvSpPr/>
          <p:nvPr/>
        </p:nvSpPr>
        <p:spPr>
          <a:xfrm>
            <a:off x="7059168" y="2395728"/>
            <a:ext cx="566928" cy="566928"/>
          </a:xfrm>
          <a:prstGeom prst="ellipse">
            <a:avLst/>
          </a:prstGeom>
          <a:solidFill>
            <a:srgbClr val="F2A104"/>
          </a:solidFill>
          <a:ln/>
        </p:spPr>
      </p:sp>
      <p:sp>
        <p:nvSpPr>
          <p:cNvPr id="23" name="Text 21"/>
          <p:cNvSpPr txBox="1"/>
          <p:nvPr/>
        </p:nvSpPr>
        <p:spPr>
          <a:xfrm>
            <a:off x="7059168" y="2395728"/>
            <a:ext cx="566928" cy="566928"/>
          </a:xfrm>
          <a:prstGeom prst="rect">
            <a:avLst/>
          </a:prstGeom>
          <a:noFill/>
          <a:ln/>
        </p:spPr>
        <p:txBody>
          <a:bodyPr wrap="square" lIns="0" tIns="0" rIns="0" bIns="0" rtlCol="0" anchor="ctr"/>
          <a:lstStyle/>
          <a:p>
            <a:pPr algn="ctr" indent="0" marL="0">
              <a:buNone/>
            </a:pPr>
            <a:r>
              <a:rPr lang="en-US" sz="1400" b="1" dirty="0">
                <a:solidFill>
                  <a:srgbClr val="101C26"/>
                </a:solidFill>
                <a:latin typeface="Calibri" pitchFamily="34" charset="0"/>
                <a:ea typeface="Calibri" pitchFamily="34" charset="-122"/>
                <a:cs typeface="Calibri" pitchFamily="34" charset="-120"/>
              </a:rPr>
              <a:t>R7</a:t>
            </a:r>
            <a:endParaRPr lang="en-US" sz="1400" dirty="0"/>
          </a:p>
        </p:txBody>
      </p:sp>
      <p:sp>
        <p:nvSpPr>
          <p:cNvPr id="24" name="Text 22"/>
          <p:cNvSpPr txBox="1"/>
          <p:nvPr/>
        </p:nvSpPr>
        <p:spPr>
          <a:xfrm>
            <a:off x="7818120" y="2487168"/>
            <a:ext cx="3566160" cy="411480"/>
          </a:xfrm>
          <a:prstGeom prst="rect">
            <a:avLst/>
          </a:prstGeom>
          <a:noFill/>
          <a:ln/>
        </p:spPr>
        <p:txBody>
          <a:bodyPr wrap="square" lIns="0" tIns="0" rIns="0" bIns="0" rtlCol="0" anchor="ctr"/>
          <a:lstStyle/>
          <a:p>
            <a:pPr indent="0" marL="0">
              <a:lnSpc>
                <a:spcPts val="1500"/>
              </a:lnSpc>
              <a:buNone/>
            </a:pPr>
            <a:r>
              <a:rPr lang="en-US" sz="1200" dirty="0">
                <a:solidFill>
                  <a:srgbClr val="C6D5E0"/>
                </a:solidFill>
                <a:latin typeface="Calibri" pitchFamily="34" charset="0"/>
                <a:ea typeface="Calibri" pitchFamily="34" charset="-122"/>
                <a:cs typeface="Calibri" pitchFamily="34" charset="-120"/>
              </a:rPr>
              <a:t>highest priority, wants the cell ahead</a:t>
            </a:r>
            <a:endParaRPr lang="en-US" sz="1200" dirty="0"/>
          </a:p>
        </p:txBody>
      </p:sp>
      <p:sp>
        <p:nvSpPr>
          <p:cNvPr id="25" name="Shape 23"/>
          <p:cNvSpPr/>
          <p:nvPr/>
        </p:nvSpPr>
        <p:spPr>
          <a:xfrm>
            <a:off x="7342632" y="2999232"/>
            <a:ext cx="0" cy="329184"/>
          </a:xfrm>
          <a:prstGeom prst="line">
            <a:avLst/>
          </a:prstGeom>
          <a:noFill/>
          <a:ln w="25400">
            <a:solidFill>
              <a:srgbClr val="F2A104"/>
            </a:solidFill>
            <a:prstDash val="solid"/>
            <a:tailEnd type="triangle"/>
          </a:ln>
        </p:spPr>
      </p:sp>
      <p:sp>
        <p:nvSpPr>
          <p:cNvPr id="26" name="Shape 24"/>
          <p:cNvSpPr/>
          <p:nvPr/>
        </p:nvSpPr>
        <p:spPr>
          <a:xfrm>
            <a:off x="7059168" y="3364992"/>
            <a:ext cx="566928" cy="566928"/>
          </a:xfrm>
          <a:prstGeom prst="ellipse">
            <a:avLst/>
          </a:prstGeom>
          <a:solidFill>
            <a:srgbClr val="5A7387"/>
          </a:solidFill>
          <a:ln/>
        </p:spPr>
      </p:sp>
      <p:sp>
        <p:nvSpPr>
          <p:cNvPr id="27" name="Text 25"/>
          <p:cNvSpPr txBox="1"/>
          <p:nvPr/>
        </p:nvSpPr>
        <p:spPr>
          <a:xfrm>
            <a:off x="7059168" y="3364992"/>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R3</a:t>
            </a:r>
            <a:endParaRPr lang="en-US" sz="1400" dirty="0"/>
          </a:p>
        </p:txBody>
      </p:sp>
      <p:sp>
        <p:nvSpPr>
          <p:cNvPr id="28" name="Text 26"/>
          <p:cNvSpPr txBox="1"/>
          <p:nvPr/>
        </p:nvSpPr>
        <p:spPr>
          <a:xfrm>
            <a:off x="7818120" y="3456432"/>
            <a:ext cx="3566160" cy="411480"/>
          </a:xfrm>
          <a:prstGeom prst="rect">
            <a:avLst/>
          </a:prstGeom>
          <a:noFill/>
          <a:ln/>
        </p:spPr>
        <p:txBody>
          <a:bodyPr wrap="square" lIns="0" tIns="0" rIns="0" bIns="0" rtlCol="0" anchor="ctr"/>
          <a:lstStyle/>
          <a:p>
            <a:pPr indent="0" marL="0">
              <a:lnSpc>
                <a:spcPts val="1500"/>
              </a:lnSpc>
              <a:buNone/>
            </a:pPr>
            <a:r>
              <a:rPr lang="en-US" sz="1200" dirty="0">
                <a:solidFill>
                  <a:srgbClr val="C6D5E0"/>
                </a:solidFill>
                <a:latin typeface="Calibri" pitchFamily="34" charset="0"/>
                <a:ea typeface="Calibri" pitchFamily="34" charset="-122"/>
                <a:cs typeface="Calibri" pitchFamily="34" charset="-120"/>
              </a:rPr>
              <a:t>sitting in it, has not planned yet</a:t>
            </a:r>
            <a:endParaRPr lang="en-US" sz="1200" dirty="0"/>
          </a:p>
        </p:txBody>
      </p:sp>
      <p:sp>
        <p:nvSpPr>
          <p:cNvPr id="29" name="Shape 27"/>
          <p:cNvSpPr/>
          <p:nvPr/>
        </p:nvSpPr>
        <p:spPr>
          <a:xfrm>
            <a:off x="7342632" y="3968496"/>
            <a:ext cx="0" cy="329184"/>
          </a:xfrm>
          <a:prstGeom prst="line">
            <a:avLst/>
          </a:prstGeom>
          <a:noFill/>
          <a:ln w="25400">
            <a:solidFill>
              <a:srgbClr val="F2A104"/>
            </a:solidFill>
            <a:prstDash val="solid"/>
            <a:tailEnd type="triangle"/>
          </a:ln>
        </p:spPr>
      </p:sp>
      <p:sp>
        <p:nvSpPr>
          <p:cNvPr id="30" name="Shape 28"/>
          <p:cNvSpPr/>
          <p:nvPr/>
        </p:nvSpPr>
        <p:spPr>
          <a:xfrm>
            <a:off x="7059168" y="4334256"/>
            <a:ext cx="566928" cy="566928"/>
          </a:xfrm>
          <a:prstGeom prst="ellipse">
            <a:avLst/>
          </a:prstGeom>
          <a:solidFill>
            <a:srgbClr val="5A7387"/>
          </a:solidFill>
          <a:ln/>
        </p:spPr>
      </p:sp>
      <p:sp>
        <p:nvSpPr>
          <p:cNvPr id="31" name="Text 29"/>
          <p:cNvSpPr txBox="1"/>
          <p:nvPr/>
        </p:nvSpPr>
        <p:spPr>
          <a:xfrm>
            <a:off x="7059168" y="4334256"/>
            <a:ext cx="56692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R1</a:t>
            </a:r>
            <a:endParaRPr lang="en-US" sz="1400" dirty="0"/>
          </a:p>
        </p:txBody>
      </p:sp>
      <p:sp>
        <p:nvSpPr>
          <p:cNvPr id="32" name="Text 30"/>
          <p:cNvSpPr txBox="1"/>
          <p:nvPr/>
        </p:nvSpPr>
        <p:spPr>
          <a:xfrm>
            <a:off x="7818120" y="4425696"/>
            <a:ext cx="3566160" cy="411480"/>
          </a:xfrm>
          <a:prstGeom prst="rect">
            <a:avLst/>
          </a:prstGeom>
          <a:noFill/>
          <a:ln/>
        </p:spPr>
        <p:txBody>
          <a:bodyPr wrap="square" lIns="0" tIns="0" rIns="0" bIns="0" rtlCol="0" anchor="ctr"/>
          <a:lstStyle/>
          <a:p>
            <a:pPr indent="0" marL="0">
              <a:lnSpc>
                <a:spcPts val="1500"/>
              </a:lnSpc>
              <a:buNone/>
            </a:pPr>
            <a:r>
              <a:rPr lang="en-US" sz="1200" dirty="0">
                <a:solidFill>
                  <a:srgbClr val="C6D5E0"/>
                </a:solidFill>
                <a:latin typeface="Calibri" pitchFamily="34" charset="0"/>
                <a:ea typeface="Calibri" pitchFamily="34" charset="-122"/>
                <a:cs typeface="Calibri" pitchFamily="34" charset="-120"/>
              </a:rPr>
              <a:t>idle, blocking R3 in turn</a:t>
            </a:r>
            <a:endParaRPr lang="en-US" sz="1200" dirty="0"/>
          </a:p>
        </p:txBody>
      </p:sp>
      <p:sp>
        <p:nvSpPr>
          <p:cNvPr id="33" name="Text 31"/>
          <p:cNvSpPr txBox="1"/>
          <p:nvPr/>
        </p:nvSpPr>
        <p:spPr>
          <a:xfrm>
            <a:off x="7022592" y="5230368"/>
            <a:ext cx="4315968" cy="548640"/>
          </a:xfrm>
          <a:prstGeom prst="rect">
            <a:avLst/>
          </a:prstGeom>
          <a:noFill/>
          <a:ln/>
        </p:spPr>
        <p:txBody>
          <a:bodyPr wrap="square" lIns="0" tIns="0" rIns="0" bIns="0" rtlCol="0" anchor="ctr"/>
          <a:lstStyle/>
          <a:p>
            <a:pPr indent="0" marL="0">
              <a:lnSpc>
                <a:spcPts val="1600"/>
              </a:lnSpc>
              <a:buNone/>
            </a:pPr>
            <a:r>
              <a:rPr lang="en-US" sz="1200" i="1" dirty="0">
                <a:solidFill>
                  <a:srgbClr val="FBE6B8"/>
                </a:solidFill>
                <a:latin typeface="Calibri" pitchFamily="34" charset="0"/>
                <a:ea typeface="Calibri" pitchFamily="34" charset="-122"/>
                <a:cs typeface="Calibri" pitchFamily="34" charset="-120"/>
              </a:rPr>
              <a:t>R1 moves aside, so R3 moves, so R7 moves. If nobody can, the chain unwinds and R7 tries its second-best cell.</a:t>
            </a:r>
            <a:endParaRPr lang="en-US" sz="1200" dirty="0"/>
          </a:p>
        </p:txBody>
      </p:sp>
      <p:sp>
        <p:nvSpPr>
          <p:cNvPr id="34" name="Text 32"/>
          <p:cNvSpPr txBox="1"/>
          <p:nvPr/>
        </p:nvSpPr>
        <p:spPr>
          <a:xfrm>
            <a:off x="548640" y="6217920"/>
            <a:ext cx="11064240" cy="411480"/>
          </a:xfrm>
          <a:prstGeom prst="rect">
            <a:avLst/>
          </a:prstGeom>
          <a:noFill/>
          <a:ln/>
        </p:spPr>
        <p:txBody>
          <a:bodyPr wrap="square" lIns="0" tIns="0" rIns="0" bIns="0" rtlCol="0" anchor="ctr"/>
          <a:lstStyle/>
          <a:p>
            <a:pPr indent="0" marL="0">
              <a:buNone/>
            </a:pPr>
            <a:r>
              <a:rPr lang="en-US" sz="1000" i="1" dirty="0">
                <a:solidFill>
                  <a:srgbClr val="6C7C8A"/>
                </a:solidFill>
                <a:latin typeface="Calibri" pitchFamily="34" charset="0"/>
                <a:ea typeface="Calibri" pitchFamily="34" charset="-122"/>
                <a:cs typeface="Calibri" pitchFamily="34" charset="-120"/>
              </a:rPr>
              <a:t>Cost per timestep: O(|A|(Δ(G) + F + log|A|)). Measured at 1.00 ms/step for 40 robots on warehouse_medium, 1.90 with the aisle layer on.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01C26"/>
        </a:solidFill>
      </p:bgPr>
    </p:bg>
    <p:spTree>
      <p:nvGrpSpPr>
        <p:cNvPr id="1" name=""/>
        <p:cNvGrpSpPr/>
        <p:nvPr/>
      </p:nvGrpSpPr>
      <p:grpSpPr>
        <a:xfrm>
          <a:off x="0" y="0"/>
          <a:ext cx="0" cy="0"/>
          <a:chOff x="0" y="0"/>
          <a:chExt cx="0" cy="0"/>
        </a:xfrm>
      </p:grpSpPr>
      <p:sp>
        <p:nvSpPr>
          <p:cNvPr id="2" name="Text 0"/>
          <p:cNvSpPr txBox="1"/>
          <p:nvPr/>
        </p:nvSpPr>
        <p:spPr>
          <a:xfrm>
            <a:off x="548640" y="384048"/>
            <a:ext cx="10515600" cy="237744"/>
          </a:xfrm>
          <a:prstGeom prst="rect">
            <a:avLst/>
          </a:prstGeom>
          <a:noFill/>
          <a:ln/>
        </p:spPr>
        <p:txBody>
          <a:bodyPr wrap="square" lIns="0" tIns="0" rIns="0" bIns="0" rtlCol="0" anchor="ctr"/>
          <a:lstStyle/>
          <a:p>
            <a:pPr indent="0" marL="0">
              <a:buNone/>
            </a:pPr>
            <a:r>
              <a:rPr lang="en-US" sz="1150" b="1" spc="220" kern="0" dirty="0">
                <a:solidFill>
                  <a:srgbClr val="F2A104"/>
                </a:solidFill>
                <a:latin typeface="Calibri" pitchFamily="34" charset="0"/>
                <a:ea typeface="Calibri" pitchFamily="34" charset="-122"/>
                <a:cs typeface="Calibri" pitchFamily="34" charset="-120"/>
              </a:rPr>
              <a:t>THE GAP WE SET OUT TO CLOSE</a:t>
            </a:r>
            <a:endParaRPr lang="en-US" sz="1150" dirty="0"/>
          </a:p>
        </p:txBody>
      </p:sp>
      <p:sp>
        <p:nvSpPr>
          <p:cNvPr id="3" name="Text 1"/>
          <p:cNvSpPr txBox="1"/>
          <p:nvPr/>
        </p:nvSpPr>
        <p:spPr>
          <a:xfrm>
            <a:off x="548640" y="658368"/>
            <a:ext cx="1060704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PIBT does not know what an aisle is</a:t>
            </a:r>
            <a:endParaRPr lang="en-US" sz="3400" dirty="0"/>
          </a:p>
        </p:txBody>
      </p:sp>
      <p:sp>
        <p:nvSpPr>
          <p:cNvPr id="4" name="Shape 2"/>
          <p:cNvSpPr/>
          <p:nvPr/>
        </p:nvSpPr>
        <p:spPr>
          <a:xfrm>
            <a:off x="548640" y="1691640"/>
            <a:ext cx="3456432" cy="2286000"/>
          </a:xfrm>
          <a:prstGeom prst="roundRect">
            <a:avLst>
              <a:gd name="adj" fmla="val 3600"/>
            </a:avLst>
          </a:prstGeom>
          <a:solidFill>
            <a:srgbClr val="1A2C3B"/>
          </a:solidFill>
          <a:ln w="12700">
            <a:solidFill>
              <a:srgbClr val="1A2C3B"/>
            </a:solidFill>
            <a:prstDash val="solid"/>
          </a:ln>
        </p:spPr>
      </p:sp>
      <p:sp>
        <p:nvSpPr>
          <p:cNvPr id="5" name="Text 3"/>
          <p:cNvSpPr txBox="1"/>
          <p:nvPr/>
        </p:nvSpPr>
        <p:spPr>
          <a:xfrm>
            <a:off x="841248" y="1920240"/>
            <a:ext cx="2926080" cy="329184"/>
          </a:xfrm>
          <a:prstGeom prst="rect">
            <a:avLst/>
          </a:prstGeom>
          <a:noFill/>
          <a:ln/>
        </p:spPr>
        <p:txBody>
          <a:bodyPr wrap="square" lIns="0" tIns="0" rIns="0" bIns="0" rtlCol="0" anchor="ctr"/>
          <a:lstStyle/>
          <a:p>
            <a:pPr indent="0" marL="0">
              <a:buNone/>
            </a:pPr>
            <a:r>
              <a:rPr lang="en-US" sz="1800" b="1" dirty="0">
                <a:solidFill>
                  <a:srgbClr val="F2A104"/>
                </a:solidFill>
                <a:latin typeface="Cambria" pitchFamily="34" charset="0"/>
                <a:ea typeface="Cambria" pitchFamily="34" charset="-122"/>
                <a:cs typeface="Cambria" pitchFamily="34" charset="-120"/>
              </a:rPr>
              <a:t>Direction-blind</a:t>
            </a:r>
            <a:endParaRPr lang="en-US" sz="1800" dirty="0"/>
          </a:p>
        </p:txBody>
      </p:sp>
      <p:sp>
        <p:nvSpPr>
          <p:cNvPr id="6" name="Text 4"/>
          <p:cNvSpPr txBox="1"/>
          <p:nvPr/>
        </p:nvSpPr>
        <p:spPr>
          <a:xfrm>
            <a:off x="841248" y="2340864"/>
            <a:ext cx="2889504" cy="1508760"/>
          </a:xfrm>
          <a:prstGeom prst="rect">
            <a:avLst/>
          </a:prstGeom>
          <a:noFill/>
          <a:ln/>
        </p:spPr>
        <p:txBody>
          <a:bodyPr wrap="square" lIns="0" tIns="0" rIns="0" bIns="0" rtlCol="0" anchor="t"/>
          <a:lstStyle/>
          <a:p>
            <a:pPr algn="l" indent="0" marL="0">
              <a:lnSpc>
                <a:spcPts val="1700"/>
              </a:lnSpc>
              <a:buNone/>
            </a:pPr>
            <a:r>
              <a:rPr lang="en-US" sz="1250" dirty="0">
                <a:solidFill>
                  <a:srgbClr val="C6D5E0"/>
                </a:solidFill>
                <a:latin typeface="Calibri" pitchFamily="34" charset="0"/>
                <a:ea typeface="Calibri" pitchFamily="34" charset="-122"/>
                <a:cs typeface="Calibri" pitchFamily="34" charset="-120"/>
              </a:rPr>
              <a:t>PIBT scores a cell by how much closer it gets you. Two robots entering a single-file corridor from opposite ends are each moving optimally, right up to the moment neither can move at all.</a:t>
            </a:r>
            <a:endParaRPr lang="en-US" sz="1250" dirty="0"/>
          </a:p>
        </p:txBody>
      </p:sp>
      <p:sp>
        <p:nvSpPr>
          <p:cNvPr id="7" name="Shape 5"/>
          <p:cNvSpPr/>
          <p:nvPr/>
        </p:nvSpPr>
        <p:spPr>
          <a:xfrm>
            <a:off x="4279392" y="1691640"/>
            <a:ext cx="3456432" cy="2286000"/>
          </a:xfrm>
          <a:prstGeom prst="roundRect">
            <a:avLst>
              <a:gd name="adj" fmla="val 3600"/>
            </a:avLst>
          </a:prstGeom>
          <a:solidFill>
            <a:srgbClr val="1A2C3B"/>
          </a:solidFill>
          <a:ln w="12700">
            <a:solidFill>
              <a:srgbClr val="1A2C3B"/>
            </a:solidFill>
            <a:prstDash val="solid"/>
          </a:ln>
        </p:spPr>
      </p:sp>
      <p:sp>
        <p:nvSpPr>
          <p:cNvPr id="8" name="Text 6"/>
          <p:cNvSpPr txBox="1"/>
          <p:nvPr/>
        </p:nvSpPr>
        <p:spPr>
          <a:xfrm>
            <a:off x="4572000" y="1920240"/>
            <a:ext cx="2926080" cy="329184"/>
          </a:xfrm>
          <a:prstGeom prst="rect">
            <a:avLst/>
          </a:prstGeom>
          <a:noFill/>
          <a:ln/>
        </p:spPr>
        <p:txBody>
          <a:bodyPr wrap="square" lIns="0" tIns="0" rIns="0" bIns="0" rtlCol="0" anchor="ctr"/>
          <a:lstStyle/>
          <a:p>
            <a:pPr indent="0" marL="0">
              <a:buNone/>
            </a:pPr>
            <a:r>
              <a:rPr lang="en-US" sz="1800" b="1" dirty="0">
                <a:solidFill>
                  <a:srgbClr val="F2A104"/>
                </a:solidFill>
                <a:latin typeface="Cambria" pitchFamily="34" charset="0"/>
                <a:ea typeface="Cambria" pitchFamily="34" charset="-122"/>
                <a:cs typeface="Cambria" pitchFamily="34" charset="-120"/>
              </a:rPr>
              <a:t>Congestion-blind</a:t>
            </a:r>
            <a:endParaRPr lang="en-US" sz="1800" dirty="0"/>
          </a:p>
        </p:txBody>
      </p:sp>
      <p:sp>
        <p:nvSpPr>
          <p:cNvPr id="9" name="Text 7"/>
          <p:cNvSpPr txBox="1"/>
          <p:nvPr/>
        </p:nvSpPr>
        <p:spPr>
          <a:xfrm>
            <a:off x="4572000" y="2340864"/>
            <a:ext cx="2889504" cy="1508760"/>
          </a:xfrm>
          <a:prstGeom prst="rect">
            <a:avLst/>
          </a:prstGeom>
          <a:noFill/>
          <a:ln/>
        </p:spPr>
        <p:txBody>
          <a:bodyPr wrap="square" lIns="0" tIns="0" rIns="0" bIns="0" rtlCol="0" anchor="t"/>
          <a:lstStyle/>
          <a:p>
            <a:pPr algn="l" indent="0" marL="0">
              <a:lnSpc>
                <a:spcPts val="1700"/>
              </a:lnSpc>
              <a:buNone/>
            </a:pPr>
            <a:r>
              <a:rPr lang="en-US" sz="1250" dirty="0">
                <a:solidFill>
                  <a:srgbClr val="C6D5E0"/>
                </a:solidFill>
                <a:latin typeface="Calibri" pitchFamily="34" charset="0"/>
                <a:ea typeface="Calibri" pitchFamily="34" charset="-122"/>
                <a:cs typeface="Calibri" pitchFamily="34" charset="-120"/>
              </a:rPr>
              <a:t>Task assignment picks whichever robot is nearest. Nearest through a jammed corridor is not nearest, and a greedy match keeps feeding robots into the jam.</a:t>
            </a:r>
            <a:endParaRPr lang="en-US" sz="1250" dirty="0"/>
          </a:p>
        </p:txBody>
      </p:sp>
      <p:sp>
        <p:nvSpPr>
          <p:cNvPr id="10" name="Shape 8"/>
          <p:cNvSpPr/>
          <p:nvPr/>
        </p:nvSpPr>
        <p:spPr>
          <a:xfrm>
            <a:off x="8010144" y="1691640"/>
            <a:ext cx="3456432" cy="2286000"/>
          </a:xfrm>
          <a:prstGeom prst="roundRect">
            <a:avLst>
              <a:gd name="adj" fmla="val 3600"/>
            </a:avLst>
          </a:prstGeom>
          <a:solidFill>
            <a:srgbClr val="1A2C3B"/>
          </a:solidFill>
          <a:ln w="12700">
            <a:solidFill>
              <a:srgbClr val="1A2C3B"/>
            </a:solidFill>
            <a:prstDash val="solid"/>
          </a:ln>
        </p:spPr>
      </p:sp>
      <p:sp>
        <p:nvSpPr>
          <p:cNvPr id="11" name="Text 9"/>
          <p:cNvSpPr txBox="1"/>
          <p:nvPr/>
        </p:nvSpPr>
        <p:spPr>
          <a:xfrm>
            <a:off x="8302752" y="1920240"/>
            <a:ext cx="2926080" cy="329184"/>
          </a:xfrm>
          <a:prstGeom prst="rect">
            <a:avLst/>
          </a:prstGeom>
          <a:noFill/>
          <a:ln/>
        </p:spPr>
        <p:txBody>
          <a:bodyPr wrap="square" lIns="0" tIns="0" rIns="0" bIns="0" rtlCol="0" anchor="ctr"/>
          <a:lstStyle/>
          <a:p>
            <a:pPr indent="0" marL="0">
              <a:buNone/>
            </a:pPr>
            <a:r>
              <a:rPr lang="en-US" sz="1800" b="1" dirty="0">
                <a:solidFill>
                  <a:srgbClr val="F2A104"/>
                </a:solidFill>
                <a:latin typeface="Cambria" pitchFamily="34" charset="0"/>
                <a:ea typeface="Cambria" pitchFamily="34" charset="-122"/>
                <a:cs typeface="Cambria" pitchFamily="34" charset="-120"/>
              </a:rPr>
              <a:t>No structural memory</a:t>
            </a:r>
            <a:endParaRPr lang="en-US" sz="1800" dirty="0"/>
          </a:p>
        </p:txBody>
      </p:sp>
      <p:sp>
        <p:nvSpPr>
          <p:cNvPr id="12" name="Text 10"/>
          <p:cNvSpPr txBox="1"/>
          <p:nvPr/>
        </p:nvSpPr>
        <p:spPr>
          <a:xfrm>
            <a:off x="8302752" y="2340864"/>
            <a:ext cx="2889504" cy="1508760"/>
          </a:xfrm>
          <a:prstGeom prst="rect">
            <a:avLst/>
          </a:prstGeom>
          <a:noFill/>
          <a:ln/>
        </p:spPr>
        <p:txBody>
          <a:bodyPr wrap="square" lIns="0" tIns="0" rIns="0" bIns="0" rtlCol="0" anchor="t"/>
          <a:lstStyle/>
          <a:p>
            <a:pPr algn="l" indent="0" marL="0">
              <a:lnSpc>
                <a:spcPts val="1700"/>
              </a:lnSpc>
              <a:buNone/>
            </a:pPr>
            <a:r>
              <a:rPr lang="en-US" sz="1250" dirty="0">
                <a:solidFill>
                  <a:srgbClr val="C6D5E0"/>
                </a:solidFill>
                <a:latin typeface="Calibri" pitchFamily="34" charset="0"/>
                <a:ea typeface="Calibri" pitchFamily="34" charset="-122"/>
                <a:cs typeface="Calibri" pitchFamily="34" charset="-120"/>
              </a:rPr>
              <a:t>Nothing in PIBT records that this corridor was flowing north five steps ago, so the flow direction flaps with the traffic instead of settling.</a:t>
            </a:r>
            <a:endParaRPr lang="en-US" sz="1250" dirty="0"/>
          </a:p>
        </p:txBody>
      </p:sp>
      <p:sp>
        <p:nvSpPr>
          <p:cNvPr id="13" name="Shape 11"/>
          <p:cNvSpPr/>
          <p:nvPr/>
        </p:nvSpPr>
        <p:spPr>
          <a:xfrm>
            <a:off x="548640" y="4224528"/>
            <a:ext cx="11091672" cy="1627632"/>
          </a:xfrm>
          <a:prstGeom prst="roundRect">
            <a:avLst>
              <a:gd name="adj" fmla="val 5056"/>
            </a:avLst>
          </a:prstGeom>
          <a:solidFill>
            <a:srgbClr val="F2A104"/>
          </a:solidFill>
          <a:ln w="12700">
            <a:solidFill>
              <a:srgbClr val="F2A104"/>
            </a:solidFill>
            <a:prstDash val="solid"/>
          </a:ln>
        </p:spPr>
      </p:sp>
      <p:sp>
        <p:nvSpPr>
          <p:cNvPr id="14" name="Text 12"/>
          <p:cNvSpPr txBox="1"/>
          <p:nvPr/>
        </p:nvSpPr>
        <p:spPr>
          <a:xfrm>
            <a:off x="1005840" y="4462272"/>
            <a:ext cx="10241280" cy="457200"/>
          </a:xfrm>
          <a:prstGeom prst="rect">
            <a:avLst/>
          </a:prstGeom>
          <a:noFill/>
          <a:ln/>
        </p:spPr>
        <p:txBody>
          <a:bodyPr wrap="square" lIns="0" tIns="0" rIns="0" bIns="0" rtlCol="0" anchor="ctr"/>
          <a:lstStyle/>
          <a:p>
            <a:pPr indent="0" marL="0">
              <a:buNone/>
            </a:pPr>
            <a:r>
              <a:rPr lang="en-US" sz="2300" b="1" dirty="0">
                <a:solidFill>
                  <a:srgbClr val="101C26"/>
                </a:solidFill>
                <a:latin typeface="Cambria" pitchFamily="34" charset="0"/>
                <a:ea typeface="Cambria" pitchFamily="34" charset="-122"/>
                <a:cs typeface="Cambria" pitchFamily="34" charset="-120"/>
              </a:rPr>
              <a:t>“Robots generate directional requests, but aisles make directional decisions.”</a:t>
            </a:r>
            <a:endParaRPr lang="en-US" sz="2300" dirty="0"/>
          </a:p>
        </p:txBody>
      </p:sp>
      <p:sp>
        <p:nvSpPr>
          <p:cNvPr id="15" name="Text 13"/>
          <p:cNvSpPr txBox="1"/>
          <p:nvPr/>
        </p:nvSpPr>
        <p:spPr>
          <a:xfrm>
            <a:off x="1005840" y="5047488"/>
            <a:ext cx="10241280" cy="640080"/>
          </a:xfrm>
          <a:prstGeom prst="rect">
            <a:avLst/>
          </a:prstGeom>
          <a:noFill/>
          <a:ln/>
        </p:spPr>
        <p:txBody>
          <a:bodyPr wrap="square" lIns="0" tIns="0" rIns="0" bIns="0" rtlCol="0" anchor="ctr"/>
          <a:lstStyle/>
          <a:p>
            <a:pPr indent="0" marL="0">
              <a:lnSpc>
                <a:spcPts val="1900"/>
              </a:lnSpc>
              <a:buNone/>
            </a:pPr>
            <a:r>
              <a:rPr lang="en-US" sz="1350" dirty="0">
                <a:solidFill>
                  <a:srgbClr val="4A3A12"/>
                </a:solidFill>
                <a:latin typeface="Calibri" pitchFamily="34" charset="0"/>
                <a:ea typeface="Calibri" pitchFamily="34" charset="-122"/>
                <a:cs typeface="Calibri" pitchFamily="34" charset="-120"/>
              </a:rPr>
              <a:t>The architectural commitment of LDA-PIBT: a robot may prefer a direction, but the aisle owns it — and the aisle is the only thing that can see every robot that wants to use it.</a:t>
            </a:r>
            <a:endParaRPr lang="en-US" sz="1350" dirty="0"/>
          </a:p>
        </p:txBody>
      </p:sp>
      <p:sp>
        <p:nvSpPr>
          <p:cNvPr id="16" name="Text 14"/>
          <p:cNvSpPr txBox="1"/>
          <p:nvPr/>
        </p:nvSpPr>
        <p:spPr>
          <a:xfrm>
            <a:off x="548640" y="6217920"/>
            <a:ext cx="11064240" cy="411480"/>
          </a:xfrm>
          <a:prstGeom prst="rect">
            <a:avLst/>
          </a:prstGeom>
          <a:noFill/>
          <a:ln/>
        </p:spPr>
        <p:txBody>
          <a:bodyPr wrap="square" lIns="0" tIns="0" rIns="0" bIns="0" rtlCol="0" anchor="ctr"/>
          <a:lstStyle/>
          <a:p>
            <a:pPr indent="0" marL="0">
              <a:buNone/>
            </a:pPr>
            <a:r>
              <a:rPr lang="en-US" sz="1000" i="1" dirty="0">
                <a:solidFill>
                  <a:srgbClr val="8FA3B4"/>
                </a:solidFill>
                <a:latin typeface="Calibri" pitchFamily="34" charset="0"/>
                <a:ea typeface="Calibri" pitchFamily="34" charset="-122"/>
                <a:cs typeface="Calibri" pitchFamily="34" charset="-120"/>
              </a:rPr>
              <a:t>LDA-PIBT — Lifelong Aisle-Managed PIBT. AisleFlow is the implementation; LDA-PIBT is the algorithm it implements.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515600" cy="237744"/>
          </a:xfrm>
          <a:prstGeom prst="rect">
            <a:avLst/>
          </a:prstGeom>
          <a:noFill/>
          <a:ln/>
        </p:spPr>
        <p:txBody>
          <a:bodyPr wrap="square" lIns="0" tIns="0" rIns="0" bIns="0" rtlCol="0" anchor="ctr"/>
          <a:lstStyle/>
          <a:p>
            <a:pPr indent="0" marL="0">
              <a:buNone/>
            </a:pPr>
            <a:r>
              <a:rPr lang="en-US" sz="1150" b="1" spc="220" kern="0" dirty="0">
                <a:solidFill>
                  <a:srgbClr val="F2A104"/>
                </a:solidFill>
                <a:latin typeface="Calibri" pitchFamily="34" charset="0"/>
                <a:ea typeface="Calibri" pitchFamily="34" charset="-122"/>
                <a:cs typeface="Calibri" pitchFamily="34" charset="-120"/>
              </a:rPr>
              <a:t>HOW IT IS BUILT</a:t>
            </a:r>
            <a:endParaRPr lang="en-US" sz="1150" dirty="0"/>
          </a:p>
        </p:txBody>
      </p:sp>
      <p:sp>
        <p:nvSpPr>
          <p:cNvPr id="3" name="Text 1"/>
          <p:cNvSpPr txBox="1"/>
          <p:nvPr/>
        </p:nvSpPr>
        <p:spPr>
          <a:xfrm>
            <a:off x="548640" y="658368"/>
            <a:ext cx="10607040" cy="658368"/>
          </a:xfrm>
          <a:prstGeom prst="rect">
            <a:avLst/>
          </a:prstGeom>
          <a:noFill/>
          <a:ln/>
        </p:spPr>
        <p:txBody>
          <a:bodyPr wrap="square" lIns="0" tIns="0" rIns="0" bIns="0" rtlCol="0" anchor="ctr"/>
          <a:lstStyle/>
          <a:p>
            <a:pPr indent="0" marL="0">
              <a:buNone/>
            </a:pPr>
            <a:r>
              <a:rPr lang="en-US" sz="3400" b="1" dirty="0">
                <a:solidFill>
                  <a:srgbClr val="101C26"/>
                </a:solidFill>
                <a:latin typeface="Cambria" pitchFamily="34" charset="0"/>
                <a:ea typeface="Cambria" pitchFamily="34" charset="-122"/>
                <a:cs typeface="Cambria" pitchFamily="34" charset="-120"/>
              </a:rPr>
              <a:t>Two layers, and a line neither crosses</a:t>
            </a:r>
            <a:endParaRPr lang="en-US" sz="3400" dirty="0"/>
          </a:p>
        </p:txBody>
      </p:sp>
      <p:sp>
        <p:nvSpPr>
          <p:cNvPr id="4" name="Shape 2"/>
          <p:cNvSpPr/>
          <p:nvPr/>
        </p:nvSpPr>
        <p:spPr>
          <a:xfrm>
            <a:off x="548640" y="1645920"/>
            <a:ext cx="11091672" cy="1691640"/>
          </a:xfrm>
          <a:prstGeom prst="roundRect">
            <a:avLst>
              <a:gd name="adj" fmla="val 4865"/>
            </a:avLst>
          </a:prstGeom>
          <a:solidFill>
            <a:srgbClr val="EDF2F6"/>
          </a:solidFill>
          <a:ln w="12700">
            <a:solidFill>
              <a:srgbClr val="EDF2F6"/>
            </a:solidFill>
            <a:prstDash val="solid"/>
          </a:ln>
          <a:effectLst>
            <a:outerShdw sx="100000" sy="100000" kx="0" ky="0" algn="bl" rotWithShape="0" blurRad="127000" dist="25400" dir="5400000">
              <a:srgbClr val="0B1620">
                <a:alpha val="13000"/>
              </a:srgbClr>
            </a:outerShdw>
          </a:effectLst>
        </p:spPr>
      </p:sp>
      <p:sp>
        <p:nvSpPr>
          <p:cNvPr id="5" name="Text 3"/>
          <p:cNvSpPr txBox="1"/>
          <p:nvPr/>
        </p:nvSpPr>
        <p:spPr>
          <a:xfrm>
            <a:off x="868680" y="1828800"/>
            <a:ext cx="5943600" cy="292608"/>
          </a:xfrm>
          <a:prstGeom prst="rect">
            <a:avLst/>
          </a:prstGeom>
          <a:noFill/>
          <a:ln/>
        </p:spPr>
        <p:txBody>
          <a:bodyPr wrap="square" lIns="0" tIns="0" rIns="0" bIns="0" rtlCol="0" anchor="ctr"/>
          <a:lstStyle/>
          <a:p>
            <a:pPr indent="0" marL="0">
              <a:buNone/>
            </a:pPr>
            <a:r>
              <a:rPr lang="en-US" sz="1200" b="1" spc="140" kern="0" dirty="0">
                <a:solidFill>
                  <a:srgbClr val="F2A104"/>
                </a:solidFill>
                <a:latin typeface="Calibri" pitchFamily="34" charset="0"/>
                <a:ea typeface="Calibri" pitchFamily="34" charset="-122"/>
                <a:cs typeface="Calibri" pitchFamily="34" charset="-120"/>
              </a:rPr>
              <a:t>HIGH LEVEL — what each robot wants</a:t>
            </a:r>
            <a:endParaRPr lang="en-US" sz="1200" dirty="0"/>
          </a:p>
        </p:txBody>
      </p:sp>
      <p:sp>
        <p:nvSpPr>
          <p:cNvPr id="6" name="Shape 4"/>
          <p:cNvSpPr/>
          <p:nvPr/>
        </p:nvSpPr>
        <p:spPr>
          <a:xfrm>
            <a:off x="868680" y="2212848"/>
            <a:ext cx="1353312" cy="384048"/>
          </a:xfrm>
          <a:prstGeom prst="roundRect">
            <a:avLst>
              <a:gd name="adj" fmla="val 47619"/>
            </a:avLst>
          </a:prstGeom>
          <a:solidFill>
            <a:srgbClr val="FFFFFF"/>
          </a:solidFill>
          <a:ln w="12700">
            <a:solidFill>
              <a:srgbClr val="D0DAE3"/>
            </a:solidFill>
            <a:prstDash val="solid"/>
          </a:ln>
        </p:spPr>
      </p:sp>
      <p:sp>
        <p:nvSpPr>
          <p:cNvPr id="7" name="Text 5"/>
          <p:cNvSpPr txBox="1"/>
          <p:nvPr/>
        </p:nvSpPr>
        <p:spPr>
          <a:xfrm>
            <a:off x="868680" y="2212848"/>
            <a:ext cx="1353312" cy="384048"/>
          </a:xfrm>
          <a:prstGeom prst="rect">
            <a:avLst/>
          </a:prstGeom>
          <a:noFill/>
          <a:ln/>
        </p:spPr>
        <p:txBody>
          <a:bodyPr wrap="square" lIns="0" tIns="0" rIns="0" bIns="0" rtlCol="0" anchor="ctr"/>
          <a:lstStyle/>
          <a:p>
            <a:pPr algn="ctr" indent="0" marL="0">
              <a:buNone/>
            </a:pPr>
            <a:r>
              <a:rPr lang="en-US" sz="1150" dirty="0">
                <a:solidFill>
                  <a:srgbClr val="2C3E4D"/>
                </a:solidFill>
                <a:latin typeface="Calibri" pitchFamily="34" charset="0"/>
                <a:ea typeface="Calibri" pitchFamily="34" charset="-122"/>
                <a:cs typeface="Calibri" pitchFamily="34" charset="-120"/>
              </a:rPr>
              <a:t>task assignment</a:t>
            </a:r>
            <a:endParaRPr lang="en-US" sz="1150" dirty="0"/>
          </a:p>
        </p:txBody>
      </p:sp>
      <p:sp>
        <p:nvSpPr>
          <p:cNvPr id="8" name="Shape 6"/>
          <p:cNvSpPr/>
          <p:nvPr/>
        </p:nvSpPr>
        <p:spPr>
          <a:xfrm>
            <a:off x="2350008" y="2212848"/>
            <a:ext cx="870509" cy="384048"/>
          </a:xfrm>
          <a:prstGeom prst="roundRect">
            <a:avLst>
              <a:gd name="adj" fmla="val 47619"/>
            </a:avLst>
          </a:prstGeom>
          <a:solidFill>
            <a:srgbClr val="FFFFFF"/>
          </a:solidFill>
          <a:ln w="12700">
            <a:solidFill>
              <a:srgbClr val="D0DAE3"/>
            </a:solidFill>
            <a:prstDash val="solid"/>
          </a:ln>
        </p:spPr>
      </p:sp>
      <p:sp>
        <p:nvSpPr>
          <p:cNvPr id="9" name="Text 7"/>
          <p:cNvSpPr txBox="1"/>
          <p:nvPr/>
        </p:nvSpPr>
        <p:spPr>
          <a:xfrm>
            <a:off x="2350008" y="2212848"/>
            <a:ext cx="870509" cy="384048"/>
          </a:xfrm>
          <a:prstGeom prst="rect">
            <a:avLst/>
          </a:prstGeom>
          <a:noFill/>
          <a:ln/>
        </p:spPr>
        <p:txBody>
          <a:bodyPr wrap="square" lIns="0" tIns="0" rIns="0" bIns="0" rtlCol="0" anchor="ctr"/>
          <a:lstStyle/>
          <a:p>
            <a:pPr algn="ctr" indent="0" marL="0">
              <a:buNone/>
            </a:pPr>
            <a:r>
              <a:rPr lang="en-US" sz="1150" dirty="0">
                <a:solidFill>
                  <a:srgbClr val="2C3E4D"/>
                </a:solidFill>
                <a:latin typeface="Calibri" pitchFamily="34" charset="0"/>
                <a:ea typeface="Calibri" pitchFamily="34" charset="-122"/>
                <a:cs typeface="Calibri" pitchFamily="34" charset="-120"/>
              </a:rPr>
              <a:t>waypoints</a:t>
            </a:r>
            <a:endParaRPr lang="en-US" sz="1150" dirty="0"/>
          </a:p>
        </p:txBody>
      </p:sp>
      <p:sp>
        <p:nvSpPr>
          <p:cNvPr id="10" name="Shape 8"/>
          <p:cNvSpPr/>
          <p:nvPr/>
        </p:nvSpPr>
        <p:spPr>
          <a:xfrm>
            <a:off x="3348533" y="2212848"/>
            <a:ext cx="629107" cy="384048"/>
          </a:xfrm>
          <a:prstGeom prst="roundRect">
            <a:avLst>
              <a:gd name="adj" fmla="val 47619"/>
            </a:avLst>
          </a:prstGeom>
          <a:solidFill>
            <a:srgbClr val="FFFFFF"/>
          </a:solidFill>
          <a:ln w="12700">
            <a:solidFill>
              <a:srgbClr val="D0DAE3"/>
            </a:solidFill>
            <a:prstDash val="solid"/>
          </a:ln>
        </p:spPr>
      </p:sp>
      <p:sp>
        <p:nvSpPr>
          <p:cNvPr id="11" name="Text 9"/>
          <p:cNvSpPr txBox="1"/>
          <p:nvPr/>
        </p:nvSpPr>
        <p:spPr>
          <a:xfrm>
            <a:off x="3348533" y="2212848"/>
            <a:ext cx="629107" cy="384048"/>
          </a:xfrm>
          <a:prstGeom prst="rect">
            <a:avLst/>
          </a:prstGeom>
          <a:noFill/>
          <a:ln/>
        </p:spPr>
        <p:txBody>
          <a:bodyPr wrap="square" lIns="0" tIns="0" rIns="0" bIns="0" rtlCol="0" anchor="ctr"/>
          <a:lstStyle/>
          <a:p>
            <a:pPr algn="ctr" indent="0" marL="0">
              <a:buNone/>
            </a:pPr>
            <a:r>
              <a:rPr lang="en-US" sz="1150" dirty="0">
                <a:solidFill>
                  <a:srgbClr val="2C3E4D"/>
                </a:solidFill>
                <a:latin typeface="Calibri" pitchFamily="34" charset="0"/>
                <a:ea typeface="Calibri" pitchFamily="34" charset="-122"/>
                <a:cs typeface="Calibri" pitchFamily="34" charset="-120"/>
              </a:rPr>
              <a:t>routes</a:t>
            </a:r>
            <a:endParaRPr lang="en-US" sz="1150" dirty="0"/>
          </a:p>
        </p:txBody>
      </p:sp>
      <p:sp>
        <p:nvSpPr>
          <p:cNvPr id="12" name="Shape 10"/>
          <p:cNvSpPr/>
          <p:nvPr/>
        </p:nvSpPr>
        <p:spPr>
          <a:xfrm>
            <a:off x="4105656" y="2212848"/>
            <a:ext cx="1594714" cy="384048"/>
          </a:xfrm>
          <a:prstGeom prst="roundRect">
            <a:avLst>
              <a:gd name="adj" fmla="val 47619"/>
            </a:avLst>
          </a:prstGeom>
          <a:solidFill>
            <a:srgbClr val="FFFFFF"/>
          </a:solidFill>
          <a:ln w="12700">
            <a:solidFill>
              <a:srgbClr val="D0DAE3"/>
            </a:solidFill>
            <a:prstDash val="solid"/>
          </a:ln>
        </p:spPr>
      </p:sp>
      <p:sp>
        <p:nvSpPr>
          <p:cNvPr id="13" name="Text 11"/>
          <p:cNvSpPr txBox="1"/>
          <p:nvPr/>
        </p:nvSpPr>
        <p:spPr>
          <a:xfrm>
            <a:off x="4105656" y="2212848"/>
            <a:ext cx="1594714" cy="384048"/>
          </a:xfrm>
          <a:prstGeom prst="rect">
            <a:avLst/>
          </a:prstGeom>
          <a:noFill/>
          <a:ln/>
        </p:spPr>
        <p:txBody>
          <a:bodyPr wrap="square" lIns="0" tIns="0" rIns="0" bIns="0" rtlCol="0" anchor="ctr"/>
          <a:lstStyle/>
          <a:p>
            <a:pPr algn="ctr" indent="0" marL="0">
              <a:buNone/>
            </a:pPr>
            <a:r>
              <a:rPr lang="en-US" sz="1150" dirty="0">
                <a:solidFill>
                  <a:srgbClr val="2C3E4D"/>
                </a:solidFill>
                <a:latin typeface="Calibri" pitchFamily="34" charset="0"/>
                <a:ea typeface="Calibri" pitchFamily="34" charset="-122"/>
                <a:cs typeface="Calibri" pitchFamily="34" charset="-120"/>
              </a:rPr>
              <a:t>directional demand</a:t>
            </a:r>
            <a:endParaRPr lang="en-US" sz="1150" dirty="0"/>
          </a:p>
        </p:txBody>
      </p:sp>
      <p:sp>
        <p:nvSpPr>
          <p:cNvPr id="14" name="Shape 12"/>
          <p:cNvSpPr/>
          <p:nvPr/>
        </p:nvSpPr>
        <p:spPr>
          <a:xfrm>
            <a:off x="5828386" y="2212848"/>
            <a:ext cx="1353312" cy="384048"/>
          </a:xfrm>
          <a:prstGeom prst="roundRect">
            <a:avLst>
              <a:gd name="adj" fmla="val 47619"/>
            </a:avLst>
          </a:prstGeom>
          <a:solidFill>
            <a:srgbClr val="FFFFFF"/>
          </a:solidFill>
          <a:ln w="12700">
            <a:solidFill>
              <a:srgbClr val="D0DAE3"/>
            </a:solidFill>
            <a:prstDash val="solid"/>
          </a:ln>
        </p:spPr>
      </p:sp>
      <p:sp>
        <p:nvSpPr>
          <p:cNvPr id="15" name="Text 13"/>
          <p:cNvSpPr txBox="1"/>
          <p:nvPr/>
        </p:nvSpPr>
        <p:spPr>
          <a:xfrm>
            <a:off x="5828386" y="2212848"/>
            <a:ext cx="1353312" cy="384048"/>
          </a:xfrm>
          <a:prstGeom prst="rect">
            <a:avLst/>
          </a:prstGeom>
          <a:noFill/>
          <a:ln/>
        </p:spPr>
        <p:txBody>
          <a:bodyPr wrap="square" lIns="0" tIns="0" rIns="0" bIns="0" rtlCol="0" anchor="ctr"/>
          <a:lstStyle/>
          <a:p>
            <a:pPr algn="ctr" indent="0" marL="0">
              <a:buNone/>
            </a:pPr>
            <a:r>
              <a:rPr lang="en-US" sz="1150" dirty="0">
                <a:solidFill>
                  <a:srgbClr val="2C3E4D"/>
                </a:solidFill>
                <a:latin typeface="Calibri" pitchFamily="34" charset="0"/>
                <a:ea typeface="Calibri" pitchFamily="34" charset="-122"/>
                <a:cs typeface="Calibri" pitchFamily="34" charset="-120"/>
              </a:rPr>
              <a:t>aisle direction</a:t>
            </a:r>
            <a:endParaRPr lang="en-US" sz="1150" dirty="0"/>
          </a:p>
        </p:txBody>
      </p:sp>
      <p:sp>
        <p:nvSpPr>
          <p:cNvPr id="16" name="Shape 14"/>
          <p:cNvSpPr/>
          <p:nvPr/>
        </p:nvSpPr>
        <p:spPr>
          <a:xfrm>
            <a:off x="868680" y="2715768"/>
            <a:ext cx="1594714" cy="384048"/>
          </a:xfrm>
          <a:prstGeom prst="roundRect">
            <a:avLst>
              <a:gd name="adj" fmla="val 47619"/>
            </a:avLst>
          </a:prstGeom>
          <a:solidFill>
            <a:srgbClr val="FFFFFF"/>
          </a:solidFill>
          <a:ln w="12700">
            <a:solidFill>
              <a:srgbClr val="D0DAE3"/>
            </a:solidFill>
            <a:prstDash val="solid"/>
          </a:ln>
        </p:spPr>
      </p:sp>
      <p:sp>
        <p:nvSpPr>
          <p:cNvPr id="17" name="Text 15"/>
          <p:cNvSpPr txBox="1"/>
          <p:nvPr/>
        </p:nvSpPr>
        <p:spPr>
          <a:xfrm>
            <a:off x="868680" y="2715768"/>
            <a:ext cx="1594714" cy="384048"/>
          </a:xfrm>
          <a:prstGeom prst="rect">
            <a:avLst/>
          </a:prstGeom>
          <a:noFill/>
          <a:ln/>
        </p:spPr>
        <p:txBody>
          <a:bodyPr wrap="square" lIns="0" tIns="0" rIns="0" bIns="0" rtlCol="0" anchor="ctr"/>
          <a:lstStyle/>
          <a:p>
            <a:pPr algn="ctr" indent="0" marL="0">
              <a:buNone/>
            </a:pPr>
            <a:r>
              <a:rPr lang="en-US" sz="1150" dirty="0">
                <a:solidFill>
                  <a:srgbClr val="2C3E4D"/>
                </a:solidFill>
                <a:latin typeface="Calibri" pitchFamily="34" charset="0"/>
                <a:ea typeface="Calibri" pitchFamily="34" charset="-122"/>
                <a:cs typeface="Calibri" pitchFamily="34" charset="-120"/>
              </a:rPr>
              <a:t>hysteresis + drain</a:t>
            </a:r>
            <a:endParaRPr lang="en-US" sz="1150" dirty="0"/>
          </a:p>
        </p:txBody>
      </p:sp>
      <p:sp>
        <p:nvSpPr>
          <p:cNvPr id="18" name="Shape 16"/>
          <p:cNvSpPr/>
          <p:nvPr/>
        </p:nvSpPr>
        <p:spPr>
          <a:xfrm>
            <a:off x="2591410" y="2715768"/>
            <a:ext cx="1111910" cy="384048"/>
          </a:xfrm>
          <a:prstGeom prst="roundRect">
            <a:avLst>
              <a:gd name="adj" fmla="val 47619"/>
            </a:avLst>
          </a:prstGeom>
          <a:solidFill>
            <a:srgbClr val="FFFFFF"/>
          </a:solidFill>
          <a:ln w="12700">
            <a:solidFill>
              <a:srgbClr val="D0DAE3"/>
            </a:solidFill>
            <a:prstDash val="solid"/>
          </a:ln>
        </p:spPr>
      </p:sp>
      <p:sp>
        <p:nvSpPr>
          <p:cNvPr id="19" name="Text 17"/>
          <p:cNvSpPr txBox="1"/>
          <p:nvPr/>
        </p:nvSpPr>
        <p:spPr>
          <a:xfrm>
            <a:off x="2591410" y="2715768"/>
            <a:ext cx="1111910" cy="384048"/>
          </a:xfrm>
          <a:prstGeom prst="rect">
            <a:avLst/>
          </a:prstGeom>
          <a:noFill/>
          <a:ln/>
        </p:spPr>
        <p:txBody>
          <a:bodyPr wrap="square" lIns="0" tIns="0" rIns="0" bIns="0" rtlCol="0" anchor="ctr"/>
          <a:lstStyle/>
          <a:p>
            <a:pPr algn="ctr" indent="0" marL="0">
              <a:buNone/>
            </a:pPr>
            <a:r>
              <a:rPr lang="en-US" sz="1150" dirty="0">
                <a:solidFill>
                  <a:srgbClr val="2C3E4D"/>
                </a:solidFill>
                <a:latin typeface="Calibri" pitchFamily="34" charset="0"/>
                <a:ea typeface="Calibri" pitchFamily="34" charset="-122"/>
                <a:cs typeface="Calibri" pitchFamily="34" charset="-120"/>
              </a:rPr>
              <a:t>reservations</a:t>
            </a:r>
            <a:endParaRPr lang="en-US" sz="1150" dirty="0"/>
          </a:p>
        </p:txBody>
      </p:sp>
      <p:sp>
        <p:nvSpPr>
          <p:cNvPr id="20" name="Shape 18"/>
          <p:cNvSpPr/>
          <p:nvPr/>
        </p:nvSpPr>
        <p:spPr>
          <a:xfrm>
            <a:off x="3831336" y="2715768"/>
            <a:ext cx="950976" cy="384048"/>
          </a:xfrm>
          <a:prstGeom prst="roundRect">
            <a:avLst>
              <a:gd name="adj" fmla="val 47619"/>
            </a:avLst>
          </a:prstGeom>
          <a:solidFill>
            <a:srgbClr val="FFFFFF"/>
          </a:solidFill>
          <a:ln w="12700">
            <a:solidFill>
              <a:srgbClr val="D0DAE3"/>
            </a:solidFill>
            <a:prstDash val="solid"/>
          </a:ln>
        </p:spPr>
      </p:sp>
      <p:sp>
        <p:nvSpPr>
          <p:cNvPr id="21" name="Text 19"/>
          <p:cNvSpPr txBox="1"/>
          <p:nvPr/>
        </p:nvSpPr>
        <p:spPr>
          <a:xfrm>
            <a:off x="3831336" y="2715768"/>
            <a:ext cx="950976" cy="384048"/>
          </a:xfrm>
          <a:prstGeom prst="rect">
            <a:avLst/>
          </a:prstGeom>
          <a:noFill/>
          <a:ln/>
        </p:spPr>
        <p:txBody>
          <a:bodyPr wrap="square" lIns="0" tIns="0" rIns="0" bIns="0" rtlCol="0" anchor="ctr"/>
          <a:lstStyle/>
          <a:p>
            <a:pPr algn="ctr" indent="0" marL="0">
              <a:buNone/>
            </a:pPr>
            <a:r>
              <a:rPr lang="en-US" sz="1150" dirty="0">
                <a:solidFill>
                  <a:srgbClr val="2C3E4D"/>
                </a:solidFill>
                <a:latin typeface="Calibri" pitchFamily="34" charset="0"/>
                <a:ea typeface="Calibri" pitchFamily="34" charset="-122"/>
                <a:cs typeface="Calibri" pitchFamily="34" charset="-120"/>
              </a:rPr>
              <a:t>priorities</a:t>
            </a:r>
            <a:endParaRPr lang="en-US" sz="1150" dirty="0"/>
          </a:p>
        </p:txBody>
      </p:sp>
      <p:sp>
        <p:nvSpPr>
          <p:cNvPr id="22" name="Shape 20"/>
          <p:cNvSpPr/>
          <p:nvPr/>
        </p:nvSpPr>
        <p:spPr>
          <a:xfrm>
            <a:off x="4910328" y="2715768"/>
            <a:ext cx="1514246" cy="384048"/>
          </a:xfrm>
          <a:prstGeom prst="roundRect">
            <a:avLst>
              <a:gd name="adj" fmla="val 47619"/>
            </a:avLst>
          </a:prstGeom>
          <a:solidFill>
            <a:srgbClr val="FFFFFF"/>
          </a:solidFill>
          <a:ln w="12700">
            <a:solidFill>
              <a:srgbClr val="D0DAE3"/>
            </a:solidFill>
            <a:prstDash val="solid"/>
          </a:ln>
        </p:spPr>
      </p:sp>
      <p:sp>
        <p:nvSpPr>
          <p:cNvPr id="23" name="Text 21"/>
          <p:cNvSpPr txBox="1"/>
          <p:nvPr/>
        </p:nvSpPr>
        <p:spPr>
          <a:xfrm>
            <a:off x="4910328" y="2715768"/>
            <a:ext cx="1514246" cy="384048"/>
          </a:xfrm>
          <a:prstGeom prst="rect">
            <a:avLst/>
          </a:prstGeom>
          <a:noFill/>
          <a:ln/>
        </p:spPr>
        <p:txBody>
          <a:bodyPr wrap="square" lIns="0" tIns="0" rIns="0" bIns="0" rtlCol="0" anchor="ctr"/>
          <a:lstStyle/>
          <a:p>
            <a:pPr algn="ctr" indent="0" marL="0">
              <a:buNone/>
            </a:pPr>
            <a:r>
              <a:rPr lang="en-US" sz="1150" dirty="0">
                <a:solidFill>
                  <a:srgbClr val="2C3E4D"/>
                </a:solidFill>
                <a:latin typeface="Calibri" pitchFamily="34" charset="0"/>
                <a:ea typeface="Calibri" pitchFamily="34" charset="-122"/>
                <a:cs typeface="Calibri" pitchFamily="34" charset="-120"/>
              </a:rPr>
              <a:t>deadlock recovery</a:t>
            </a:r>
            <a:endParaRPr lang="en-US" sz="1150" dirty="0"/>
          </a:p>
        </p:txBody>
      </p:sp>
      <p:sp>
        <p:nvSpPr>
          <p:cNvPr id="24" name="Shape 22"/>
          <p:cNvSpPr/>
          <p:nvPr/>
        </p:nvSpPr>
        <p:spPr>
          <a:xfrm>
            <a:off x="3840480" y="3401568"/>
            <a:ext cx="0" cy="457200"/>
          </a:xfrm>
          <a:prstGeom prst="line">
            <a:avLst/>
          </a:prstGeom>
          <a:noFill/>
          <a:ln w="31750">
            <a:solidFill>
              <a:srgbClr val="F2A104"/>
            </a:solidFill>
            <a:prstDash val="solid"/>
            <a:tailEnd type="triangle"/>
          </a:ln>
        </p:spPr>
      </p:sp>
      <p:sp>
        <p:nvSpPr>
          <p:cNvPr id="25" name="Text 23"/>
          <p:cNvSpPr txBox="1"/>
          <p:nvPr/>
        </p:nvSpPr>
        <p:spPr>
          <a:xfrm>
            <a:off x="4069080" y="3493008"/>
            <a:ext cx="5943600" cy="274320"/>
          </a:xfrm>
          <a:prstGeom prst="rect">
            <a:avLst/>
          </a:prstGeom>
          <a:noFill/>
          <a:ln/>
        </p:spPr>
        <p:txBody>
          <a:bodyPr wrap="square" lIns="0" tIns="0" rIns="0" bIns="0" rtlCol="0" anchor="ctr"/>
          <a:lstStyle/>
          <a:p>
            <a:pPr indent="0" marL="0">
              <a:buNone/>
            </a:pPr>
            <a:r>
              <a:rPr lang="en-US" sz="1200" i="1" dirty="0">
                <a:solidFill>
                  <a:srgbClr val="6C7C8A"/>
                </a:solidFill>
                <a:latin typeface="Calibri" pitchFamily="34" charset="0"/>
                <a:ea typeface="Calibri" pitchFamily="34" charset="-122"/>
                <a:cs typeface="Calibri" pitchFamily="34" charset="-120"/>
              </a:rPr>
              <a:t>ranks candidates and prices the ones it dislikes — never removes them</a:t>
            </a:r>
            <a:endParaRPr lang="en-US" sz="1200" dirty="0"/>
          </a:p>
        </p:txBody>
      </p:sp>
      <p:sp>
        <p:nvSpPr>
          <p:cNvPr id="26" name="Shape 24"/>
          <p:cNvSpPr/>
          <p:nvPr/>
        </p:nvSpPr>
        <p:spPr>
          <a:xfrm>
            <a:off x="548640" y="3931920"/>
            <a:ext cx="11091672" cy="1234440"/>
          </a:xfrm>
          <a:prstGeom prst="roundRect">
            <a:avLst>
              <a:gd name="adj" fmla="val 6667"/>
            </a:avLst>
          </a:prstGeom>
          <a:solidFill>
            <a:srgbClr val="1D3346"/>
          </a:solidFill>
          <a:ln w="12700">
            <a:solidFill>
              <a:srgbClr val="1D3346"/>
            </a:solidFill>
            <a:prstDash val="solid"/>
          </a:ln>
          <a:effectLst>
            <a:outerShdw sx="100000" sy="100000" kx="0" ky="0" algn="bl" rotWithShape="0" blurRad="127000" dist="25400" dir="5400000">
              <a:srgbClr val="0B1620">
                <a:alpha val="13000"/>
              </a:srgbClr>
            </a:outerShdw>
          </a:effectLst>
        </p:spPr>
      </p:sp>
      <p:sp>
        <p:nvSpPr>
          <p:cNvPr id="27" name="Text 25"/>
          <p:cNvSpPr txBox="1"/>
          <p:nvPr/>
        </p:nvSpPr>
        <p:spPr>
          <a:xfrm>
            <a:off x="868680" y="4114800"/>
            <a:ext cx="6400800" cy="292608"/>
          </a:xfrm>
          <a:prstGeom prst="rect">
            <a:avLst/>
          </a:prstGeom>
          <a:noFill/>
          <a:ln/>
        </p:spPr>
        <p:txBody>
          <a:bodyPr wrap="square" lIns="0" tIns="0" rIns="0" bIns="0" rtlCol="0" anchor="ctr"/>
          <a:lstStyle/>
          <a:p>
            <a:pPr indent="0" marL="0">
              <a:buNone/>
            </a:pPr>
            <a:r>
              <a:rPr lang="en-US" sz="1200" b="1" spc="140" kern="0" dirty="0">
                <a:solidFill>
                  <a:srgbClr val="F2A104"/>
                </a:solidFill>
                <a:latin typeface="Calibri" pitchFamily="34" charset="0"/>
                <a:ea typeface="Calibri" pitchFamily="34" charset="-122"/>
                <a:cs typeface="Calibri" pitchFamily="34" charset="-120"/>
              </a:rPr>
              <a:t>LOW LEVEL — PIBT, one synchronized timestep</a:t>
            </a:r>
            <a:endParaRPr lang="en-US" sz="1200" dirty="0"/>
          </a:p>
        </p:txBody>
      </p:sp>
      <p:sp>
        <p:nvSpPr>
          <p:cNvPr id="28" name="Shape 26"/>
          <p:cNvSpPr/>
          <p:nvPr/>
        </p:nvSpPr>
        <p:spPr>
          <a:xfrm>
            <a:off x="868680" y="4498848"/>
            <a:ext cx="950976" cy="384048"/>
          </a:xfrm>
          <a:prstGeom prst="roundRect">
            <a:avLst>
              <a:gd name="adj" fmla="val 47619"/>
            </a:avLst>
          </a:prstGeom>
          <a:solidFill>
            <a:srgbClr val="27455C"/>
          </a:solidFill>
          <a:ln/>
        </p:spPr>
      </p:sp>
      <p:sp>
        <p:nvSpPr>
          <p:cNvPr id="29" name="Text 27"/>
          <p:cNvSpPr txBox="1"/>
          <p:nvPr/>
        </p:nvSpPr>
        <p:spPr>
          <a:xfrm>
            <a:off x="868680" y="4498848"/>
            <a:ext cx="950976" cy="384048"/>
          </a:xfrm>
          <a:prstGeom prst="rect">
            <a:avLst/>
          </a:prstGeom>
          <a:noFill/>
          <a:ln/>
        </p:spPr>
        <p:txBody>
          <a:bodyPr wrap="square" lIns="0" tIns="0" rIns="0" bIns="0" rtlCol="0" anchor="ctr"/>
          <a:lstStyle/>
          <a:p>
            <a:pPr algn="ctr" indent="0" marL="0">
              <a:buNone/>
            </a:pPr>
            <a:r>
              <a:rPr lang="en-US" sz="1150" dirty="0">
                <a:solidFill>
                  <a:srgbClr val="DCE7EF"/>
                </a:solidFill>
                <a:latin typeface="Calibri" pitchFamily="34" charset="0"/>
                <a:ea typeface="Calibri" pitchFamily="34" charset="-122"/>
                <a:cs typeface="Calibri" pitchFamily="34" charset="-120"/>
              </a:rPr>
              <a:t>candidates</a:t>
            </a:r>
            <a:endParaRPr lang="en-US" sz="1150" dirty="0"/>
          </a:p>
        </p:txBody>
      </p:sp>
      <p:sp>
        <p:nvSpPr>
          <p:cNvPr id="30" name="Shape 28"/>
          <p:cNvSpPr/>
          <p:nvPr/>
        </p:nvSpPr>
        <p:spPr>
          <a:xfrm>
            <a:off x="1947672" y="4498848"/>
            <a:ext cx="1272845" cy="384048"/>
          </a:xfrm>
          <a:prstGeom prst="roundRect">
            <a:avLst>
              <a:gd name="adj" fmla="val 47619"/>
            </a:avLst>
          </a:prstGeom>
          <a:solidFill>
            <a:srgbClr val="27455C"/>
          </a:solidFill>
          <a:ln/>
        </p:spPr>
      </p:sp>
      <p:sp>
        <p:nvSpPr>
          <p:cNvPr id="31" name="Text 29"/>
          <p:cNvSpPr txBox="1"/>
          <p:nvPr/>
        </p:nvSpPr>
        <p:spPr>
          <a:xfrm>
            <a:off x="1947672" y="4498848"/>
            <a:ext cx="1272845" cy="384048"/>
          </a:xfrm>
          <a:prstGeom prst="rect">
            <a:avLst/>
          </a:prstGeom>
          <a:noFill/>
          <a:ln/>
        </p:spPr>
        <p:txBody>
          <a:bodyPr wrap="square" lIns="0" tIns="0" rIns="0" bIns="0" rtlCol="0" anchor="ctr"/>
          <a:lstStyle/>
          <a:p>
            <a:pPr algn="ctr" indent="0" marL="0">
              <a:buNone/>
            </a:pPr>
            <a:r>
              <a:rPr lang="en-US" sz="1150" dirty="0">
                <a:solidFill>
                  <a:srgbClr val="DCE7EF"/>
                </a:solidFill>
                <a:latin typeface="Calibri" pitchFamily="34" charset="0"/>
                <a:ea typeface="Calibri" pitchFamily="34" charset="-122"/>
                <a:cs typeface="Calibri" pitchFamily="34" charset="-120"/>
              </a:rPr>
              <a:t>hard rejection</a:t>
            </a:r>
            <a:endParaRPr lang="en-US" sz="1150" dirty="0"/>
          </a:p>
        </p:txBody>
      </p:sp>
      <p:sp>
        <p:nvSpPr>
          <p:cNvPr id="32" name="Shape 30"/>
          <p:cNvSpPr/>
          <p:nvPr/>
        </p:nvSpPr>
        <p:spPr>
          <a:xfrm>
            <a:off x="3348533" y="4498848"/>
            <a:ext cx="1111910" cy="384048"/>
          </a:xfrm>
          <a:prstGeom prst="roundRect">
            <a:avLst>
              <a:gd name="adj" fmla="val 47619"/>
            </a:avLst>
          </a:prstGeom>
          <a:solidFill>
            <a:srgbClr val="27455C"/>
          </a:solidFill>
          <a:ln/>
        </p:spPr>
      </p:sp>
      <p:sp>
        <p:nvSpPr>
          <p:cNvPr id="33" name="Text 31"/>
          <p:cNvSpPr txBox="1"/>
          <p:nvPr/>
        </p:nvSpPr>
        <p:spPr>
          <a:xfrm>
            <a:off x="3348533" y="4498848"/>
            <a:ext cx="1111910" cy="384048"/>
          </a:xfrm>
          <a:prstGeom prst="rect">
            <a:avLst/>
          </a:prstGeom>
          <a:noFill/>
          <a:ln/>
        </p:spPr>
        <p:txBody>
          <a:bodyPr wrap="square" lIns="0" tIns="0" rIns="0" bIns="0" rtlCol="0" anchor="ctr"/>
          <a:lstStyle/>
          <a:p>
            <a:pPr algn="ctr" indent="0" marL="0">
              <a:buNone/>
            </a:pPr>
            <a:r>
              <a:rPr lang="en-US" sz="1150" dirty="0">
                <a:solidFill>
                  <a:srgbClr val="DCE7EF"/>
                </a:solidFill>
                <a:latin typeface="Calibri" pitchFamily="34" charset="0"/>
                <a:ea typeface="Calibri" pitchFamily="34" charset="-122"/>
                <a:cs typeface="Calibri" pitchFamily="34" charset="-120"/>
              </a:rPr>
              <a:t>score-sorted</a:t>
            </a:r>
            <a:endParaRPr lang="en-US" sz="1150" dirty="0"/>
          </a:p>
        </p:txBody>
      </p:sp>
      <p:sp>
        <p:nvSpPr>
          <p:cNvPr id="34" name="Shape 32"/>
          <p:cNvSpPr/>
          <p:nvPr/>
        </p:nvSpPr>
        <p:spPr>
          <a:xfrm>
            <a:off x="4588459" y="4498848"/>
            <a:ext cx="1755648" cy="384048"/>
          </a:xfrm>
          <a:prstGeom prst="roundRect">
            <a:avLst>
              <a:gd name="adj" fmla="val 47619"/>
            </a:avLst>
          </a:prstGeom>
          <a:solidFill>
            <a:srgbClr val="27455C"/>
          </a:solidFill>
          <a:ln/>
        </p:spPr>
      </p:sp>
      <p:sp>
        <p:nvSpPr>
          <p:cNvPr id="35" name="Text 33"/>
          <p:cNvSpPr txBox="1"/>
          <p:nvPr/>
        </p:nvSpPr>
        <p:spPr>
          <a:xfrm>
            <a:off x="4588459" y="4498848"/>
            <a:ext cx="1755648" cy="384048"/>
          </a:xfrm>
          <a:prstGeom prst="rect">
            <a:avLst/>
          </a:prstGeom>
          <a:noFill/>
          <a:ln/>
        </p:spPr>
        <p:txBody>
          <a:bodyPr wrap="square" lIns="0" tIns="0" rIns="0" bIns="0" rtlCol="0" anchor="ctr"/>
          <a:lstStyle/>
          <a:p>
            <a:pPr algn="ctr" indent="0" marL="0">
              <a:buNone/>
            </a:pPr>
            <a:r>
              <a:rPr lang="en-US" sz="1150" dirty="0">
                <a:solidFill>
                  <a:srgbClr val="DCE7EF"/>
                </a:solidFill>
                <a:latin typeface="Calibri" pitchFamily="34" charset="0"/>
                <a:ea typeface="Calibri" pitchFamily="34" charset="-122"/>
                <a:cs typeface="Calibri" pitchFamily="34" charset="-120"/>
              </a:rPr>
              <a:t>priority inheritance</a:t>
            </a:r>
            <a:endParaRPr lang="en-US" sz="1150" dirty="0"/>
          </a:p>
        </p:txBody>
      </p:sp>
      <p:sp>
        <p:nvSpPr>
          <p:cNvPr id="36" name="Shape 34"/>
          <p:cNvSpPr/>
          <p:nvPr/>
        </p:nvSpPr>
        <p:spPr>
          <a:xfrm>
            <a:off x="6472123" y="4498848"/>
            <a:ext cx="1111910" cy="384048"/>
          </a:xfrm>
          <a:prstGeom prst="roundRect">
            <a:avLst>
              <a:gd name="adj" fmla="val 47619"/>
            </a:avLst>
          </a:prstGeom>
          <a:solidFill>
            <a:srgbClr val="27455C"/>
          </a:solidFill>
          <a:ln/>
        </p:spPr>
      </p:sp>
      <p:sp>
        <p:nvSpPr>
          <p:cNvPr id="37" name="Text 35"/>
          <p:cNvSpPr txBox="1"/>
          <p:nvPr/>
        </p:nvSpPr>
        <p:spPr>
          <a:xfrm>
            <a:off x="6472123" y="4498848"/>
            <a:ext cx="1111910" cy="384048"/>
          </a:xfrm>
          <a:prstGeom prst="rect">
            <a:avLst/>
          </a:prstGeom>
          <a:noFill/>
          <a:ln/>
        </p:spPr>
        <p:txBody>
          <a:bodyPr wrap="square" lIns="0" tIns="0" rIns="0" bIns="0" rtlCol="0" anchor="ctr"/>
          <a:lstStyle/>
          <a:p>
            <a:pPr algn="ctr" indent="0" marL="0">
              <a:buNone/>
            </a:pPr>
            <a:r>
              <a:rPr lang="en-US" sz="1150" dirty="0">
                <a:solidFill>
                  <a:srgbClr val="DCE7EF"/>
                </a:solidFill>
                <a:latin typeface="Calibri" pitchFamily="34" charset="0"/>
                <a:ea typeface="Calibri" pitchFamily="34" charset="-122"/>
                <a:cs typeface="Calibri" pitchFamily="34" charset="-120"/>
              </a:rPr>
              <a:t>backtracking</a:t>
            </a:r>
            <a:endParaRPr lang="en-US" sz="1150" dirty="0"/>
          </a:p>
        </p:txBody>
      </p:sp>
      <p:sp>
        <p:nvSpPr>
          <p:cNvPr id="38" name="Shape 36"/>
          <p:cNvSpPr/>
          <p:nvPr/>
        </p:nvSpPr>
        <p:spPr>
          <a:xfrm>
            <a:off x="7712050" y="4498848"/>
            <a:ext cx="1675181" cy="384048"/>
          </a:xfrm>
          <a:prstGeom prst="roundRect">
            <a:avLst>
              <a:gd name="adj" fmla="val 47619"/>
            </a:avLst>
          </a:prstGeom>
          <a:solidFill>
            <a:srgbClr val="27455C"/>
          </a:solidFill>
          <a:ln/>
        </p:spPr>
      </p:sp>
      <p:sp>
        <p:nvSpPr>
          <p:cNvPr id="39" name="Text 37"/>
          <p:cNvSpPr txBox="1"/>
          <p:nvPr/>
        </p:nvSpPr>
        <p:spPr>
          <a:xfrm>
            <a:off x="7712050" y="4498848"/>
            <a:ext cx="1675181" cy="384048"/>
          </a:xfrm>
          <a:prstGeom prst="rect">
            <a:avLst/>
          </a:prstGeom>
          <a:noFill/>
          <a:ln/>
        </p:spPr>
        <p:txBody>
          <a:bodyPr wrap="square" lIns="0" tIns="0" rIns="0" bIns="0" rtlCol="0" anchor="ctr"/>
          <a:lstStyle/>
          <a:p>
            <a:pPr algn="ctr" indent="0" marL="0">
              <a:buNone/>
            </a:pPr>
            <a:r>
              <a:rPr lang="en-US" sz="1150" dirty="0">
                <a:solidFill>
                  <a:srgbClr val="DCE7EF"/>
                </a:solidFill>
                <a:latin typeface="Calibri" pitchFamily="34" charset="0"/>
                <a:ea typeface="Calibri" pitchFamily="34" charset="-122"/>
                <a:cs typeface="Calibri" pitchFamily="34" charset="-120"/>
              </a:rPr>
              <a:t>validate every step</a:t>
            </a:r>
            <a:endParaRPr lang="en-US" sz="1150" dirty="0"/>
          </a:p>
        </p:txBody>
      </p:sp>
      <p:sp>
        <p:nvSpPr>
          <p:cNvPr id="40" name="Shape 38"/>
          <p:cNvSpPr/>
          <p:nvPr/>
        </p:nvSpPr>
        <p:spPr>
          <a:xfrm>
            <a:off x="548640" y="5440680"/>
            <a:ext cx="11091672" cy="713232"/>
          </a:xfrm>
          <a:prstGeom prst="roundRect">
            <a:avLst>
              <a:gd name="adj" fmla="val 11538"/>
            </a:avLst>
          </a:prstGeom>
          <a:solidFill>
            <a:srgbClr val="FFFFFF"/>
          </a:solidFill>
          <a:ln w="12700">
            <a:solidFill>
              <a:srgbClr val="F2A104"/>
            </a:solidFill>
            <a:prstDash val="solid"/>
          </a:ln>
        </p:spPr>
      </p:sp>
      <p:sp>
        <p:nvSpPr>
          <p:cNvPr id="41" name="Text 39"/>
          <p:cNvSpPr txBox="1"/>
          <p:nvPr/>
        </p:nvSpPr>
        <p:spPr>
          <a:xfrm>
            <a:off x="868680" y="5605272"/>
            <a:ext cx="10424160" cy="457200"/>
          </a:xfrm>
          <a:prstGeom prst="rect">
            <a:avLst/>
          </a:prstGeom>
          <a:noFill/>
          <a:ln/>
        </p:spPr>
        <p:txBody>
          <a:bodyPr wrap="square" lIns="0" tIns="0" rIns="0" bIns="0" rtlCol="0" anchor="t"/>
          <a:lstStyle/>
          <a:p>
            <a:pPr algn="l" indent="0" marL="0">
              <a:lnSpc>
                <a:spcPts val="1716"/>
              </a:lnSpc>
              <a:buNone/>
            </a:pPr>
            <a:r>
              <a:rPr lang="en-US" sz="1300" dirty="0">
                <a:solidFill>
                  <a:srgbClr val="101C26"/>
                </a:solidFill>
                <a:latin typeface="Calibri" pitchFamily="34" charset="0"/>
                <a:ea typeface="Calibri" pitchFamily="34" charset="-122"/>
                <a:cs typeface="Calibri" pitchFamily="34" charset="-120"/>
              </a:rPr>
              <a:t>The invariant: no high-level formula can produce a collision, and none can remove a legal move either. Zero vertex and zero swap conflicts across every map, density, seed and variant tested — checked every timestep by validate_plan.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515600" cy="237744"/>
          </a:xfrm>
          <a:prstGeom prst="rect">
            <a:avLst/>
          </a:prstGeom>
          <a:noFill/>
          <a:ln/>
        </p:spPr>
        <p:txBody>
          <a:bodyPr wrap="square" lIns="0" tIns="0" rIns="0" bIns="0" rtlCol="0" anchor="ctr"/>
          <a:lstStyle/>
          <a:p>
            <a:pPr indent="0" marL="0">
              <a:buNone/>
            </a:pPr>
            <a:r>
              <a:rPr lang="en-US" sz="1150" b="1" spc="220" kern="0" dirty="0">
                <a:solidFill>
                  <a:srgbClr val="F2A104"/>
                </a:solidFill>
                <a:latin typeface="Calibri" pitchFamily="34" charset="0"/>
                <a:ea typeface="Calibri" pitchFamily="34" charset="-122"/>
                <a:cs typeface="Calibri" pitchFamily="34" charset="-120"/>
              </a:rPr>
              <a:t>HOW, PART 1</a:t>
            </a:r>
            <a:endParaRPr lang="en-US" sz="1150" dirty="0"/>
          </a:p>
        </p:txBody>
      </p:sp>
      <p:sp>
        <p:nvSpPr>
          <p:cNvPr id="3" name="Text 1"/>
          <p:cNvSpPr txBox="1"/>
          <p:nvPr/>
        </p:nvSpPr>
        <p:spPr>
          <a:xfrm>
            <a:off x="548640" y="658368"/>
            <a:ext cx="10607040" cy="658368"/>
          </a:xfrm>
          <a:prstGeom prst="rect">
            <a:avLst/>
          </a:prstGeom>
          <a:noFill/>
          <a:ln/>
        </p:spPr>
        <p:txBody>
          <a:bodyPr wrap="square" lIns="0" tIns="0" rIns="0" bIns="0" rtlCol="0" anchor="ctr"/>
          <a:lstStyle/>
          <a:p>
            <a:pPr indent="0" marL="0">
              <a:buNone/>
            </a:pPr>
            <a:r>
              <a:rPr lang="en-US" sz="3400" b="1" dirty="0">
                <a:solidFill>
                  <a:srgbClr val="101C26"/>
                </a:solidFill>
                <a:latin typeface="Cambria" pitchFamily="34" charset="0"/>
                <a:ea typeface="Cambria" pitchFamily="34" charset="-122"/>
                <a:cs typeface="Cambria" pitchFamily="34" charset="-120"/>
              </a:rPr>
              <a:t>One scoring function carries the whole high level</a:t>
            </a:r>
            <a:endParaRPr lang="en-US" sz="3400" dirty="0"/>
          </a:p>
        </p:txBody>
      </p:sp>
      <p:sp>
        <p:nvSpPr>
          <p:cNvPr id="4" name="Shape 2"/>
          <p:cNvSpPr/>
          <p:nvPr/>
        </p:nvSpPr>
        <p:spPr>
          <a:xfrm>
            <a:off x="548640" y="1645920"/>
            <a:ext cx="11091672" cy="1371600"/>
          </a:xfrm>
          <a:prstGeom prst="roundRect">
            <a:avLst>
              <a:gd name="adj" fmla="val 6000"/>
            </a:avLst>
          </a:prstGeom>
          <a:solidFill>
            <a:srgbClr val="1D3346"/>
          </a:solidFill>
          <a:ln w="12700">
            <a:solidFill>
              <a:srgbClr val="1D3346"/>
            </a:solidFill>
            <a:prstDash val="solid"/>
          </a:ln>
          <a:effectLst>
            <a:outerShdw sx="100000" sy="100000" kx="0" ky="0" algn="bl" rotWithShape="0" blurRad="127000" dist="25400" dir="5400000">
              <a:srgbClr val="0B1620">
                <a:alpha val="13000"/>
              </a:srgbClr>
            </a:outerShdw>
          </a:effectLst>
        </p:spPr>
      </p:sp>
      <p:sp>
        <p:nvSpPr>
          <p:cNvPr id="5" name="Text 3"/>
          <p:cNvSpPr txBox="1"/>
          <p:nvPr/>
        </p:nvSpPr>
        <p:spPr>
          <a:xfrm>
            <a:off x="960120" y="1874520"/>
            <a:ext cx="10332720" cy="914400"/>
          </a:xfrm>
          <a:prstGeom prst="rect">
            <a:avLst/>
          </a:prstGeom>
          <a:noFill/>
          <a:ln/>
        </p:spPr>
        <p:txBody>
          <a:bodyPr wrap="square" lIns="0" tIns="0" rIns="0" bIns="0" rtlCol="0" anchor="ctr"/>
          <a:lstStyle/>
          <a:p>
            <a:pPr indent="0" marL="0">
              <a:lnSpc>
                <a:spcPts val="2800"/>
              </a:lnSpc>
              <a:buNone/>
            </a:pPr>
            <a:r>
              <a:rPr lang="en-US" sz="1600" b="1" dirty="0">
                <a:solidFill>
                  <a:srgbClr val="F2A104"/>
                </a:solidFill>
                <a:latin typeface="Courier New" pitchFamily="34" charset="0"/>
                <a:ea typeface="Courier New" pitchFamily="34" charset="-122"/>
                <a:cs typeface="Courier New" pitchFamily="34" charset="-120"/>
              </a:rPr>
              <a:t>Sᵢ(v) = </a:t>
            </a:r>
            <a:pPr indent="0" marL="0">
              <a:lnSpc>
                <a:spcPts val="2800"/>
              </a:lnSpc>
              <a:buNone/>
            </a:pPr>
            <a:r>
              <a:rPr lang="en-US" sz="1600" dirty="0">
                <a:solidFill>
                  <a:srgbClr val="FFFFFF"/>
                </a:solidFill>
                <a:latin typeface="Courier New" pitchFamily="34" charset="0"/>
                <a:ea typeface="Courier New" pitchFamily="34" charset="-122"/>
                <a:cs typeface="Courier New" pitchFamily="34" charset="-120"/>
              </a:rPr>
              <a:t>α·progress  +  βᵢ·[preferred direction]  +  γᵢ·[stays in aisle]
</a:t>
            </a:r>
            <a:pPr indent="0" marL="0">
              <a:lnSpc>
                <a:spcPts val="2800"/>
              </a:lnSpc>
              <a:buNone/>
            </a:pPr>
            <a:r>
              <a:rPr lang="en-US" sz="1600" dirty="0">
                <a:solidFill>
                  <a:srgbClr val="FFFFFF"/>
                </a:solidFill>
                <a:latin typeface="Courier New" pitchFamily="34" charset="0"/>
                <a:ea typeface="Courier New" pitchFamily="34" charset="-122"/>
                <a:cs typeface="Courier New" pitchFamily="34" charset="-120"/>
              </a:rPr>
              <a:t>      − λ·turn  −  μ·congestion  −  ν·wait  −  ξ·[bottleneck]  −  ζ·[counterflow]</a:t>
            </a:r>
            <a:endParaRPr lang="en-US" sz="1600" dirty="0"/>
          </a:p>
        </p:txBody>
      </p:sp>
      <p:sp>
        <p:nvSpPr>
          <p:cNvPr id="6" name="Shape 4"/>
          <p:cNvSpPr/>
          <p:nvPr/>
        </p:nvSpPr>
        <p:spPr>
          <a:xfrm>
            <a:off x="548640" y="3246120"/>
            <a:ext cx="3456432" cy="1325880"/>
          </a:xfrm>
          <a:prstGeom prst="roundRect">
            <a:avLst>
              <a:gd name="adj" fmla="val 6207"/>
            </a:avLst>
          </a:prstGeom>
          <a:solidFill>
            <a:srgbClr val="EDF2F6"/>
          </a:solidFill>
          <a:ln w="12700">
            <a:solidFill>
              <a:srgbClr val="EDF2F6"/>
            </a:solidFill>
            <a:prstDash val="solid"/>
          </a:ln>
        </p:spPr>
      </p:sp>
      <p:sp>
        <p:nvSpPr>
          <p:cNvPr id="7" name="Text 5"/>
          <p:cNvSpPr txBox="1"/>
          <p:nvPr/>
        </p:nvSpPr>
        <p:spPr>
          <a:xfrm>
            <a:off x="822960" y="3392424"/>
            <a:ext cx="1280160" cy="292608"/>
          </a:xfrm>
          <a:prstGeom prst="rect">
            <a:avLst/>
          </a:prstGeom>
          <a:noFill/>
          <a:ln/>
        </p:spPr>
        <p:txBody>
          <a:bodyPr wrap="square" lIns="0" tIns="0" rIns="0" bIns="0" rtlCol="0" anchor="ctr"/>
          <a:lstStyle/>
          <a:p>
            <a:pPr indent="0" marL="0">
              <a:buNone/>
            </a:pPr>
            <a:r>
              <a:rPr lang="en-US" sz="1400" b="1" dirty="0">
                <a:solidFill>
                  <a:srgbClr val="F2A104"/>
                </a:solidFill>
                <a:latin typeface="Courier New" pitchFamily="34" charset="0"/>
                <a:ea typeface="Courier New" pitchFamily="34" charset="-122"/>
                <a:cs typeface="Courier New" pitchFamily="34" charset="-120"/>
              </a:rPr>
              <a:t>α = 10.0</a:t>
            </a:r>
            <a:endParaRPr lang="en-US" sz="1400" dirty="0"/>
          </a:p>
        </p:txBody>
      </p:sp>
      <p:sp>
        <p:nvSpPr>
          <p:cNvPr id="8" name="Text 6"/>
          <p:cNvSpPr txBox="1"/>
          <p:nvPr/>
        </p:nvSpPr>
        <p:spPr>
          <a:xfrm>
            <a:off x="1965960" y="3392424"/>
            <a:ext cx="1828800" cy="292608"/>
          </a:xfrm>
          <a:prstGeom prst="rect">
            <a:avLst/>
          </a:prstGeom>
          <a:noFill/>
          <a:ln/>
        </p:spPr>
        <p:txBody>
          <a:bodyPr wrap="square" lIns="0" tIns="0" rIns="0" bIns="0" rtlCol="0" anchor="ctr"/>
          <a:lstStyle/>
          <a:p>
            <a:pPr indent="0" marL="0">
              <a:buNone/>
            </a:pPr>
            <a:r>
              <a:rPr lang="en-US" sz="1450" b="1" dirty="0">
                <a:solidFill>
                  <a:srgbClr val="101C26"/>
                </a:solidFill>
                <a:latin typeface="Cambria" pitchFamily="34" charset="0"/>
                <a:ea typeface="Cambria" pitchFamily="34" charset="-122"/>
                <a:cs typeface="Cambria" pitchFamily="34" charset="-120"/>
              </a:rPr>
              <a:t>Progress</a:t>
            </a:r>
            <a:endParaRPr lang="en-US" sz="1450" dirty="0"/>
          </a:p>
        </p:txBody>
      </p:sp>
      <p:sp>
        <p:nvSpPr>
          <p:cNvPr id="9" name="Text 7"/>
          <p:cNvSpPr txBox="1"/>
          <p:nvPr/>
        </p:nvSpPr>
        <p:spPr>
          <a:xfrm>
            <a:off x="822960" y="3758184"/>
            <a:ext cx="2962656" cy="749808"/>
          </a:xfrm>
          <a:prstGeom prst="rect">
            <a:avLst/>
          </a:prstGeom>
          <a:noFill/>
          <a:ln/>
        </p:spPr>
        <p:txBody>
          <a:bodyPr wrap="square" lIns="0" tIns="0" rIns="0" bIns="0" rtlCol="0" anchor="t"/>
          <a:lstStyle/>
          <a:p>
            <a:pPr algn="l" indent="0" marL="0">
              <a:lnSpc>
                <a:spcPts val="1500"/>
              </a:lnSpc>
              <a:buNone/>
            </a:pPr>
            <a:r>
              <a:rPr lang="en-US" sz="1150" dirty="0">
                <a:solidFill>
                  <a:srgbClr val="2C3E4D"/>
                </a:solidFill>
                <a:latin typeface="Calibri" pitchFamily="34" charset="0"/>
                <a:ea typeface="Calibri" pitchFamily="34" charset="-122"/>
                <a:cs typeface="Calibri" pitchFamily="34" charset="-120"/>
              </a:rPr>
              <a:t>Steps closer to the waypoint. Dominates everything else by design.</a:t>
            </a:r>
            <a:endParaRPr lang="en-US" sz="1150" dirty="0"/>
          </a:p>
        </p:txBody>
      </p:sp>
      <p:sp>
        <p:nvSpPr>
          <p:cNvPr id="10" name="Shape 8"/>
          <p:cNvSpPr/>
          <p:nvPr/>
        </p:nvSpPr>
        <p:spPr>
          <a:xfrm>
            <a:off x="4279392" y="3246120"/>
            <a:ext cx="3456432" cy="1325880"/>
          </a:xfrm>
          <a:prstGeom prst="roundRect">
            <a:avLst>
              <a:gd name="adj" fmla="val 6207"/>
            </a:avLst>
          </a:prstGeom>
          <a:solidFill>
            <a:srgbClr val="EDF2F6"/>
          </a:solidFill>
          <a:ln w="12700">
            <a:solidFill>
              <a:srgbClr val="EDF2F6"/>
            </a:solidFill>
            <a:prstDash val="solid"/>
          </a:ln>
        </p:spPr>
      </p:sp>
      <p:sp>
        <p:nvSpPr>
          <p:cNvPr id="11" name="Text 9"/>
          <p:cNvSpPr txBox="1"/>
          <p:nvPr/>
        </p:nvSpPr>
        <p:spPr>
          <a:xfrm>
            <a:off x="4553712" y="3392424"/>
            <a:ext cx="1280160" cy="292608"/>
          </a:xfrm>
          <a:prstGeom prst="rect">
            <a:avLst/>
          </a:prstGeom>
          <a:noFill/>
          <a:ln/>
        </p:spPr>
        <p:txBody>
          <a:bodyPr wrap="square" lIns="0" tIns="0" rIns="0" bIns="0" rtlCol="0" anchor="ctr"/>
          <a:lstStyle/>
          <a:p>
            <a:pPr indent="0" marL="0">
              <a:buNone/>
            </a:pPr>
            <a:r>
              <a:rPr lang="en-US" sz="1400" b="1" dirty="0">
                <a:solidFill>
                  <a:srgbClr val="F2A104"/>
                </a:solidFill>
                <a:latin typeface="Courier New" pitchFamily="34" charset="0"/>
                <a:ea typeface="Courier New" pitchFamily="34" charset="-122"/>
                <a:cs typeface="Courier New" pitchFamily="34" charset="-120"/>
              </a:rPr>
              <a:t>β ≤ 3.0</a:t>
            </a:r>
            <a:endParaRPr lang="en-US" sz="1400" dirty="0"/>
          </a:p>
        </p:txBody>
      </p:sp>
      <p:sp>
        <p:nvSpPr>
          <p:cNvPr id="12" name="Text 10"/>
          <p:cNvSpPr txBox="1"/>
          <p:nvPr/>
        </p:nvSpPr>
        <p:spPr>
          <a:xfrm>
            <a:off x="5696712" y="3392424"/>
            <a:ext cx="1828800" cy="292608"/>
          </a:xfrm>
          <a:prstGeom prst="rect">
            <a:avLst/>
          </a:prstGeom>
          <a:noFill/>
          <a:ln/>
        </p:spPr>
        <p:txBody>
          <a:bodyPr wrap="square" lIns="0" tIns="0" rIns="0" bIns="0" rtlCol="0" anchor="ctr"/>
          <a:lstStyle/>
          <a:p>
            <a:pPr indent="0" marL="0">
              <a:buNone/>
            </a:pPr>
            <a:r>
              <a:rPr lang="en-US" sz="1450" b="1" dirty="0">
                <a:solidFill>
                  <a:srgbClr val="101C26"/>
                </a:solidFill>
                <a:latin typeface="Cambria" pitchFamily="34" charset="0"/>
                <a:ea typeface="Cambria" pitchFamily="34" charset="-122"/>
                <a:cs typeface="Cambria" pitchFamily="34" charset="-120"/>
              </a:rPr>
              <a:t>Direction</a:t>
            </a:r>
            <a:endParaRPr lang="en-US" sz="1450" dirty="0"/>
          </a:p>
        </p:txBody>
      </p:sp>
      <p:sp>
        <p:nvSpPr>
          <p:cNvPr id="13" name="Text 11"/>
          <p:cNvSpPr txBox="1"/>
          <p:nvPr/>
        </p:nvSpPr>
        <p:spPr>
          <a:xfrm>
            <a:off x="4553712" y="3758184"/>
            <a:ext cx="2962656" cy="749808"/>
          </a:xfrm>
          <a:prstGeom prst="rect">
            <a:avLst/>
          </a:prstGeom>
          <a:noFill/>
          <a:ln/>
        </p:spPr>
        <p:txBody>
          <a:bodyPr wrap="square" lIns="0" tIns="0" rIns="0" bIns="0" rtlCol="0" anchor="t"/>
          <a:lstStyle/>
          <a:p>
            <a:pPr algn="l" indent="0" marL="0">
              <a:lnSpc>
                <a:spcPts val="1500"/>
              </a:lnSpc>
              <a:buNone/>
            </a:pPr>
            <a:r>
              <a:rPr lang="en-US" sz="1150" dirty="0">
                <a:solidFill>
                  <a:srgbClr val="2C3E4D"/>
                </a:solidFill>
                <a:latin typeface="Calibri" pitchFamily="34" charset="0"/>
                <a:ea typeface="Calibri" pitchFamily="34" charset="-122"/>
                <a:cs typeface="Calibri" pitchFamily="34" charset="-120"/>
              </a:rPr>
              <a:t>Reward for moving the way the robot prefers. Its proximity decay is inert: β only breaks ties among equal-progress moves.</a:t>
            </a:r>
            <a:endParaRPr lang="en-US" sz="1150" dirty="0"/>
          </a:p>
        </p:txBody>
      </p:sp>
      <p:sp>
        <p:nvSpPr>
          <p:cNvPr id="14" name="Shape 12"/>
          <p:cNvSpPr/>
          <p:nvPr/>
        </p:nvSpPr>
        <p:spPr>
          <a:xfrm>
            <a:off x="8010144" y="3246120"/>
            <a:ext cx="3456432" cy="1325880"/>
          </a:xfrm>
          <a:prstGeom prst="roundRect">
            <a:avLst>
              <a:gd name="adj" fmla="val 6207"/>
            </a:avLst>
          </a:prstGeom>
          <a:solidFill>
            <a:srgbClr val="EDF2F6"/>
          </a:solidFill>
          <a:ln w="12700">
            <a:solidFill>
              <a:srgbClr val="EDF2F6"/>
            </a:solidFill>
            <a:prstDash val="solid"/>
          </a:ln>
        </p:spPr>
      </p:sp>
      <p:sp>
        <p:nvSpPr>
          <p:cNvPr id="15" name="Text 13"/>
          <p:cNvSpPr txBox="1"/>
          <p:nvPr/>
        </p:nvSpPr>
        <p:spPr>
          <a:xfrm>
            <a:off x="8284464" y="3392424"/>
            <a:ext cx="1280160" cy="292608"/>
          </a:xfrm>
          <a:prstGeom prst="rect">
            <a:avLst/>
          </a:prstGeom>
          <a:noFill/>
          <a:ln/>
        </p:spPr>
        <p:txBody>
          <a:bodyPr wrap="square" lIns="0" tIns="0" rIns="0" bIns="0" rtlCol="0" anchor="ctr"/>
          <a:lstStyle/>
          <a:p>
            <a:pPr indent="0" marL="0">
              <a:buNone/>
            </a:pPr>
            <a:r>
              <a:rPr lang="en-US" sz="1400" b="1" dirty="0">
                <a:solidFill>
                  <a:srgbClr val="F2A104"/>
                </a:solidFill>
                <a:latin typeface="Courier New" pitchFamily="34" charset="0"/>
                <a:ea typeface="Courier New" pitchFamily="34" charset="-122"/>
                <a:cs typeface="Courier New" pitchFamily="34" charset="-120"/>
              </a:rPr>
              <a:t>γ</a:t>
            </a:r>
            <a:endParaRPr lang="en-US" sz="1400" dirty="0"/>
          </a:p>
        </p:txBody>
      </p:sp>
      <p:sp>
        <p:nvSpPr>
          <p:cNvPr id="16" name="Text 14"/>
          <p:cNvSpPr txBox="1"/>
          <p:nvPr/>
        </p:nvSpPr>
        <p:spPr>
          <a:xfrm>
            <a:off x="9427464" y="3392424"/>
            <a:ext cx="1828800" cy="292608"/>
          </a:xfrm>
          <a:prstGeom prst="rect">
            <a:avLst/>
          </a:prstGeom>
          <a:noFill/>
          <a:ln/>
        </p:spPr>
        <p:txBody>
          <a:bodyPr wrap="square" lIns="0" tIns="0" rIns="0" bIns="0" rtlCol="0" anchor="ctr"/>
          <a:lstStyle/>
          <a:p>
            <a:pPr indent="0" marL="0">
              <a:buNone/>
            </a:pPr>
            <a:r>
              <a:rPr lang="en-US" sz="1450" b="1" dirty="0">
                <a:solidFill>
                  <a:srgbClr val="101C26"/>
                </a:solidFill>
                <a:latin typeface="Cambria" pitchFamily="34" charset="0"/>
                <a:ea typeface="Cambria" pitchFamily="34" charset="-122"/>
                <a:cs typeface="Cambria" pitchFamily="34" charset="-120"/>
              </a:rPr>
              <a:t>Aisle continuity</a:t>
            </a:r>
            <a:endParaRPr lang="en-US" sz="1450" dirty="0"/>
          </a:p>
        </p:txBody>
      </p:sp>
      <p:sp>
        <p:nvSpPr>
          <p:cNvPr id="17" name="Text 15"/>
          <p:cNvSpPr txBox="1"/>
          <p:nvPr/>
        </p:nvSpPr>
        <p:spPr>
          <a:xfrm>
            <a:off x="8284464" y="3758184"/>
            <a:ext cx="2962656" cy="749808"/>
          </a:xfrm>
          <a:prstGeom prst="rect">
            <a:avLst/>
          </a:prstGeom>
          <a:noFill/>
          <a:ln/>
        </p:spPr>
        <p:txBody>
          <a:bodyPr wrap="square" lIns="0" tIns="0" rIns="0" bIns="0" rtlCol="0" anchor="t"/>
          <a:lstStyle/>
          <a:p>
            <a:pPr algn="l" indent="0" marL="0">
              <a:lnSpc>
                <a:spcPts val="1500"/>
              </a:lnSpc>
              <a:buNone/>
            </a:pPr>
            <a:r>
              <a:rPr lang="en-US" sz="1150" dirty="0">
                <a:solidFill>
                  <a:srgbClr val="2C3E4D"/>
                </a:solidFill>
                <a:latin typeface="Calibri" pitchFamily="34" charset="0"/>
                <a:ea typeface="Calibri" pitchFamily="34" charset="-122"/>
                <a:cs typeface="Calibri" pitchFamily="34" charset="-120"/>
              </a:rPr>
              <a:t>Keeps a robot committed to the corridor it is already in, except at intersections.</a:t>
            </a:r>
            <a:endParaRPr lang="en-US" sz="1150" dirty="0"/>
          </a:p>
        </p:txBody>
      </p:sp>
      <p:sp>
        <p:nvSpPr>
          <p:cNvPr id="18" name="Shape 16"/>
          <p:cNvSpPr/>
          <p:nvPr/>
        </p:nvSpPr>
        <p:spPr>
          <a:xfrm>
            <a:off x="548640" y="4736592"/>
            <a:ext cx="3456432" cy="1325880"/>
          </a:xfrm>
          <a:prstGeom prst="roundRect">
            <a:avLst>
              <a:gd name="adj" fmla="val 6207"/>
            </a:avLst>
          </a:prstGeom>
          <a:solidFill>
            <a:srgbClr val="EDF2F6"/>
          </a:solidFill>
          <a:ln w="12700">
            <a:solidFill>
              <a:srgbClr val="EDF2F6"/>
            </a:solidFill>
            <a:prstDash val="solid"/>
          </a:ln>
        </p:spPr>
      </p:sp>
      <p:sp>
        <p:nvSpPr>
          <p:cNvPr id="19" name="Text 17"/>
          <p:cNvSpPr txBox="1"/>
          <p:nvPr/>
        </p:nvSpPr>
        <p:spPr>
          <a:xfrm>
            <a:off x="822960" y="4882896"/>
            <a:ext cx="1280160" cy="292608"/>
          </a:xfrm>
          <a:prstGeom prst="rect">
            <a:avLst/>
          </a:prstGeom>
          <a:noFill/>
          <a:ln/>
        </p:spPr>
        <p:txBody>
          <a:bodyPr wrap="square" lIns="0" tIns="0" rIns="0" bIns="0" rtlCol="0" anchor="ctr"/>
          <a:lstStyle/>
          <a:p>
            <a:pPr indent="0" marL="0">
              <a:buNone/>
            </a:pPr>
            <a:r>
              <a:rPr lang="en-US" sz="1400" b="1" dirty="0">
                <a:solidFill>
                  <a:srgbClr val="F2A104"/>
                </a:solidFill>
                <a:latin typeface="Courier New" pitchFamily="34" charset="0"/>
                <a:ea typeface="Courier New" pitchFamily="34" charset="-122"/>
                <a:cs typeface="Courier New" pitchFamily="34" charset="-120"/>
              </a:rPr>
              <a:t>λ = 0.5</a:t>
            </a:r>
            <a:endParaRPr lang="en-US" sz="1400" dirty="0"/>
          </a:p>
        </p:txBody>
      </p:sp>
      <p:sp>
        <p:nvSpPr>
          <p:cNvPr id="20" name="Text 18"/>
          <p:cNvSpPr txBox="1"/>
          <p:nvPr/>
        </p:nvSpPr>
        <p:spPr>
          <a:xfrm>
            <a:off x="1965960" y="4882896"/>
            <a:ext cx="1828800" cy="292608"/>
          </a:xfrm>
          <a:prstGeom prst="rect">
            <a:avLst/>
          </a:prstGeom>
          <a:noFill/>
          <a:ln/>
        </p:spPr>
        <p:txBody>
          <a:bodyPr wrap="square" lIns="0" tIns="0" rIns="0" bIns="0" rtlCol="0" anchor="ctr"/>
          <a:lstStyle/>
          <a:p>
            <a:pPr indent="0" marL="0">
              <a:buNone/>
            </a:pPr>
            <a:r>
              <a:rPr lang="en-US" sz="1450" b="1" dirty="0">
                <a:solidFill>
                  <a:srgbClr val="101C26"/>
                </a:solidFill>
                <a:latin typeface="Cambria" pitchFamily="34" charset="0"/>
                <a:ea typeface="Cambria" pitchFamily="34" charset="-122"/>
                <a:cs typeface="Cambria" pitchFamily="34" charset="-120"/>
              </a:rPr>
              <a:t>Turning cost</a:t>
            </a:r>
            <a:endParaRPr lang="en-US" sz="1450" dirty="0"/>
          </a:p>
        </p:txBody>
      </p:sp>
      <p:sp>
        <p:nvSpPr>
          <p:cNvPr id="21" name="Text 19"/>
          <p:cNvSpPr txBox="1"/>
          <p:nvPr/>
        </p:nvSpPr>
        <p:spPr>
          <a:xfrm>
            <a:off x="822960" y="5248656"/>
            <a:ext cx="2962656" cy="749808"/>
          </a:xfrm>
          <a:prstGeom prst="rect">
            <a:avLst/>
          </a:prstGeom>
          <a:noFill/>
          <a:ln/>
        </p:spPr>
        <p:txBody>
          <a:bodyPr wrap="square" lIns="0" tIns="0" rIns="0" bIns="0" rtlCol="0" anchor="t"/>
          <a:lstStyle/>
          <a:p>
            <a:pPr algn="l" indent="0" marL="0">
              <a:lnSpc>
                <a:spcPts val="1500"/>
              </a:lnSpc>
              <a:buNone/>
            </a:pPr>
            <a:r>
              <a:rPr lang="en-US" sz="1150" dirty="0">
                <a:solidFill>
                  <a:srgbClr val="2C3E4D"/>
                </a:solidFill>
                <a:latin typeface="Calibri" pitchFamily="34" charset="0"/>
                <a:ea typeface="Calibri" pitchFamily="34" charset="-122"/>
                <a:cs typeface="Calibri" pitchFamily="34" charset="-120"/>
              </a:rPr>
              <a:t>A flat penalty per direction change. The cheapest term here, and the strongest single mechanism in the system.</a:t>
            </a:r>
            <a:endParaRPr lang="en-US" sz="1150" dirty="0"/>
          </a:p>
        </p:txBody>
      </p:sp>
      <p:sp>
        <p:nvSpPr>
          <p:cNvPr id="22" name="Shape 20"/>
          <p:cNvSpPr/>
          <p:nvPr/>
        </p:nvSpPr>
        <p:spPr>
          <a:xfrm>
            <a:off x="4279392" y="4736592"/>
            <a:ext cx="3456432" cy="1325880"/>
          </a:xfrm>
          <a:prstGeom prst="roundRect">
            <a:avLst>
              <a:gd name="adj" fmla="val 6207"/>
            </a:avLst>
          </a:prstGeom>
          <a:solidFill>
            <a:srgbClr val="EDF2F6"/>
          </a:solidFill>
          <a:ln w="12700">
            <a:solidFill>
              <a:srgbClr val="EDF2F6"/>
            </a:solidFill>
            <a:prstDash val="solid"/>
          </a:ln>
        </p:spPr>
      </p:sp>
      <p:sp>
        <p:nvSpPr>
          <p:cNvPr id="23" name="Text 21"/>
          <p:cNvSpPr txBox="1"/>
          <p:nvPr/>
        </p:nvSpPr>
        <p:spPr>
          <a:xfrm>
            <a:off x="4553712" y="4882896"/>
            <a:ext cx="1280160" cy="292608"/>
          </a:xfrm>
          <a:prstGeom prst="rect">
            <a:avLst/>
          </a:prstGeom>
          <a:noFill/>
          <a:ln/>
        </p:spPr>
        <p:txBody>
          <a:bodyPr wrap="square" lIns="0" tIns="0" rIns="0" bIns="0" rtlCol="0" anchor="ctr"/>
          <a:lstStyle/>
          <a:p>
            <a:pPr indent="0" marL="0">
              <a:buNone/>
            </a:pPr>
            <a:r>
              <a:rPr lang="en-US" sz="1400" b="1" dirty="0">
                <a:solidFill>
                  <a:srgbClr val="F2A104"/>
                </a:solidFill>
                <a:latin typeface="Courier New" pitchFamily="34" charset="0"/>
                <a:ea typeface="Courier New" pitchFamily="34" charset="-122"/>
                <a:cs typeface="Courier New" pitchFamily="34" charset="-120"/>
              </a:rPr>
              <a:t>μ = 1.0</a:t>
            </a:r>
            <a:endParaRPr lang="en-US" sz="1400" dirty="0"/>
          </a:p>
        </p:txBody>
      </p:sp>
      <p:sp>
        <p:nvSpPr>
          <p:cNvPr id="24" name="Text 22"/>
          <p:cNvSpPr txBox="1"/>
          <p:nvPr/>
        </p:nvSpPr>
        <p:spPr>
          <a:xfrm>
            <a:off x="5696712" y="4882896"/>
            <a:ext cx="1828800" cy="292608"/>
          </a:xfrm>
          <a:prstGeom prst="rect">
            <a:avLst/>
          </a:prstGeom>
          <a:noFill/>
          <a:ln/>
        </p:spPr>
        <p:txBody>
          <a:bodyPr wrap="square" lIns="0" tIns="0" rIns="0" bIns="0" rtlCol="0" anchor="ctr"/>
          <a:lstStyle/>
          <a:p>
            <a:pPr indent="0" marL="0">
              <a:buNone/>
            </a:pPr>
            <a:r>
              <a:rPr lang="en-US" sz="1450" b="1" dirty="0">
                <a:solidFill>
                  <a:srgbClr val="101C26"/>
                </a:solidFill>
                <a:latin typeface="Cambria" pitchFamily="34" charset="0"/>
                <a:ea typeface="Cambria" pitchFamily="34" charset="-122"/>
                <a:cs typeface="Cambria" pitchFamily="34" charset="-120"/>
              </a:rPr>
              <a:t>Congestion</a:t>
            </a:r>
            <a:endParaRPr lang="en-US" sz="1450" dirty="0"/>
          </a:p>
        </p:txBody>
      </p:sp>
      <p:sp>
        <p:nvSpPr>
          <p:cNvPr id="25" name="Text 23"/>
          <p:cNvSpPr txBox="1"/>
          <p:nvPr/>
        </p:nvSpPr>
        <p:spPr>
          <a:xfrm>
            <a:off x="4553712" y="5248656"/>
            <a:ext cx="2962656" cy="749808"/>
          </a:xfrm>
          <a:prstGeom prst="rect">
            <a:avLst/>
          </a:prstGeom>
          <a:noFill/>
          <a:ln/>
        </p:spPr>
        <p:txBody>
          <a:bodyPr wrap="square" lIns="0" tIns="0" rIns="0" bIns="0" rtlCol="0" anchor="t"/>
          <a:lstStyle/>
          <a:p>
            <a:pPr algn="l" indent="0" marL="0">
              <a:lnSpc>
                <a:spcPts val="1500"/>
              </a:lnSpc>
              <a:buNone/>
            </a:pPr>
            <a:r>
              <a:rPr lang="en-US" sz="1150" dirty="0">
                <a:solidFill>
                  <a:srgbClr val="2C3E4D"/>
                </a:solidFill>
                <a:latin typeface="Calibri" pitchFamily="34" charset="0"/>
                <a:ea typeface="Calibri" pitchFamily="34" charset="-122"/>
                <a:cs typeface="Calibri" pitchFamily="34" charset="-120"/>
              </a:rPr>
              <a:t>Local density, aisle occupancy and downstream lookahead, all normalised to [0,1].</a:t>
            </a:r>
            <a:endParaRPr lang="en-US" sz="1150" dirty="0"/>
          </a:p>
        </p:txBody>
      </p:sp>
      <p:sp>
        <p:nvSpPr>
          <p:cNvPr id="26" name="Shape 24"/>
          <p:cNvSpPr/>
          <p:nvPr/>
        </p:nvSpPr>
        <p:spPr>
          <a:xfrm>
            <a:off x="8010144" y="4736592"/>
            <a:ext cx="3456432" cy="1325880"/>
          </a:xfrm>
          <a:prstGeom prst="roundRect">
            <a:avLst>
              <a:gd name="adj" fmla="val 6207"/>
            </a:avLst>
          </a:prstGeom>
          <a:solidFill>
            <a:srgbClr val="EDF2F6"/>
          </a:solidFill>
          <a:ln w="12700">
            <a:solidFill>
              <a:srgbClr val="EDF2F6"/>
            </a:solidFill>
            <a:prstDash val="solid"/>
          </a:ln>
        </p:spPr>
      </p:sp>
      <p:sp>
        <p:nvSpPr>
          <p:cNvPr id="27" name="Text 25"/>
          <p:cNvSpPr txBox="1"/>
          <p:nvPr/>
        </p:nvSpPr>
        <p:spPr>
          <a:xfrm>
            <a:off x="8284464" y="4882896"/>
            <a:ext cx="1280160" cy="292608"/>
          </a:xfrm>
          <a:prstGeom prst="rect">
            <a:avLst/>
          </a:prstGeom>
          <a:noFill/>
          <a:ln/>
        </p:spPr>
        <p:txBody>
          <a:bodyPr wrap="square" lIns="0" tIns="0" rIns="0" bIns="0" rtlCol="0" anchor="ctr"/>
          <a:lstStyle/>
          <a:p>
            <a:pPr indent="0" marL="0">
              <a:buNone/>
            </a:pPr>
            <a:r>
              <a:rPr lang="en-US" sz="1400" b="1" dirty="0">
                <a:solidFill>
                  <a:srgbClr val="F2A104"/>
                </a:solidFill>
                <a:latin typeface="Courier New" pitchFamily="34" charset="0"/>
                <a:ea typeface="Courier New" pitchFamily="34" charset="-122"/>
                <a:cs typeface="Courier New" pitchFamily="34" charset="-120"/>
              </a:rPr>
              <a:t>ξ = 1.0</a:t>
            </a:r>
            <a:endParaRPr lang="en-US" sz="1400" dirty="0"/>
          </a:p>
        </p:txBody>
      </p:sp>
      <p:sp>
        <p:nvSpPr>
          <p:cNvPr id="28" name="Text 26"/>
          <p:cNvSpPr txBox="1"/>
          <p:nvPr/>
        </p:nvSpPr>
        <p:spPr>
          <a:xfrm>
            <a:off x="9427464" y="4882896"/>
            <a:ext cx="1828800" cy="292608"/>
          </a:xfrm>
          <a:prstGeom prst="rect">
            <a:avLst/>
          </a:prstGeom>
          <a:noFill/>
          <a:ln/>
        </p:spPr>
        <p:txBody>
          <a:bodyPr wrap="square" lIns="0" tIns="0" rIns="0" bIns="0" rtlCol="0" anchor="ctr"/>
          <a:lstStyle/>
          <a:p>
            <a:pPr indent="0" marL="0">
              <a:buNone/>
            </a:pPr>
            <a:r>
              <a:rPr lang="en-US" sz="1450" b="1" dirty="0">
                <a:solidFill>
                  <a:srgbClr val="101C26"/>
                </a:solidFill>
                <a:latin typeface="Cambria" pitchFamily="34" charset="0"/>
                <a:ea typeface="Cambria" pitchFamily="34" charset="-122"/>
                <a:cs typeface="Cambria" pitchFamily="34" charset="-120"/>
              </a:rPr>
              <a:t>Bottleneck</a:t>
            </a:r>
            <a:endParaRPr lang="en-US" sz="1450" dirty="0"/>
          </a:p>
        </p:txBody>
      </p:sp>
      <p:sp>
        <p:nvSpPr>
          <p:cNvPr id="29" name="Text 27"/>
          <p:cNvSpPr txBox="1"/>
          <p:nvPr/>
        </p:nvSpPr>
        <p:spPr>
          <a:xfrm>
            <a:off x="8284464" y="5248656"/>
            <a:ext cx="2962656" cy="749808"/>
          </a:xfrm>
          <a:prstGeom prst="rect">
            <a:avLst/>
          </a:prstGeom>
          <a:noFill/>
          <a:ln/>
        </p:spPr>
        <p:txBody>
          <a:bodyPr wrap="square" lIns="0" tIns="0" rIns="0" bIns="0" rtlCol="0" anchor="t"/>
          <a:lstStyle/>
          <a:p>
            <a:pPr algn="l" indent="0" marL="0">
              <a:lnSpc>
                <a:spcPts val="1500"/>
              </a:lnSpc>
              <a:buNone/>
            </a:pPr>
            <a:r>
              <a:rPr lang="en-US" sz="1150" dirty="0">
                <a:solidFill>
                  <a:srgbClr val="2C3E4D"/>
                </a:solidFill>
                <a:latin typeface="Calibri" pitchFamily="34" charset="0"/>
                <a:ea typeface="Calibri" pitchFamily="34" charset="-122"/>
                <a:cs typeface="Calibri" pitchFamily="34" charset="-120"/>
              </a:rPr>
              <a:t>Discourages parking on an articulation point that the whole map depends on.</a:t>
            </a:r>
            <a:endParaRPr lang="en-US" sz="1150" dirty="0"/>
          </a:p>
        </p:txBody>
      </p:sp>
      <p:sp>
        <p:nvSpPr>
          <p:cNvPr id="30" name="Text 28"/>
          <p:cNvSpPr txBox="1"/>
          <p:nvPr/>
        </p:nvSpPr>
        <p:spPr>
          <a:xfrm>
            <a:off x="548640" y="6217920"/>
            <a:ext cx="11064240" cy="411480"/>
          </a:xfrm>
          <a:prstGeom prst="rect">
            <a:avLst/>
          </a:prstGeom>
          <a:noFill/>
          <a:ln/>
        </p:spPr>
        <p:txBody>
          <a:bodyPr wrap="square" lIns="0" tIns="0" rIns="0" bIns="0" rtlCol="0" anchor="ctr"/>
          <a:lstStyle/>
          <a:p>
            <a:pPr indent="0" marL="0">
              <a:buNone/>
            </a:pPr>
            <a:r>
              <a:rPr lang="en-US" sz="1000" i="1" dirty="0">
                <a:solidFill>
                  <a:srgbClr val="6C7C8A"/>
                </a:solidFill>
                <a:latin typeface="Calibri" pitchFamily="34" charset="0"/>
                <a:ea typeface="Calibri" pitchFamily="34" charset="-122"/>
                <a:cs typeface="Calibri" pitchFamily="34" charset="-120"/>
              </a:rPr>
              <a:t>The seventh term, ζ = 8.0, is where the aisle layer acts: the price of driving against a committed direction. Ordering α &gt; ζ &gt; β &gt; γ &gt; λ. It holds only because the aisle rules became penalties rather than rejections, and the congestion mixture was normalised.</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515600" cy="237744"/>
          </a:xfrm>
          <a:prstGeom prst="rect">
            <a:avLst/>
          </a:prstGeom>
          <a:noFill/>
          <a:ln/>
        </p:spPr>
        <p:txBody>
          <a:bodyPr wrap="square" lIns="0" tIns="0" rIns="0" bIns="0" rtlCol="0" anchor="ctr"/>
          <a:lstStyle/>
          <a:p>
            <a:pPr indent="0" marL="0">
              <a:buNone/>
            </a:pPr>
            <a:r>
              <a:rPr lang="en-US" sz="1150" b="1" spc="220" kern="0" dirty="0">
                <a:solidFill>
                  <a:srgbClr val="F2A104"/>
                </a:solidFill>
                <a:latin typeface="Calibri" pitchFamily="34" charset="0"/>
                <a:ea typeface="Calibri" pitchFamily="34" charset="-122"/>
                <a:cs typeface="Calibri" pitchFamily="34" charset="-120"/>
              </a:rPr>
              <a:t>HOW, PART 2</a:t>
            </a:r>
            <a:endParaRPr lang="en-US" sz="1150" dirty="0"/>
          </a:p>
        </p:txBody>
      </p:sp>
      <p:sp>
        <p:nvSpPr>
          <p:cNvPr id="3" name="Text 1"/>
          <p:cNvSpPr txBox="1"/>
          <p:nvPr/>
        </p:nvSpPr>
        <p:spPr>
          <a:xfrm>
            <a:off x="548640" y="658368"/>
            <a:ext cx="10607040" cy="658368"/>
          </a:xfrm>
          <a:prstGeom prst="rect">
            <a:avLst/>
          </a:prstGeom>
          <a:noFill/>
          <a:ln/>
        </p:spPr>
        <p:txBody>
          <a:bodyPr wrap="square" lIns="0" tIns="0" rIns="0" bIns="0" rtlCol="0" anchor="ctr"/>
          <a:lstStyle/>
          <a:p>
            <a:pPr indent="0" marL="0">
              <a:buNone/>
            </a:pPr>
            <a:r>
              <a:rPr lang="en-US" sz="3400" b="1" dirty="0">
                <a:solidFill>
                  <a:srgbClr val="101C26"/>
                </a:solidFill>
                <a:latin typeface="Cambria" pitchFamily="34" charset="0"/>
                <a:ea typeface="Cambria" pitchFamily="34" charset="-122"/>
                <a:cs typeface="Cambria" pitchFamily="34" charset="-120"/>
              </a:rPr>
              <a:t>Aisles decide, with a minimum green and a maximum green</a:t>
            </a:r>
            <a:endParaRPr lang="en-US" sz="3400" dirty="0"/>
          </a:p>
        </p:txBody>
      </p:sp>
      <p:sp>
        <p:nvSpPr>
          <p:cNvPr id="4" name="Shape 2"/>
          <p:cNvSpPr/>
          <p:nvPr/>
        </p:nvSpPr>
        <p:spPr>
          <a:xfrm>
            <a:off x="1051560" y="1828800"/>
            <a:ext cx="2103120" cy="658368"/>
          </a:xfrm>
          <a:prstGeom prst="roundRect">
            <a:avLst>
              <a:gd name="adj" fmla="val 12500"/>
            </a:avLst>
          </a:prstGeom>
          <a:solidFill>
            <a:srgbClr val="1D3346"/>
          </a:solidFill>
          <a:ln w="19050">
            <a:solidFill>
              <a:srgbClr val="1D3346"/>
            </a:solidFill>
            <a:prstDash val="solid"/>
          </a:ln>
        </p:spPr>
      </p:sp>
      <p:sp>
        <p:nvSpPr>
          <p:cNvPr id="5" name="Text 3"/>
          <p:cNvSpPr txBox="1"/>
          <p:nvPr/>
        </p:nvSpPr>
        <p:spPr>
          <a:xfrm>
            <a:off x="1051560" y="1828800"/>
            <a:ext cx="2103120"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OPEN</a:t>
            </a:r>
            <a:endParaRPr lang="en-US" sz="1500" dirty="0"/>
          </a:p>
        </p:txBody>
      </p:sp>
      <p:sp>
        <p:nvSpPr>
          <p:cNvPr id="6" name="Shape 4"/>
          <p:cNvSpPr/>
          <p:nvPr/>
        </p:nvSpPr>
        <p:spPr>
          <a:xfrm>
            <a:off x="1051560" y="3127248"/>
            <a:ext cx="2103120" cy="658368"/>
          </a:xfrm>
          <a:prstGeom prst="roundRect">
            <a:avLst>
              <a:gd name="adj" fmla="val 12500"/>
            </a:avLst>
          </a:prstGeom>
          <a:solidFill>
            <a:srgbClr val="EDF2F6"/>
          </a:solidFill>
          <a:ln w="19050">
            <a:solidFill>
              <a:srgbClr val="D0DAE3"/>
            </a:solidFill>
            <a:prstDash val="solid"/>
          </a:ln>
        </p:spPr>
      </p:sp>
      <p:sp>
        <p:nvSpPr>
          <p:cNvPr id="7" name="Text 5"/>
          <p:cNvSpPr txBox="1"/>
          <p:nvPr/>
        </p:nvSpPr>
        <p:spPr>
          <a:xfrm>
            <a:off x="1051560" y="3127248"/>
            <a:ext cx="2103120" cy="658368"/>
          </a:xfrm>
          <a:prstGeom prst="rect">
            <a:avLst/>
          </a:prstGeom>
          <a:noFill/>
          <a:ln/>
        </p:spPr>
        <p:txBody>
          <a:bodyPr wrap="square" lIns="0" tIns="0" rIns="0" bIns="0" rtlCol="0" anchor="ctr"/>
          <a:lstStyle/>
          <a:p>
            <a:pPr algn="ctr" indent="0" marL="0">
              <a:buNone/>
            </a:pPr>
            <a:r>
              <a:rPr lang="en-US" sz="1500" b="1" dirty="0">
                <a:solidFill>
                  <a:srgbClr val="101C26"/>
                </a:solidFill>
                <a:latin typeface="Calibri" pitchFamily="34" charset="0"/>
                <a:ea typeface="Calibri" pitchFamily="34" charset="-122"/>
                <a:cs typeface="Calibri" pitchFamily="34" charset="-120"/>
              </a:rPr>
              <a:t>FORWARD</a:t>
            </a:r>
            <a:endParaRPr lang="en-US" sz="1500" dirty="0"/>
          </a:p>
        </p:txBody>
      </p:sp>
      <p:sp>
        <p:nvSpPr>
          <p:cNvPr id="8" name="Shape 6"/>
          <p:cNvSpPr/>
          <p:nvPr/>
        </p:nvSpPr>
        <p:spPr>
          <a:xfrm>
            <a:off x="1051560" y="4425696"/>
            <a:ext cx="2103120" cy="658368"/>
          </a:xfrm>
          <a:prstGeom prst="roundRect">
            <a:avLst>
              <a:gd name="adj" fmla="val 12500"/>
            </a:avLst>
          </a:prstGeom>
          <a:solidFill>
            <a:srgbClr val="EDF2F6"/>
          </a:solidFill>
          <a:ln w="19050">
            <a:solidFill>
              <a:srgbClr val="D0DAE3"/>
            </a:solidFill>
            <a:prstDash val="solid"/>
          </a:ln>
        </p:spPr>
      </p:sp>
      <p:sp>
        <p:nvSpPr>
          <p:cNvPr id="9" name="Text 7"/>
          <p:cNvSpPr txBox="1"/>
          <p:nvPr/>
        </p:nvSpPr>
        <p:spPr>
          <a:xfrm>
            <a:off x="1051560" y="4425696"/>
            <a:ext cx="2103120" cy="658368"/>
          </a:xfrm>
          <a:prstGeom prst="rect">
            <a:avLst/>
          </a:prstGeom>
          <a:noFill/>
          <a:ln/>
        </p:spPr>
        <p:txBody>
          <a:bodyPr wrap="square" lIns="0" tIns="0" rIns="0" bIns="0" rtlCol="0" anchor="ctr"/>
          <a:lstStyle/>
          <a:p>
            <a:pPr algn="ctr" indent="0" marL="0">
              <a:buNone/>
            </a:pPr>
            <a:r>
              <a:rPr lang="en-US" sz="1500" b="1" dirty="0">
                <a:solidFill>
                  <a:srgbClr val="101C26"/>
                </a:solidFill>
                <a:latin typeface="Calibri" pitchFamily="34" charset="0"/>
                <a:ea typeface="Calibri" pitchFamily="34" charset="-122"/>
                <a:cs typeface="Calibri" pitchFamily="34" charset="-120"/>
              </a:rPr>
              <a:t>DRAINING</a:t>
            </a:r>
            <a:endParaRPr lang="en-US" sz="1500" dirty="0"/>
          </a:p>
        </p:txBody>
      </p:sp>
      <p:sp>
        <p:nvSpPr>
          <p:cNvPr id="10" name="Shape 8"/>
          <p:cNvSpPr/>
          <p:nvPr/>
        </p:nvSpPr>
        <p:spPr>
          <a:xfrm>
            <a:off x="2103120" y="2487168"/>
            <a:ext cx="0" cy="640080"/>
          </a:xfrm>
          <a:prstGeom prst="line">
            <a:avLst/>
          </a:prstGeom>
          <a:noFill/>
          <a:ln w="25400">
            <a:solidFill>
              <a:srgbClr val="F2A104"/>
            </a:solidFill>
            <a:prstDash val="solid"/>
            <a:tailEnd type="triangle"/>
          </a:ln>
        </p:spPr>
      </p:sp>
      <p:sp>
        <p:nvSpPr>
          <p:cNvPr id="11" name="Shape 9"/>
          <p:cNvSpPr/>
          <p:nvPr/>
        </p:nvSpPr>
        <p:spPr>
          <a:xfrm>
            <a:off x="2103120" y="3785616"/>
            <a:ext cx="0" cy="640080"/>
          </a:xfrm>
          <a:prstGeom prst="line">
            <a:avLst/>
          </a:prstGeom>
          <a:noFill/>
          <a:ln w="25400">
            <a:solidFill>
              <a:srgbClr val="F2A104"/>
            </a:solidFill>
            <a:prstDash val="solid"/>
            <a:tailEnd type="triangle"/>
          </a:ln>
        </p:spPr>
      </p:sp>
      <p:sp>
        <p:nvSpPr>
          <p:cNvPr id="12" name="Text 10"/>
          <p:cNvSpPr txBox="1"/>
          <p:nvPr/>
        </p:nvSpPr>
        <p:spPr>
          <a:xfrm>
            <a:off x="2286000" y="2551176"/>
            <a:ext cx="3200400" cy="548640"/>
          </a:xfrm>
          <a:prstGeom prst="rect">
            <a:avLst/>
          </a:prstGeom>
          <a:noFill/>
          <a:ln/>
        </p:spPr>
        <p:txBody>
          <a:bodyPr wrap="square" lIns="0" tIns="0" rIns="0" bIns="0" rtlCol="0" anchor="t"/>
          <a:lstStyle/>
          <a:p>
            <a:pPr algn="l" indent="0" marL="0">
              <a:lnSpc>
                <a:spcPts val="1500"/>
              </a:lnSpc>
              <a:buNone/>
            </a:pPr>
            <a:r>
              <a:rPr lang="en-US" sz="1150" dirty="0">
                <a:solidFill>
                  <a:srgbClr val="6C7C8A"/>
                </a:solidFill>
                <a:latin typeface="Calibri" pitchFamily="34" charset="0"/>
                <a:ea typeface="Calibri" pitchFamily="34" charset="-122"/>
                <a:cs typeface="Calibri" pitchFamily="34" charset="-120"/>
              </a:rPr>
              <a:t>the demand imbalance leaves the ±τ</a:t>
            </a:r>
            <a:endParaRPr lang="en-US" sz="1150" dirty="0"/>
          </a:p>
          <a:p>
            <a:pPr algn="l" indent="0" marL="0">
              <a:lnSpc>
                <a:spcPts val="1500"/>
              </a:lnSpc>
              <a:buNone/>
            </a:pPr>
            <a:r>
              <a:rPr lang="en-US" sz="1150" dirty="0">
                <a:solidFill>
                  <a:srgbClr val="6C7C8A"/>
                </a:solidFill>
                <a:latin typeface="Calibri" pitchFamily="34" charset="0"/>
                <a:ea typeface="Calibri" pitchFamily="34" charset="-122"/>
                <a:cs typeface="Calibri" pitchFamily="34" charset="-120"/>
              </a:rPr>
              <a:t>dead band and the lock has expired</a:t>
            </a:r>
            <a:endParaRPr lang="en-US" sz="1150" dirty="0"/>
          </a:p>
        </p:txBody>
      </p:sp>
      <p:sp>
        <p:nvSpPr>
          <p:cNvPr id="13" name="Text 11"/>
          <p:cNvSpPr txBox="1"/>
          <p:nvPr/>
        </p:nvSpPr>
        <p:spPr>
          <a:xfrm>
            <a:off x="2286000" y="3922776"/>
            <a:ext cx="3200400" cy="365760"/>
          </a:xfrm>
          <a:prstGeom prst="rect">
            <a:avLst/>
          </a:prstGeom>
          <a:noFill/>
          <a:ln/>
        </p:spPr>
        <p:txBody>
          <a:bodyPr wrap="square" lIns="0" tIns="0" rIns="0" bIns="0" rtlCol="0" anchor="t"/>
          <a:lstStyle/>
          <a:p>
            <a:pPr algn="l" indent="0" marL="0">
              <a:lnSpc>
                <a:spcPts val="1518"/>
              </a:lnSpc>
              <a:buNone/>
            </a:pPr>
            <a:r>
              <a:rPr lang="en-US" sz="1150" dirty="0">
                <a:solidFill>
                  <a:srgbClr val="6C7C8A"/>
                </a:solidFill>
                <a:latin typeface="Calibri" pitchFamily="34" charset="0"/>
                <a:ea typeface="Calibri" pitchFamily="34" charset="-122"/>
                <a:cs typeface="Calibri" pitchFamily="34" charset="-120"/>
              </a:rPr>
              <a:t>opposing demand, or T_max expires</a:t>
            </a:r>
            <a:endParaRPr lang="en-US" sz="1150" dirty="0"/>
          </a:p>
        </p:txBody>
      </p:sp>
      <p:sp>
        <p:nvSpPr>
          <p:cNvPr id="14" name="Shape 12"/>
          <p:cNvSpPr/>
          <p:nvPr/>
        </p:nvSpPr>
        <p:spPr>
          <a:xfrm>
            <a:off x="658368" y="4754880"/>
            <a:ext cx="393192" cy="0"/>
          </a:xfrm>
          <a:prstGeom prst="line">
            <a:avLst/>
          </a:prstGeom>
          <a:noFill/>
          <a:ln w="25400">
            <a:solidFill>
              <a:srgbClr val="F2A104"/>
            </a:solidFill>
            <a:prstDash val="solid"/>
          </a:ln>
        </p:spPr>
      </p:sp>
      <p:sp>
        <p:nvSpPr>
          <p:cNvPr id="15" name="Shape 13"/>
          <p:cNvSpPr/>
          <p:nvPr/>
        </p:nvSpPr>
        <p:spPr>
          <a:xfrm>
            <a:off x="658368" y="2157984"/>
            <a:ext cx="0" cy="2596896"/>
          </a:xfrm>
          <a:prstGeom prst="line">
            <a:avLst/>
          </a:prstGeom>
          <a:noFill/>
          <a:ln w="25400">
            <a:solidFill>
              <a:srgbClr val="F2A104"/>
            </a:solidFill>
            <a:prstDash val="solid"/>
          </a:ln>
        </p:spPr>
      </p:sp>
      <p:sp>
        <p:nvSpPr>
          <p:cNvPr id="16" name="Shape 14"/>
          <p:cNvSpPr/>
          <p:nvPr/>
        </p:nvSpPr>
        <p:spPr>
          <a:xfrm>
            <a:off x="658368" y="2157984"/>
            <a:ext cx="393192" cy="0"/>
          </a:xfrm>
          <a:prstGeom prst="line">
            <a:avLst/>
          </a:prstGeom>
          <a:noFill/>
          <a:ln w="25400">
            <a:solidFill>
              <a:srgbClr val="F2A104"/>
            </a:solidFill>
            <a:prstDash val="solid"/>
            <a:tailEnd type="triangle"/>
          </a:ln>
        </p:spPr>
      </p:sp>
      <p:sp>
        <p:nvSpPr>
          <p:cNvPr id="17" name="Text 15"/>
          <p:cNvSpPr txBox="1"/>
          <p:nvPr/>
        </p:nvSpPr>
        <p:spPr>
          <a:xfrm>
            <a:off x="2286000" y="4590288"/>
            <a:ext cx="3200400" cy="548640"/>
          </a:xfrm>
          <a:prstGeom prst="rect">
            <a:avLst/>
          </a:prstGeom>
          <a:noFill/>
          <a:ln/>
        </p:spPr>
        <p:txBody>
          <a:bodyPr wrap="square" lIns="0" tIns="0" rIns="0" bIns="0" rtlCol="0" anchor="t"/>
          <a:lstStyle/>
          <a:p>
            <a:pPr algn="l" indent="0" marL="0">
              <a:lnSpc>
                <a:spcPts val="1500"/>
              </a:lnSpc>
              <a:buNone/>
            </a:pPr>
            <a:r>
              <a:rPr lang="en-US" sz="1150" dirty="0">
                <a:solidFill>
                  <a:srgbClr val="6C7C8A"/>
                </a:solidFill>
                <a:latin typeface="Calibri" pitchFamily="34" charset="0"/>
                <a:ea typeface="Calibri" pitchFamily="34" charset="-122"/>
                <a:cs typeface="Calibri" pitchFamily="34" charset="-120"/>
              </a:rPr>
              <a:t>occupancy reaches zero — the aisle then</a:t>
            </a:r>
            <a:endParaRPr lang="en-US" sz="1150" dirty="0"/>
          </a:p>
          <a:p>
            <a:pPr algn="l" indent="0" marL="0">
              <a:lnSpc>
                <a:spcPts val="1500"/>
              </a:lnSpc>
              <a:buNone/>
            </a:pPr>
            <a:r>
              <a:rPr lang="en-US" sz="1150" dirty="0">
                <a:solidFill>
                  <a:srgbClr val="6C7C8A"/>
                </a:solidFill>
                <a:latin typeface="Calibri" pitchFamily="34" charset="0"/>
                <a:ea typeface="Calibri" pitchFamily="34" charset="-122"/>
                <a:cs typeface="Calibri" pitchFamily="34" charset="-120"/>
              </a:rPr>
              <a:t>commits the direction that asked for the drain</a:t>
            </a:r>
            <a:endParaRPr lang="en-US" sz="1150" dirty="0"/>
          </a:p>
        </p:txBody>
      </p:sp>
      <p:sp>
        <p:nvSpPr>
          <p:cNvPr id="18" name="Text 16"/>
          <p:cNvSpPr txBox="1"/>
          <p:nvPr/>
        </p:nvSpPr>
        <p:spPr>
          <a:xfrm>
            <a:off x="658368" y="5532120"/>
            <a:ext cx="5669280" cy="365760"/>
          </a:xfrm>
          <a:prstGeom prst="rect">
            <a:avLst/>
          </a:prstGeom>
          <a:noFill/>
          <a:ln/>
        </p:spPr>
        <p:txBody>
          <a:bodyPr wrap="square" lIns="0" tIns="0" rIns="0" bIns="0" rtlCol="0" anchor="t"/>
          <a:lstStyle/>
          <a:p>
            <a:pPr algn="l" indent="0" marL="0">
              <a:lnSpc>
                <a:spcPts val="1518"/>
              </a:lnSpc>
              <a:buNone/>
            </a:pPr>
            <a:r>
              <a:rPr lang="en-US" sz="1150" i="1" dirty="0">
                <a:solidFill>
                  <a:srgbClr val="6C7C8A"/>
                </a:solidFill>
                <a:latin typeface="Calibri" pitchFamily="34" charset="0"/>
                <a:ea typeface="Calibri" pitchFamily="34" charset="-122"/>
                <a:cs typeface="Calibri" pitchFamily="34" charset="-120"/>
              </a:rPr>
              <a:t>REVERSE is the exact mirror of FORWARD, with the sign of the imbalance flipped.</a:t>
            </a:r>
            <a:endParaRPr lang="en-US" sz="1150" dirty="0"/>
          </a:p>
        </p:txBody>
      </p:sp>
      <p:sp>
        <p:nvSpPr>
          <p:cNvPr id="19" name="Shape 17"/>
          <p:cNvSpPr/>
          <p:nvPr/>
        </p:nvSpPr>
        <p:spPr>
          <a:xfrm>
            <a:off x="6355080" y="1691640"/>
            <a:ext cx="5285232" cy="2240280"/>
          </a:xfrm>
          <a:prstGeom prst="roundRect">
            <a:avLst>
              <a:gd name="adj" fmla="val 3673"/>
            </a:avLst>
          </a:prstGeom>
          <a:solidFill>
            <a:srgbClr val="EDF2F6"/>
          </a:solidFill>
          <a:ln w="12700">
            <a:solidFill>
              <a:srgbClr val="EDF2F6"/>
            </a:solidFill>
            <a:prstDash val="solid"/>
          </a:ln>
          <a:effectLst>
            <a:outerShdw sx="100000" sy="100000" kx="0" ky="0" algn="bl" rotWithShape="0" blurRad="127000" dist="25400" dir="5400000">
              <a:srgbClr val="0B1620">
                <a:alpha val="13000"/>
              </a:srgbClr>
            </a:outerShdw>
          </a:effectLst>
        </p:spPr>
      </p:sp>
      <p:sp>
        <p:nvSpPr>
          <p:cNvPr id="20" name="Text 18"/>
          <p:cNvSpPr txBox="1"/>
          <p:nvPr/>
        </p:nvSpPr>
        <p:spPr>
          <a:xfrm>
            <a:off x="6656832" y="1901952"/>
            <a:ext cx="4663440" cy="329184"/>
          </a:xfrm>
          <a:prstGeom prst="rect">
            <a:avLst/>
          </a:prstGeom>
          <a:noFill/>
          <a:ln/>
        </p:spPr>
        <p:txBody>
          <a:bodyPr wrap="square" lIns="0" tIns="0" rIns="0" bIns="0" rtlCol="0" anchor="ctr"/>
          <a:lstStyle/>
          <a:p>
            <a:pPr indent="0" marL="0">
              <a:buNone/>
            </a:pPr>
            <a:r>
              <a:rPr lang="en-US" sz="1800" b="1" dirty="0">
                <a:solidFill>
                  <a:srgbClr val="101C26"/>
                </a:solidFill>
                <a:latin typeface="Cambria" pitchFamily="34" charset="0"/>
                <a:ea typeface="Cambria" pitchFamily="34" charset="-122"/>
                <a:cs typeface="Cambria" pitchFamily="34" charset="-120"/>
              </a:rPr>
              <a:t>Two clocks, not one</a:t>
            </a:r>
            <a:endParaRPr lang="en-US" sz="1800" dirty="0"/>
          </a:p>
        </p:txBody>
      </p:sp>
      <p:sp>
        <p:nvSpPr>
          <p:cNvPr id="21" name="Text 19"/>
          <p:cNvSpPr txBox="1"/>
          <p:nvPr/>
        </p:nvSpPr>
        <p:spPr>
          <a:xfrm>
            <a:off x="6656832" y="2331720"/>
            <a:ext cx="4709160" cy="1508760"/>
          </a:xfrm>
          <a:prstGeom prst="rect">
            <a:avLst/>
          </a:prstGeom>
          <a:noFill/>
          <a:ln/>
        </p:spPr>
        <p:txBody>
          <a:bodyPr wrap="square" lIns="0" tIns="0" rIns="0" bIns="0" rtlCol="0" anchor="t"/>
          <a:lstStyle/>
          <a:p>
            <a:pPr marL="177800" indent="-177800">
              <a:lnSpc>
                <a:spcPts val="1550"/>
              </a:lnSpc>
              <a:spcAft>
                <a:spcPts val="700"/>
              </a:spcAft>
              <a:buSzPct val="100000"/>
              <a:buChar char="•"/>
            </a:pPr>
            <a:r>
              <a:rPr lang="en-US" sz="1200" dirty="0">
                <a:solidFill>
                  <a:srgbClr val="2C3E4D"/>
                </a:solidFill>
                <a:latin typeface="Calibri" pitchFamily="34" charset="0"/>
                <a:ea typeface="Calibri" pitchFamily="34" charset="-122"/>
                <a:cs typeface="Calibri" pitchFamily="34" charset="-120"/>
              </a:rPr>
              <a:t>Each robot contributes weighted demand for FORWARD or REVERSE in the aisle it is about to enter.</a:t>
            </a:r>
            <a:endParaRPr lang="en-US" sz="1200" dirty="0"/>
          </a:p>
          <a:p>
            <a:pPr marL="177800" indent="-177800">
              <a:lnSpc>
                <a:spcPts val="1550"/>
              </a:lnSpc>
              <a:spcAft>
                <a:spcPts val="700"/>
              </a:spcAft>
              <a:buSzPct val="100000"/>
              <a:buChar char="•"/>
            </a:pPr>
            <a:r>
              <a:rPr lang="en-US" sz="1200" dirty="0">
                <a:solidFill>
                  <a:srgbClr val="2C3E4D"/>
                </a:solidFill>
                <a:latin typeface="Calibri" pitchFamily="34" charset="0"/>
                <a:ea typeface="Calibri" pitchFamily="34" charset="-122"/>
                <a:cs typeface="Calibri" pitchFamily="34" charset="-120"/>
              </a:rPr>
              <a:t>Minimum green: locked for T_min steps, and flips only outside a ±τ dead band, so it cannot flap.</a:t>
            </a:r>
            <a:endParaRPr lang="en-US" sz="1200" dirty="0"/>
          </a:p>
          <a:p>
            <a:pPr marL="177800" indent="-177800">
              <a:lnSpc>
                <a:spcPts val="1550"/>
              </a:lnSpc>
              <a:spcAft>
                <a:spcPts val="700"/>
              </a:spcAft>
              <a:buSzPct val="100000"/>
              <a:buChar char="•"/>
            </a:pPr>
            <a:r>
              <a:rPr lang="en-US" sz="1200" dirty="0">
                <a:solidFill>
                  <a:srgbClr val="2C3E4D"/>
                </a:solidFill>
                <a:latin typeface="Calibri" pitchFamily="34" charset="0"/>
                <a:ea typeface="Calibri" pitchFamily="34" charset="-122"/>
                <a:cs typeface="Calibri" pitchFamily="34" charset="-120"/>
              </a:rPr>
              <a:t>Maximum green: past T_max, opposing demand forces a flip. Without it a balanced aisle starves.</a:t>
            </a:r>
            <a:endParaRPr lang="en-US" sz="1200" dirty="0"/>
          </a:p>
        </p:txBody>
      </p:sp>
      <p:sp>
        <p:nvSpPr>
          <p:cNvPr id="22" name="Shape 20"/>
          <p:cNvSpPr/>
          <p:nvPr/>
        </p:nvSpPr>
        <p:spPr>
          <a:xfrm>
            <a:off x="6355080" y="4069080"/>
            <a:ext cx="5285232" cy="2240280"/>
          </a:xfrm>
          <a:prstGeom prst="roundRect">
            <a:avLst>
              <a:gd name="adj" fmla="val 3673"/>
            </a:avLst>
          </a:prstGeom>
          <a:solidFill>
            <a:srgbClr val="1D3346"/>
          </a:solidFill>
          <a:ln w="12700">
            <a:solidFill>
              <a:srgbClr val="1D3346"/>
            </a:solidFill>
            <a:prstDash val="solid"/>
          </a:ln>
          <a:effectLst>
            <a:outerShdw sx="100000" sy="100000" kx="0" ky="0" algn="bl" rotWithShape="0" blurRad="127000" dist="25400" dir="5400000">
              <a:srgbClr val="0B1620">
                <a:alpha val="13000"/>
              </a:srgbClr>
            </a:outerShdw>
          </a:effectLst>
        </p:spPr>
      </p:sp>
      <p:sp>
        <p:nvSpPr>
          <p:cNvPr id="23" name="Text 21"/>
          <p:cNvSpPr txBox="1"/>
          <p:nvPr/>
        </p:nvSpPr>
        <p:spPr>
          <a:xfrm>
            <a:off x="6656832" y="4279392"/>
            <a:ext cx="4663440" cy="329184"/>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Entry reservations</a:t>
            </a:r>
            <a:endParaRPr lang="en-US" sz="1800" dirty="0"/>
          </a:p>
        </p:txBody>
      </p:sp>
      <p:sp>
        <p:nvSpPr>
          <p:cNvPr id="24" name="Text 22"/>
          <p:cNvSpPr txBox="1"/>
          <p:nvPr/>
        </p:nvSpPr>
        <p:spPr>
          <a:xfrm>
            <a:off x="6656832" y="4709160"/>
            <a:ext cx="4709160" cy="1508760"/>
          </a:xfrm>
          <a:prstGeom prst="rect">
            <a:avLst/>
          </a:prstGeom>
          <a:noFill/>
          <a:ln/>
        </p:spPr>
        <p:txBody>
          <a:bodyPr wrap="square" lIns="0" tIns="0" rIns="0" bIns="0" rtlCol="0" anchor="t"/>
          <a:lstStyle/>
          <a:p>
            <a:pPr marL="177800" indent="-177800">
              <a:lnSpc>
                <a:spcPts val="1550"/>
              </a:lnSpc>
              <a:spcAft>
                <a:spcPts val="700"/>
              </a:spcAft>
              <a:buSzPct val="100000"/>
              <a:buChar char="•"/>
            </a:pPr>
            <a:r>
              <a:rPr lang="en-US" sz="1200" dirty="0">
                <a:solidFill>
                  <a:srgbClr val="C6D5E0"/>
                </a:solidFill>
                <a:latin typeface="Calibri" pitchFamily="34" charset="0"/>
                <a:ea typeface="Calibri" pitchFamily="34" charset="-122"/>
                <a:cs typeface="Calibri" pitchFamily="34" charset="-120"/>
              </a:rPr>
              <a:t>A robot at an entrance gets a ticket only if occupancy plus pending tickets stay under capacity.</a:t>
            </a:r>
            <a:endParaRPr lang="en-US" sz="1200" dirty="0"/>
          </a:p>
          <a:p>
            <a:pPr marL="177800" indent="-177800">
              <a:lnSpc>
                <a:spcPts val="1550"/>
              </a:lnSpc>
              <a:spcAft>
                <a:spcPts val="700"/>
              </a:spcAft>
              <a:buSzPct val="100000"/>
              <a:buChar char="•"/>
            </a:pPr>
            <a:r>
              <a:rPr lang="en-US" sz="1200" dirty="0">
                <a:solidFill>
                  <a:srgbClr val="C6D5E0"/>
                </a:solidFill>
                <a:latin typeface="Calibri" pitchFamily="34" charset="0"/>
                <a:ea typeface="Calibri" pitchFamily="34" charset="-122"/>
                <a:cs typeface="Calibri" pitchFamily="34" charset="-120"/>
              </a:rPr>
              <a:t>Tickets expire after 15 steps, so a stalled robot cannot hold a corridor hostage.</a:t>
            </a:r>
            <a:endParaRPr lang="en-US" sz="1200" dirty="0"/>
          </a:p>
          <a:p>
            <a:pPr marL="177800" indent="-177800">
              <a:lnSpc>
                <a:spcPts val="1550"/>
              </a:lnSpc>
              <a:spcAft>
                <a:spcPts val="700"/>
              </a:spcAft>
              <a:buSzPct val="100000"/>
              <a:buChar char="•"/>
            </a:pPr>
            <a:r>
              <a:rPr lang="en-US" sz="1200" dirty="0">
                <a:solidFill>
                  <a:srgbClr val="C6D5E0"/>
                </a:solidFill>
                <a:latin typeface="Calibri" pitchFamily="34" charset="0"/>
                <a:ea typeface="Calibri" pitchFamily="34" charset="-122"/>
                <a:cs typeface="Calibri" pitchFamily="34" charset="-120"/>
              </a:rPr>
              <a:t>Direction restricts entry, not interior movement — and it is priced, not enforced.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515600" cy="237744"/>
          </a:xfrm>
          <a:prstGeom prst="rect">
            <a:avLst/>
          </a:prstGeom>
          <a:noFill/>
          <a:ln/>
        </p:spPr>
        <p:txBody>
          <a:bodyPr wrap="square" lIns="0" tIns="0" rIns="0" bIns="0" rtlCol="0" anchor="ctr"/>
          <a:lstStyle/>
          <a:p>
            <a:pPr indent="0" marL="0">
              <a:buNone/>
            </a:pPr>
            <a:r>
              <a:rPr lang="en-US" sz="1150" b="1" spc="220" kern="0" dirty="0">
                <a:solidFill>
                  <a:srgbClr val="F2A104"/>
                </a:solidFill>
                <a:latin typeface="Calibri" pitchFamily="34" charset="0"/>
                <a:ea typeface="Calibri" pitchFamily="34" charset="-122"/>
                <a:cs typeface="Calibri" pitchFamily="34" charset="-120"/>
              </a:rPr>
              <a:t>HOW, PART 3</a:t>
            </a:r>
            <a:endParaRPr lang="en-US" sz="1150" dirty="0"/>
          </a:p>
        </p:txBody>
      </p:sp>
      <p:sp>
        <p:nvSpPr>
          <p:cNvPr id="3" name="Text 1"/>
          <p:cNvSpPr txBox="1"/>
          <p:nvPr/>
        </p:nvSpPr>
        <p:spPr>
          <a:xfrm>
            <a:off x="548640" y="658368"/>
            <a:ext cx="10607040" cy="658368"/>
          </a:xfrm>
          <a:prstGeom prst="rect">
            <a:avLst/>
          </a:prstGeom>
          <a:noFill/>
          <a:ln/>
        </p:spPr>
        <p:txBody>
          <a:bodyPr wrap="square" lIns="0" tIns="0" rIns="0" bIns="0" rtlCol="0" anchor="ctr"/>
          <a:lstStyle/>
          <a:p>
            <a:pPr indent="0" marL="0">
              <a:buNone/>
            </a:pPr>
            <a:r>
              <a:rPr lang="en-US" sz="3400" b="1" dirty="0">
                <a:solidFill>
                  <a:srgbClr val="101C26"/>
                </a:solidFill>
                <a:latin typeface="Cambria" pitchFamily="34" charset="0"/>
                <a:ea typeface="Cambria" pitchFamily="34" charset="-122"/>
                <a:cs typeface="Cambria" pitchFamily="34" charset="-120"/>
              </a:rPr>
              <a:t>Seven levels of recovery, on a corroborated signal</a:t>
            </a:r>
            <a:endParaRPr lang="en-US" sz="3400" dirty="0"/>
          </a:p>
        </p:txBody>
      </p:sp>
      <p:sp>
        <p:nvSpPr>
          <p:cNvPr id="4" name="Text 2"/>
          <p:cNvSpPr txBox="1"/>
          <p:nvPr/>
        </p:nvSpPr>
        <p:spPr>
          <a:xfrm>
            <a:off x="548640" y="1664208"/>
            <a:ext cx="11064240" cy="640080"/>
          </a:xfrm>
          <a:prstGeom prst="rect">
            <a:avLst/>
          </a:prstGeom>
          <a:noFill/>
          <a:ln/>
        </p:spPr>
        <p:txBody>
          <a:bodyPr wrap="square" lIns="0" tIns="0" rIns="0" bIns="0" rtlCol="0" anchor="t"/>
          <a:lstStyle/>
          <a:p>
            <a:pPr algn="l" indent="0" marL="0">
              <a:lnSpc>
                <a:spcPts val="2000"/>
              </a:lnSpc>
              <a:buNone/>
            </a:pPr>
            <a:r>
              <a:rPr lang="en-US" sz="1400" dirty="0">
                <a:solidFill>
                  <a:srgbClr val="2C3E4D"/>
                </a:solidFill>
                <a:latin typeface="Calibri" pitchFamily="34" charset="0"/>
                <a:ea typeface="Calibri" pitchFamily="34" charset="-122"/>
                <a:cs typeface="Calibri" pitchFamily="34" charset="-120"/>
              </a:rPr>
              <a:t>Recovery exists for the stalls the one-step planner cannot resolve on its own. What it must not do is fire on ordinary queueing — in dense lifelong traffic a robot waits t_blocked steps as a matter of course, and levels 5-7 are destructive when nothing is actually stuck.</a:t>
            </a:r>
            <a:endParaRPr lang="en-US" sz="1400" dirty="0"/>
          </a:p>
        </p:txBody>
      </p:sp>
      <p:sp>
        <p:nvSpPr>
          <p:cNvPr id="5" name="Shape 3"/>
          <p:cNvSpPr/>
          <p:nvPr/>
        </p:nvSpPr>
        <p:spPr>
          <a:xfrm>
            <a:off x="548640" y="2487168"/>
            <a:ext cx="5349240" cy="548640"/>
          </a:xfrm>
          <a:prstGeom prst="roundRect">
            <a:avLst>
              <a:gd name="adj" fmla="val 13333"/>
            </a:avLst>
          </a:prstGeom>
          <a:solidFill>
            <a:srgbClr val="EDF2F6"/>
          </a:solidFill>
          <a:ln/>
        </p:spPr>
      </p:sp>
      <p:sp>
        <p:nvSpPr>
          <p:cNvPr id="6" name="Shape 4"/>
          <p:cNvSpPr/>
          <p:nvPr/>
        </p:nvSpPr>
        <p:spPr>
          <a:xfrm>
            <a:off x="694944" y="2587752"/>
            <a:ext cx="347472" cy="347472"/>
          </a:xfrm>
          <a:prstGeom prst="ellipse">
            <a:avLst/>
          </a:prstGeom>
          <a:solidFill>
            <a:srgbClr val="F2A104"/>
          </a:solidFill>
          <a:ln/>
        </p:spPr>
      </p:sp>
      <p:sp>
        <p:nvSpPr>
          <p:cNvPr id="7" name="Text 5"/>
          <p:cNvSpPr txBox="1"/>
          <p:nvPr/>
        </p:nvSpPr>
        <p:spPr>
          <a:xfrm>
            <a:off x="694944" y="2587752"/>
            <a:ext cx="347472" cy="347472"/>
          </a:xfrm>
          <a:prstGeom prst="rect">
            <a:avLst/>
          </a:prstGeom>
          <a:noFill/>
          <a:ln/>
        </p:spPr>
        <p:txBody>
          <a:bodyPr wrap="square" lIns="0" tIns="0" rIns="0" bIns="0" rtlCol="0" anchor="ctr"/>
          <a:lstStyle/>
          <a:p>
            <a:pPr algn="ctr" indent="0" marL="0">
              <a:buNone/>
            </a:pPr>
            <a:r>
              <a:rPr lang="en-US" sz="1300" b="1" dirty="0">
                <a:solidFill>
                  <a:srgbClr val="101C26"/>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170432" y="2487168"/>
            <a:ext cx="4572000" cy="548640"/>
          </a:xfrm>
          <a:prstGeom prst="rect">
            <a:avLst/>
          </a:prstGeom>
          <a:noFill/>
          <a:ln/>
        </p:spPr>
        <p:txBody>
          <a:bodyPr wrap="square" lIns="0" tIns="0" rIns="0" bIns="0" rtlCol="0" anchor="ctr"/>
          <a:lstStyle/>
          <a:p>
            <a:pPr indent="0" marL="0">
              <a:buNone/>
            </a:pPr>
            <a:r>
              <a:rPr lang="en-US" sz="1300" dirty="0">
                <a:solidFill>
                  <a:srgbClr val="2C3E4D"/>
                </a:solidFill>
                <a:latin typeface="Calibri" pitchFamily="34" charset="0"/>
                <a:ea typeface="Calibri" pitchFamily="34" charset="-122"/>
                <a:cs typeface="Calibri" pitchFamily="34" charset="-120"/>
              </a:rPr>
              <a:t>Recompute routes from scratch</a:t>
            </a:r>
            <a:endParaRPr lang="en-US" sz="1300" dirty="0"/>
          </a:p>
        </p:txBody>
      </p:sp>
      <p:sp>
        <p:nvSpPr>
          <p:cNvPr id="9" name="Shape 7"/>
          <p:cNvSpPr/>
          <p:nvPr/>
        </p:nvSpPr>
        <p:spPr>
          <a:xfrm>
            <a:off x="548640" y="3145536"/>
            <a:ext cx="5349240" cy="548640"/>
          </a:xfrm>
          <a:prstGeom prst="roundRect">
            <a:avLst>
              <a:gd name="adj" fmla="val 13333"/>
            </a:avLst>
          </a:prstGeom>
          <a:solidFill>
            <a:srgbClr val="EDF2F6"/>
          </a:solidFill>
          <a:ln/>
        </p:spPr>
      </p:sp>
      <p:sp>
        <p:nvSpPr>
          <p:cNvPr id="10" name="Shape 8"/>
          <p:cNvSpPr/>
          <p:nvPr/>
        </p:nvSpPr>
        <p:spPr>
          <a:xfrm>
            <a:off x="694944" y="3246120"/>
            <a:ext cx="347472" cy="347472"/>
          </a:xfrm>
          <a:prstGeom prst="ellipse">
            <a:avLst/>
          </a:prstGeom>
          <a:solidFill>
            <a:srgbClr val="F2A104"/>
          </a:solidFill>
          <a:ln/>
        </p:spPr>
      </p:sp>
      <p:sp>
        <p:nvSpPr>
          <p:cNvPr id="11" name="Text 9"/>
          <p:cNvSpPr txBox="1"/>
          <p:nvPr/>
        </p:nvSpPr>
        <p:spPr>
          <a:xfrm>
            <a:off x="694944" y="3246120"/>
            <a:ext cx="347472" cy="347472"/>
          </a:xfrm>
          <a:prstGeom prst="rect">
            <a:avLst/>
          </a:prstGeom>
          <a:noFill/>
          <a:ln/>
        </p:spPr>
        <p:txBody>
          <a:bodyPr wrap="square" lIns="0" tIns="0" rIns="0" bIns="0" rtlCol="0" anchor="ctr"/>
          <a:lstStyle/>
          <a:p>
            <a:pPr algn="ctr" indent="0" marL="0">
              <a:buNone/>
            </a:pPr>
            <a:r>
              <a:rPr lang="en-US" sz="1300" b="1" dirty="0">
                <a:solidFill>
                  <a:srgbClr val="101C26"/>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170432" y="3145536"/>
            <a:ext cx="4572000" cy="548640"/>
          </a:xfrm>
          <a:prstGeom prst="rect">
            <a:avLst/>
          </a:prstGeom>
          <a:noFill/>
          <a:ln/>
        </p:spPr>
        <p:txBody>
          <a:bodyPr wrap="square" lIns="0" tIns="0" rIns="0" bIns="0" rtlCol="0" anchor="ctr"/>
          <a:lstStyle/>
          <a:p>
            <a:pPr indent="0" marL="0">
              <a:buNone/>
            </a:pPr>
            <a:r>
              <a:rPr lang="en-US" sz="1300" dirty="0">
                <a:solidFill>
                  <a:srgbClr val="2C3E4D"/>
                </a:solidFill>
                <a:latin typeface="Calibri" pitchFamily="34" charset="0"/>
                <a:ea typeface="Calibri" pitchFamily="34" charset="-122"/>
                <a:cs typeface="Calibri" pitchFamily="34" charset="-120"/>
              </a:rPr>
              <a:t>Unlock and re-decide the affected aisles</a:t>
            </a:r>
            <a:endParaRPr lang="en-US" sz="1300" dirty="0"/>
          </a:p>
        </p:txBody>
      </p:sp>
      <p:sp>
        <p:nvSpPr>
          <p:cNvPr id="13" name="Shape 11"/>
          <p:cNvSpPr/>
          <p:nvPr/>
        </p:nvSpPr>
        <p:spPr>
          <a:xfrm>
            <a:off x="548640" y="3803904"/>
            <a:ext cx="5349240" cy="548640"/>
          </a:xfrm>
          <a:prstGeom prst="roundRect">
            <a:avLst>
              <a:gd name="adj" fmla="val 13333"/>
            </a:avLst>
          </a:prstGeom>
          <a:solidFill>
            <a:srgbClr val="EDF2F6"/>
          </a:solidFill>
          <a:ln/>
        </p:spPr>
      </p:sp>
      <p:sp>
        <p:nvSpPr>
          <p:cNvPr id="14" name="Shape 12"/>
          <p:cNvSpPr/>
          <p:nvPr/>
        </p:nvSpPr>
        <p:spPr>
          <a:xfrm>
            <a:off x="694944" y="3904488"/>
            <a:ext cx="347472" cy="347472"/>
          </a:xfrm>
          <a:prstGeom prst="ellipse">
            <a:avLst/>
          </a:prstGeom>
          <a:solidFill>
            <a:srgbClr val="F2A104"/>
          </a:solidFill>
          <a:ln/>
        </p:spPr>
      </p:sp>
      <p:sp>
        <p:nvSpPr>
          <p:cNvPr id="15" name="Text 13"/>
          <p:cNvSpPr txBox="1"/>
          <p:nvPr/>
        </p:nvSpPr>
        <p:spPr>
          <a:xfrm>
            <a:off x="694944" y="3904488"/>
            <a:ext cx="347472" cy="347472"/>
          </a:xfrm>
          <a:prstGeom prst="rect">
            <a:avLst/>
          </a:prstGeom>
          <a:noFill/>
          <a:ln/>
        </p:spPr>
        <p:txBody>
          <a:bodyPr wrap="square" lIns="0" tIns="0" rIns="0" bIns="0" rtlCol="0" anchor="ctr"/>
          <a:lstStyle/>
          <a:p>
            <a:pPr algn="ctr" indent="0" marL="0">
              <a:buNone/>
            </a:pPr>
            <a:r>
              <a:rPr lang="en-US" sz="1300" b="1" dirty="0">
                <a:solidFill>
                  <a:srgbClr val="101C26"/>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1170432" y="3803904"/>
            <a:ext cx="4572000" cy="548640"/>
          </a:xfrm>
          <a:prstGeom prst="rect">
            <a:avLst/>
          </a:prstGeom>
          <a:noFill/>
          <a:ln/>
        </p:spPr>
        <p:txBody>
          <a:bodyPr wrap="square" lIns="0" tIns="0" rIns="0" bIns="0" rtlCol="0" anchor="ctr"/>
          <a:lstStyle/>
          <a:p>
            <a:pPr indent="0" marL="0">
              <a:buNone/>
            </a:pPr>
            <a:r>
              <a:rPr lang="en-US" sz="1300" dirty="0">
                <a:solidFill>
                  <a:srgbClr val="2C3E4D"/>
                </a:solidFill>
                <a:latin typeface="Calibri" pitchFamily="34" charset="0"/>
                <a:ea typeface="Calibri" pitchFamily="34" charset="-122"/>
                <a:cs typeface="Calibri" pitchFamily="34" charset="-120"/>
              </a:rPr>
              <a:t>Release stale aisle reservations</a:t>
            </a:r>
            <a:endParaRPr lang="en-US" sz="1300" dirty="0"/>
          </a:p>
        </p:txBody>
      </p:sp>
      <p:sp>
        <p:nvSpPr>
          <p:cNvPr id="17" name="Shape 15"/>
          <p:cNvSpPr/>
          <p:nvPr/>
        </p:nvSpPr>
        <p:spPr>
          <a:xfrm>
            <a:off x="548640" y="4462272"/>
            <a:ext cx="5349240" cy="548640"/>
          </a:xfrm>
          <a:prstGeom prst="roundRect">
            <a:avLst>
              <a:gd name="adj" fmla="val 13333"/>
            </a:avLst>
          </a:prstGeom>
          <a:solidFill>
            <a:srgbClr val="EDF2F6"/>
          </a:solidFill>
          <a:ln/>
        </p:spPr>
      </p:sp>
      <p:sp>
        <p:nvSpPr>
          <p:cNvPr id="18" name="Shape 16"/>
          <p:cNvSpPr/>
          <p:nvPr/>
        </p:nvSpPr>
        <p:spPr>
          <a:xfrm>
            <a:off x="694944" y="4562856"/>
            <a:ext cx="347472" cy="347472"/>
          </a:xfrm>
          <a:prstGeom prst="ellipse">
            <a:avLst/>
          </a:prstGeom>
          <a:solidFill>
            <a:srgbClr val="F2A104"/>
          </a:solidFill>
          <a:ln/>
        </p:spPr>
      </p:sp>
      <p:sp>
        <p:nvSpPr>
          <p:cNvPr id="19" name="Text 17"/>
          <p:cNvSpPr txBox="1"/>
          <p:nvPr/>
        </p:nvSpPr>
        <p:spPr>
          <a:xfrm>
            <a:off x="694944" y="4562856"/>
            <a:ext cx="347472" cy="347472"/>
          </a:xfrm>
          <a:prstGeom prst="rect">
            <a:avLst/>
          </a:prstGeom>
          <a:noFill/>
          <a:ln/>
        </p:spPr>
        <p:txBody>
          <a:bodyPr wrap="square" lIns="0" tIns="0" rIns="0" bIns="0" rtlCol="0" anchor="ctr"/>
          <a:lstStyle/>
          <a:p>
            <a:pPr algn="ctr" indent="0" marL="0">
              <a:buNone/>
            </a:pPr>
            <a:r>
              <a:rPr lang="en-US" sz="1300" b="1" dirty="0">
                <a:solidFill>
                  <a:srgbClr val="101C26"/>
                </a:solidFill>
                <a:latin typeface="Calibri" pitchFamily="34" charset="0"/>
                <a:ea typeface="Calibri" pitchFamily="34" charset="-122"/>
                <a:cs typeface="Calibri" pitchFamily="34" charset="-120"/>
              </a:rPr>
              <a:t>4</a:t>
            </a:r>
            <a:endParaRPr lang="en-US" sz="1300" dirty="0"/>
          </a:p>
        </p:txBody>
      </p:sp>
      <p:sp>
        <p:nvSpPr>
          <p:cNvPr id="20" name="Text 18"/>
          <p:cNvSpPr txBox="1"/>
          <p:nvPr/>
        </p:nvSpPr>
        <p:spPr>
          <a:xfrm>
            <a:off x="1170432" y="4462272"/>
            <a:ext cx="4572000" cy="548640"/>
          </a:xfrm>
          <a:prstGeom prst="rect">
            <a:avLst/>
          </a:prstGeom>
          <a:noFill/>
          <a:ln/>
        </p:spPr>
        <p:txBody>
          <a:bodyPr wrap="square" lIns="0" tIns="0" rIns="0" bIns="0" rtlCol="0" anchor="ctr"/>
          <a:lstStyle/>
          <a:p>
            <a:pPr indent="0" marL="0">
              <a:buNone/>
            </a:pPr>
            <a:r>
              <a:rPr lang="en-US" sz="1300" dirty="0">
                <a:solidFill>
                  <a:srgbClr val="2C3E4D"/>
                </a:solidFill>
                <a:latin typeface="Calibri" pitchFamily="34" charset="0"/>
                <a:ea typeface="Calibri" pitchFamily="34" charset="-122"/>
                <a:cs typeface="Calibri" pitchFamily="34" charset="-120"/>
              </a:rPr>
              <a:t>Escalate the blocked robots' priorities</a:t>
            </a:r>
            <a:endParaRPr lang="en-US" sz="1300" dirty="0"/>
          </a:p>
        </p:txBody>
      </p:sp>
      <p:sp>
        <p:nvSpPr>
          <p:cNvPr id="21" name="Shape 19"/>
          <p:cNvSpPr/>
          <p:nvPr/>
        </p:nvSpPr>
        <p:spPr>
          <a:xfrm>
            <a:off x="6263640" y="2487168"/>
            <a:ext cx="5349240" cy="548640"/>
          </a:xfrm>
          <a:prstGeom prst="roundRect">
            <a:avLst>
              <a:gd name="adj" fmla="val 13333"/>
            </a:avLst>
          </a:prstGeom>
          <a:solidFill>
            <a:srgbClr val="EDF2F6"/>
          </a:solidFill>
          <a:ln/>
        </p:spPr>
      </p:sp>
      <p:sp>
        <p:nvSpPr>
          <p:cNvPr id="22" name="Shape 20"/>
          <p:cNvSpPr/>
          <p:nvPr/>
        </p:nvSpPr>
        <p:spPr>
          <a:xfrm>
            <a:off x="6409944" y="2587752"/>
            <a:ext cx="347472" cy="347472"/>
          </a:xfrm>
          <a:prstGeom prst="ellipse">
            <a:avLst/>
          </a:prstGeom>
          <a:solidFill>
            <a:srgbClr val="F2A104"/>
          </a:solidFill>
          <a:ln/>
        </p:spPr>
      </p:sp>
      <p:sp>
        <p:nvSpPr>
          <p:cNvPr id="23" name="Text 21"/>
          <p:cNvSpPr txBox="1"/>
          <p:nvPr/>
        </p:nvSpPr>
        <p:spPr>
          <a:xfrm>
            <a:off x="6409944" y="2587752"/>
            <a:ext cx="347472" cy="347472"/>
          </a:xfrm>
          <a:prstGeom prst="rect">
            <a:avLst/>
          </a:prstGeom>
          <a:noFill/>
          <a:ln/>
        </p:spPr>
        <p:txBody>
          <a:bodyPr wrap="square" lIns="0" tIns="0" rIns="0" bIns="0" rtlCol="0" anchor="ctr"/>
          <a:lstStyle/>
          <a:p>
            <a:pPr algn="ctr" indent="0" marL="0">
              <a:buNone/>
            </a:pPr>
            <a:r>
              <a:rPr lang="en-US" sz="1300" b="1" dirty="0">
                <a:solidFill>
                  <a:srgbClr val="101C26"/>
                </a:solidFill>
                <a:latin typeface="Calibri" pitchFamily="34" charset="0"/>
                <a:ea typeface="Calibri" pitchFamily="34" charset="-122"/>
                <a:cs typeface="Calibri" pitchFamily="34" charset="-120"/>
              </a:rPr>
              <a:t>5</a:t>
            </a:r>
            <a:endParaRPr lang="en-US" sz="1300" dirty="0"/>
          </a:p>
        </p:txBody>
      </p:sp>
      <p:sp>
        <p:nvSpPr>
          <p:cNvPr id="24" name="Text 22"/>
          <p:cNvSpPr txBox="1"/>
          <p:nvPr/>
        </p:nvSpPr>
        <p:spPr>
          <a:xfrm>
            <a:off x="6885432" y="2487168"/>
            <a:ext cx="4572000" cy="548640"/>
          </a:xfrm>
          <a:prstGeom prst="rect">
            <a:avLst/>
          </a:prstGeom>
          <a:noFill/>
          <a:ln/>
        </p:spPr>
        <p:txBody>
          <a:bodyPr wrap="square" lIns="0" tIns="0" rIns="0" bIns="0" rtlCol="0" anchor="ctr"/>
          <a:lstStyle/>
          <a:p>
            <a:pPr indent="0" marL="0">
              <a:buNone/>
            </a:pPr>
            <a:r>
              <a:rPr lang="en-US" sz="1300" dirty="0">
                <a:solidFill>
                  <a:srgbClr val="2C3E4D"/>
                </a:solidFill>
                <a:latin typeface="Calibri" pitchFamily="34" charset="0"/>
                <a:ea typeface="Calibri" pitchFamily="34" charset="-122"/>
                <a:cs typeface="Calibri" pitchFamily="34" charset="-120"/>
              </a:rPr>
              <a:t>Allow temporary reverse movement</a:t>
            </a:r>
            <a:endParaRPr lang="en-US" sz="1300" dirty="0"/>
          </a:p>
        </p:txBody>
      </p:sp>
      <p:sp>
        <p:nvSpPr>
          <p:cNvPr id="25" name="Shape 23"/>
          <p:cNvSpPr/>
          <p:nvPr/>
        </p:nvSpPr>
        <p:spPr>
          <a:xfrm>
            <a:off x="6263640" y="3145536"/>
            <a:ext cx="5349240" cy="548640"/>
          </a:xfrm>
          <a:prstGeom prst="roundRect">
            <a:avLst>
              <a:gd name="adj" fmla="val 13333"/>
            </a:avLst>
          </a:prstGeom>
          <a:solidFill>
            <a:srgbClr val="EDF2F6"/>
          </a:solidFill>
          <a:ln/>
        </p:spPr>
      </p:sp>
      <p:sp>
        <p:nvSpPr>
          <p:cNvPr id="26" name="Shape 24"/>
          <p:cNvSpPr/>
          <p:nvPr/>
        </p:nvSpPr>
        <p:spPr>
          <a:xfrm>
            <a:off x="6409944" y="3246120"/>
            <a:ext cx="347472" cy="347472"/>
          </a:xfrm>
          <a:prstGeom prst="ellipse">
            <a:avLst/>
          </a:prstGeom>
          <a:solidFill>
            <a:srgbClr val="F2A104"/>
          </a:solidFill>
          <a:ln/>
        </p:spPr>
      </p:sp>
      <p:sp>
        <p:nvSpPr>
          <p:cNvPr id="27" name="Text 25"/>
          <p:cNvSpPr txBox="1"/>
          <p:nvPr/>
        </p:nvSpPr>
        <p:spPr>
          <a:xfrm>
            <a:off x="6409944" y="3246120"/>
            <a:ext cx="347472" cy="347472"/>
          </a:xfrm>
          <a:prstGeom prst="rect">
            <a:avLst/>
          </a:prstGeom>
          <a:noFill/>
          <a:ln/>
        </p:spPr>
        <p:txBody>
          <a:bodyPr wrap="square" lIns="0" tIns="0" rIns="0" bIns="0" rtlCol="0" anchor="ctr"/>
          <a:lstStyle/>
          <a:p>
            <a:pPr algn="ctr" indent="0" marL="0">
              <a:buNone/>
            </a:pPr>
            <a:r>
              <a:rPr lang="en-US" sz="1300" b="1" dirty="0">
                <a:solidFill>
                  <a:srgbClr val="101C26"/>
                </a:solidFill>
                <a:latin typeface="Calibri" pitchFamily="34" charset="0"/>
                <a:ea typeface="Calibri" pitchFamily="34" charset="-122"/>
                <a:cs typeface="Calibri" pitchFamily="34" charset="-120"/>
              </a:rPr>
              <a:t>6</a:t>
            </a:r>
            <a:endParaRPr lang="en-US" sz="1300" dirty="0"/>
          </a:p>
        </p:txBody>
      </p:sp>
      <p:sp>
        <p:nvSpPr>
          <p:cNvPr id="28" name="Text 26"/>
          <p:cNvSpPr txBox="1"/>
          <p:nvPr/>
        </p:nvSpPr>
        <p:spPr>
          <a:xfrm>
            <a:off x="6885432" y="3145536"/>
            <a:ext cx="4572000" cy="548640"/>
          </a:xfrm>
          <a:prstGeom prst="rect">
            <a:avLst/>
          </a:prstGeom>
          <a:noFill/>
          <a:ln/>
        </p:spPr>
        <p:txBody>
          <a:bodyPr wrap="square" lIns="0" tIns="0" rIns="0" bIns="0" rtlCol="0" anchor="ctr"/>
          <a:lstStyle/>
          <a:p>
            <a:pPr indent="0" marL="0">
              <a:buNone/>
            </a:pPr>
            <a:r>
              <a:rPr lang="en-US" sz="1300" dirty="0">
                <a:solidFill>
                  <a:srgbClr val="2C3E4D"/>
                </a:solidFill>
                <a:latin typeface="Calibri" pitchFamily="34" charset="0"/>
                <a:ea typeface="Calibri" pitchFamily="34" charset="-122"/>
                <a:cs typeface="Calibri" pitchFamily="34" charset="-120"/>
              </a:rPr>
              <a:t>Send robots to escape vertices</a:t>
            </a:r>
            <a:endParaRPr lang="en-US" sz="1300" dirty="0"/>
          </a:p>
        </p:txBody>
      </p:sp>
      <p:sp>
        <p:nvSpPr>
          <p:cNvPr id="29" name="Shape 27"/>
          <p:cNvSpPr/>
          <p:nvPr/>
        </p:nvSpPr>
        <p:spPr>
          <a:xfrm>
            <a:off x="6263640" y="3803904"/>
            <a:ext cx="5349240" cy="548640"/>
          </a:xfrm>
          <a:prstGeom prst="roundRect">
            <a:avLst>
              <a:gd name="adj" fmla="val 13333"/>
            </a:avLst>
          </a:prstGeom>
          <a:solidFill>
            <a:srgbClr val="1D3346"/>
          </a:solidFill>
          <a:ln/>
        </p:spPr>
      </p:sp>
      <p:sp>
        <p:nvSpPr>
          <p:cNvPr id="30" name="Shape 28"/>
          <p:cNvSpPr/>
          <p:nvPr/>
        </p:nvSpPr>
        <p:spPr>
          <a:xfrm>
            <a:off x="6409944" y="3904488"/>
            <a:ext cx="347472" cy="347472"/>
          </a:xfrm>
          <a:prstGeom prst="ellipse">
            <a:avLst/>
          </a:prstGeom>
          <a:solidFill>
            <a:srgbClr val="F2A104"/>
          </a:solidFill>
          <a:ln/>
        </p:spPr>
      </p:sp>
      <p:sp>
        <p:nvSpPr>
          <p:cNvPr id="31" name="Text 29"/>
          <p:cNvSpPr txBox="1"/>
          <p:nvPr/>
        </p:nvSpPr>
        <p:spPr>
          <a:xfrm>
            <a:off x="6409944" y="3904488"/>
            <a:ext cx="347472" cy="347472"/>
          </a:xfrm>
          <a:prstGeom prst="rect">
            <a:avLst/>
          </a:prstGeom>
          <a:noFill/>
          <a:ln/>
        </p:spPr>
        <p:txBody>
          <a:bodyPr wrap="square" lIns="0" tIns="0" rIns="0" bIns="0" rtlCol="0" anchor="ctr"/>
          <a:lstStyle/>
          <a:p>
            <a:pPr algn="ctr" indent="0" marL="0">
              <a:buNone/>
            </a:pPr>
            <a:r>
              <a:rPr lang="en-US" sz="1300" b="1" dirty="0">
                <a:solidFill>
                  <a:srgbClr val="101C26"/>
                </a:solidFill>
                <a:latin typeface="Calibri" pitchFamily="34" charset="0"/>
                <a:ea typeface="Calibri" pitchFamily="34" charset="-122"/>
                <a:cs typeface="Calibri" pitchFamily="34" charset="-120"/>
              </a:rPr>
              <a:t>7</a:t>
            </a:r>
            <a:endParaRPr lang="en-US" sz="1300" dirty="0"/>
          </a:p>
        </p:txBody>
      </p:sp>
      <p:sp>
        <p:nvSpPr>
          <p:cNvPr id="32" name="Text 30"/>
          <p:cNvSpPr txBox="1"/>
          <p:nvPr/>
        </p:nvSpPr>
        <p:spPr>
          <a:xfrm>
            <a:off x="6885432" y="3803904"/>
            <a:ext cx="4572000"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Drop all directional constraints locally</a:t>
            </a:r>
            <a:endParaRPr lang="en-US" sz="1300" dirty="0"/>
          </a:p>
        </p:txBody>
      </p:sp>
      <p:sp>
        <p:nvSpPr>
          <p:cNvPr id="33" name="Shape 31"/>
          <p:cNvSpPr/>
          <p:nvPr/>
        </p:nvSpPr>
        <p:spPr>
          <a:xfrm>
            <a:off x="6263640" y="4480560"/>
            <a:ext cx="5349240" cy="1298448"/>
          </a:xfrm>
          <a:prstGeom prst="roundRect">
            <a:avLst>
              <a:gd name="adj" fmla="val 6338"/>
            </a:avLst>
          </a:prstGeom>
          <a:solidFill>
            <a:srgbClr val="FFFFFF"/>
          </a:solidFill>
          <a:ln w="12700">
            <a:solidFill>
              <a:srgbClr val="F2A104"/>
            </a:solidFill>
            <a:prstDash val="solid"/>
          </a:ln>
        </p:spPr>
      </p:sp>
      <p:sp>
        <p:nvSpPr>
          <p:cNvPr id="34" name="Text 32"/>
          <p:cNvSpPr txBox="1"/>
          <p:nvPr/>
        </p:nvSpPr>
        <p:spPr>
          <a:xfrm>
            <a:off x="6537960" y="4663440"/>
            <a:ext cx="4800600" cy="960120"/>
          </a:xfrm>
          <a:prstGeom prst="rect">
            <a:avLst/>
          </a:prstGeom>
          <a:noFill/>
          <a:ln/>
        </p:spPr>
        <p:txBody>
          <a:bodyPr wrap="square" lIns="0" tIns="0" rIns="0" bIns="0" rtlCol="0" anchor="t"/>
          <a:lstStyle/>
          <a:p>
            <a:pPr algn="l" indent="0" marL="0">
              <a:lnSpc>
                <a:spcPts val="1700"/>
              </a:lnSpc>
              <a:buNone/>
            </a:pPr>
            <a:r>
              <a:rPr lang="en-US" sz="1250" dirty="0">
                <a:solidFill>
                  <a:srgbClr val="101C26"/>
                </a:solidFill>
                <a:latin typeface="Calibri" pitchFamily="34" charset="0"/>
                <a:ea typeface="Calibri" pitchFamily="34" charset="-122"/>
                <a:cs typeface="Calibri" pitchFamily="34" charset="-120"/>
              </a:rPr>
              <a:t>Why one level per timestep, not all seven at once: in a synchronous loop, whether a remedy worked cannot be observed until the next step. Firing all seven would apply six of them blind.</a:t>
            </a:r>
            <a:endParaRPr lang="en-US" sz="1250" dirty="0"/>
          </a:p>
        </p:txBody>
      </p:sp>
      <p:sp>
        <p:nvSpPr>
          <p:cNvPr id="35" name="Shape 33"/>
          <p:cNvSpPr/>
          <p:nvPr/>
        </p:nvSpPr>
        <p:spPr>
          <a:xfrm>
            <a:off x="548640" y="5376672"/>
            <a:ext cx="5349240" cy="1115568"/>
          </a:xfrm>
          <a:prstGeom prst="roundRect">
            <a:avLst>
              <a:gd name="adj" fmla="val 7377"/>
            </a:avLst>
          </a:prstGeom>
          <a:solidFill>
            <a:srgbClr val="FFFFFF"/>
          </a:solidFill>
          <a:ln w="12700">
            <a:solidFill>
              <a:srgbClr val="D0DAE3"/>
            </a:solidFill>
            <a:prstDash val="solid"/>
          </a:ln>
        </p:spPr>
      </p:sp>
      <p:sp>
        <p:nvSpPr>
          <p:cNvPr id="36" name="Text 34"/>
          <p:cNvSpPr txBox="1"/>
          <p:nvPr/>
        </p:nvSpPr>
        <p:spPr>
          <a:xfrm>
            <a:off x="804672" y="5504688"/>
            <a:ext cx="1828800" cy="256032"/>
          </a:xfrm>
          <a:prstGeom prst="rect">
            <a:avLst/>
          </a:prstGeom>
          <a:noFill/>
          <a:ln/>
        </p:spPr>
        <p:txBody>
          <a:bodyPr wrap="square" lIns="0" tIns="0" rIns="0" bIns="0" rtlCol="0" anchor="ctr"/>
          <a:lstStyle/>
          <a:p>
            <a:pPr indent="0" marL="0">
              <a:buNone/>
            </a:pPr>
            <a:r>
              <a:rPr lang="en-US" sz="1150" b="1" spc="120" kern="0" dirty="0">
                <a:solidFill>
                  <a:srgbClr val="F2A104"/>
                </a:solidFill>
                <a:latin typeface="Calibri" pitchFamily="34" charset="0"/>
                <a:ea typeface="Calibri" pitchFamily="34" charset="-122"/>
                <a:cs typeface="Calibri" pitchFamily="34" charset="-120"/>
              </a:rPr>
              <a:t>Detection</a:t>
            </a:r>
            <a:endParaRPr lang="en-US" sz="1150" dirty="0"/>
          </a:p>
        </p:txBody>
      </p:sp>
      <p:sp>
        <p:nvSpPr>
          <p:cNvPr id="37" name="Text 35"/>
          <p:cNvSpPr txBox="1"/>
          <p:nvPr/>
        </p:nvSpPr>
        <p:spPr>
          <a:xfrm>
            <a:off x="804672" y="5779008"/>
            <a:ext cx="4846320" cy="658368"/>
          </a:xfrm>
          <a:prstGeom prst="rect">
            <a:avLst/>
          </a:prstGeom>
          <a:noFill/>
          <a:ln/>
        </p:spPr>
        <p:txBody>
          <a:bodyPr wrap="square" lIns="0" tIns="0" rIns="0" bIns="0" rtlCol="0" anchor="t"/>
          <a:lstStyle/>
          <a:p>
            <a:pPr algn="l" indent="0" marL="0">
              <a:lnSpc>
                <a:spcPts val="1500"/>
              </a:lnSpc>
              <a:buNone/>
            </a:pPr>
            <a:r>
              <a:rPr lang="en-US" sz="1150" dirty="0">
                <a:solidFill>
                  <a:srgbClr val="2C3E4D"/>
                </a:solidFill>
                <a:latin typeface="Calibri" pitchFamily="34" charset="0"/>
                <a:ea typeface="Calibri" pitchFamily="34" charset="-122"/>
                <a:cs typeface="Calibri" pitchFamily="34" charset="-120"/>
              </a:rPr>
              <a:t>No progress is only a precondition: a group escalates only when a wait-for cycle or a repeated configuration corroborates it. Worth 0.022 → 0.134 on corridors.</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515600" cy="237744"/>
          </a:xfrm>
          <a:prstGeom prst="rect">
            <a:avLst/>
          </a:prstGeom>
          <a:noFill/>
          <a:ln/>
        </p:spPr>
        <p:txBody>
          <a:bodyPr wrap="square" lIns="0" tIns="0" rIns="0" bIns="0" rtlCol="0" anchor="ctr"/>
          <a:lstStyle/>
          <a:p>
            <a:pPr indent="0" marL="0">
              <a:buNone/>
            </a:pPr>
            <a:r>
              <a:rPr lang="en-US" sz="1150" b="1" spc="220" kern="0" dirty="0">
                <a:solidFill>
                  <a:srgbClr val="F2A104"/>
                </a:solidFill>
                <a:latin typeface="Calibri" pitchFamily="34" charset="0"/>
                <a:ea typeface="Calibri" pitchFamily="34" charset="-122"/>
                <a:cs typeface="Calibri" pitchFamily="34" charset="-120"/>
              </a:rPr>
              <a:t>WHAT WE FOUND WHEN WE CHECKED</a:t>
            </a:r>
            <a:endParaRPr lang="en-US" sz="1150" dirty="0"/>
          </a:p>
        </p:txBody>
      </p:sp>
      <p:sp>
        <p:nvSpPr>
          <p:cNvPr id="3" name="Text 1"/>
          <p:cNvSpPr txBox="1"/>
          <p:nvPr/>
        </p:nvSpPr>
        <p:spPr>
          <a:xfrm>
            <a:off x="548640" y="658368"/>
            <a:ext cx="10607040" cy="658368"/>
          </a:xfrm>
          <a:prstGeom prst="rect">
            <a:avLst/>
          </a:prstGeom>
          <a:noFill/>
          <a:ln/>
        </p:spPr>
        <p:txBody>
          <a:bodyPr wrap="square" lIns="0" tIns="0" rIns="0" bIns="0" rtlCol="0" anchor="ctr"/>
          <a:lstStyle/>
          <a:p>
            <a:pPr indent="0" marL="0">
              <a:buNone/>
            </a:pPr>
            <a:r>
              <a:rPr lang="en-US" sz="3400" b="1" dirty="0">
                <a:solidFill>
                  <a:srgbClr val="101C26"/>
                </a:solidFill>
                <a:latin typeface="Cambria" pitchFamily="34" charset="0"/>
                <a:ea typeface="Cambria" pitchFamily="34" charset="-122"/>
                <a:cs typeface="Cambria" pitchFamily="34" charset="-120"/>
              </a:rPr>
              <a:t>The evaluation was not the only thing that was wrong.</a:t>
            </a:r>
            <a:endParaRPr lang="en-US" sz="3400" dirty="0"/>
          </a:p>
        </p:txBody>
      </p:sp>
      <p:sp>
        <p:nvSpPr>
          <p:cNvPr id="4" name="Shape 2"/>
          <p:cNvSpPr/>
          <p:nvPr/>
        </p:nvSpPr>
        <p:spPr>
          <a:xfrm>
            <a:off x="548640" y="1664208"/>
            <a:ext cx="5349240" cy="1874520"/>
          </a:xfrm>
          <a:prstGeom prst="roundRect">
            <a:avLst>
              <a:gd name="adj" fmla="val 4390"/>
            </a:avLst>
          </a:prstGeom>
          <a:solidFill>
            <a:srgbClr val="EDF2F6"/>
          </a:solidFill>
          <a:ln w="12700">
            <a:solidFill>
              <a:srgbClr val="EDF2F6"/>
            </a:solidFill>
            <a:prstDash val="solid"/>
          </a:ln>
          <a:effectLst>
            <a:outerShdw sx="100000" sy="100000" kx="0" ky="0" algn="bl" rotWithShape="0" blurRad="127000" dist="25400" dir="5400000">
              <a:srgbClr val="0B1620">
                <a:alpha val="13000"/>
              </a:srgbClr>
            </a:outerShdw>
          </a:effectLst>
        </p:spPr>
      </p:sp>
      <p:sp>
        <p:nvSpPr>
          <p:cNvPr id="5" name="Shape 3"/>
          <p:cNvSpPr/>
          <p:nvPr/>
        </p:nvSpPr>
        <p:spPr>
          <a:xfrm>
            <a:off x="841248" y="1920240"/>
            <a:ext cx="384048" cy="384048"/>
          </a:xfrm>
          <a:prstGeom prst="ellipse">
            <a:avLst/>
          </a:prstGeom>
          <a:solidFill>
            <a:srgbClr val="F2A104"/>
          </a:solidFill>
          <a:ln/>
        </p:spPr>
      </p:sp>
      <p:sp>
        <p:nvSpPr>
          <p:cNvPr id="6" name="Text 4"/>
          <p:cNvSpPr txBox="1"/>
          <p:nvPr/>
        </p:nvSpPr>
        <p:spPr>
          <a:xfrm>
            <a:off x="841248" y="1920240"/>
            <a:ext cx="384048" cy="384048"/>
          </a:xfrm>
          <a:prstGeom prst="rect">
            <a:avLst/>
          </a:prstGeom>
          <a:noFill/>
          <a:ln/>
        </p:spPr>
        <p:txBody>
          <a:bodyPr wrap="square" lIns="0" tIns="0" rIns="0" bIns="0" rtlCol="0" anchor="ctr"/>
          <a:lstStyle/>
          <a:p>
            <a:pPr algn="ctr" indent="0" marL="0">
              <a:buNone/>
            </a:pPr>
            <a:r>
              <a:rPr lang="en-US" sz="1500" b="1" dirty="0">
                <a:solidFill>
                  <a:srgbClr val="101C26"/>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353312" y="1938528"/>
            <a:ext cx="4206240" cy="347472"/>
          </a:xfrm>
          <a:prstGeom prst="rect">
            <a:avLst/>
          </a:prstGeom>
          <a:noFill/>
          <a:ln/>
        </p:spPr>
        <p:txBody>
          <a:bodyPr wrap="square" lIns="0" tIns="0" rIns="0" bIns="0" rtlCol="0" anchor="ctr"/>
          <a:lstStyle/>
          <a:p>
            <a:pPr indent="0" marL="0">
              <a:buNone/>
            </a:pPr>
            <a:r>
              <a:rPr lang="en-US" sz="1750" b="1" dirty="0">
                <a:solidFill>
                  <a:srgbClr val="101C26"/>
                </a:solidFill>
                <a:latin typeface="Cambria" pitchFamily="34" charset="0"/>
                <a:ea typeface="Cambria" pitchFamily="34" charset="-122"/>
                <a:cs typeface="Cambria" pitchFamily="34" charset="-120"/>
              </a:rPr>
              <a:t>The aisle layer broke our own invariant</a:t>
            </a:r>
            <a:endParaRPr lang="en-US" sz="1750" dirty="0"/>
          </a:p>
        </p:txBody>
      </p:sp>
      <p:sp>
        <p:nvSpPr>
          <p:cNvPr id="8" name="Text 6"/>
          <p:cNvSpPr txBox="1"/>
          <p:nvPr/>
        </p:nvSpPr>
        <p:spPr>
          <a:xfrm>
            <a:off x="841248" y="2450592"/>
            <a:ext cx="4754880" cy="960120"/>
          </a:xfrm>
          <a:prstGeom prst="rect">
            <a:avLst/>
          </a:prstGeom>
          <a:noFill/>
          <a:ln/>
        </p:spPr>
        <p:txBody>
          <a:bodyPr wrap="square" lIns="0" tIns="0" rIns="0" bIns="0" rtlCol="0" anchor="t"/>
          <a:lstStyle/>
          <a:p>
            <a:pPr algn="l" indent="0" marL="0">
              <a:lnSpc>
                <a:spcPts val="1600"/>
              </a:lnSpc>
              <a:buNone/>
            </a:pPr>
            <a:r>
              <a:rPr lang="en-US" sz="1200" dirty="0">
                <a:solidFill>
                  <a:srgbClr val="2C3E4D"/>
                </a:solidFill>
                <a:latin typeface="Calibri" pitchFamily="34" charset="0"/>
                <a:ea typeface="Calibri" pitchFamily="34" charset="-122"/>
                <a:cs typeface="Calibri" pitchFamily="34" charset="-120"/>
              </a:rPr>
              <a:t>Aisle direction and reservations were hard rejections, deleting legal moves before scoring — while slide 2 says the high level never replaces PIBT's backtracking. Inheritance needs to be able to push a robot aside. Pricing instead: 1.9× to 3.1×.</a:t>
            </a:r>
            <a:endParaRPr lang="en-US" sz="1200" dirty="0"/>
          </a:p>
        </p:txBody>
      </p:sp>
      <p:sp>
        <p:nvSpPr>
          <p:cNvPr id="9" name="Shape 7"/>
          <p:cNvSpPr/>
          <p:nvPr/>
        </p:nvSpPr>
        <p:spPr>
          <a:xfrm>
            <a:off x="6263640" y="1664208"/>
            <a:ext cx="5349240" cy="1874520"/>
          </a:xfrm>
          <a:prstGeom prst="roundRect">
            <a:avLst>
              <a:gd name="adj" fmla="val 4390"/>
            </a:avLst>
          </a:prstGeom>
          <a:solidFill>
            <a:srgbClr val="EDF2F6"/>
          </a:solidFill>
          <a:ln w="12700">
            <a:solidFill>
              <a:srgbClr val="EDF2F6"/>
            </a:solidFill>
            <a:prstDash val="solid"/>
          </a:ln>
          <a:effectLst>
            <a:outerShdw sx="100000" sy="100000" kx="0" ky="0" algn="bl" rotWithShape="0" blurRad="127000" dist="25400" dir="5400000">
              <a:srgbClr val="0B1620">
                <a:alpha val="13000"/>
              </a:srgbClr>
            </a:outerShdw>
          </a:effectLst>
        </p:spPr>
      </p:sp>
      <p:sp>
        <p:nvSpPr>
          <p:cNvPr id="10" name="Shape 8"/>
          <p:cNvSpPr/>
          <p:nvPr/>
        </p:nvSpPr>
        <p:spPr>
          <a:xfrm>
            <a:off x="6556248" y="1920240"/>
            <a:ext cx="384048" cy="384048"/>
          </a:xfrm>
          <a:prstGeom prst="ellipse">
            <a:avLst/>
          </a:prstGeom>
          <a:solidFill>
            <a:srgbClr val="F2A104"/>
          </a:solidFill>
          <a:ln/>
        </p:spPr>
      </p:sp>
      <p:sp>
        <p:nvSpPr>
          <p:cNvPr id="11" name="Text 9"/>
          <p:cNvSpPr txBox="1"/>
          <p:nvPr/>
        </p:nvSpPr>
        <p:spPr>
          <a:xfrm>
            <a:off x="6556248" y="1920240"/>
            <a:ext cx="384048" cy="384048"/>
          </a:xfrm>
          <a:prstGeom prst="rect">
            <a:avLst/>
          </a:prstGeom>
          <a:noFill/>
          <a:ln/>
        </p:spPr>
        <p:txBody>
          <a:bodyPr wrap="square" lIns="0" tIns="0" rIns="0" bIns="0" rtlCol="0" anchor="ctr"/>
          <a:lstStyle/>
          <a:p>
            <a:pPr algn="ctr" indent="0" marL="0">
              <a:buNone/>
            </a:pPr>
            <a:r>
              <a:rPr lang="en-US" sz="1500" b="1" dirty="0">
                <a:solidFill>
                  <a:srgbClr val="101C26"/>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7068312" y="1938528"/>
            <a:ext cx="4206240" cy="347472"/>
          </a:xfrm>
          <a:prstGeom prst="rect">
            <a:avLst/>
          </a:prstGeom>
          <a:noFill/>
          <a:ln/>
        </p:spPr>
        <p:txBody>
          <a:bodyPr wrap="square" lIns="0" tIns="0" rIns="0" bIns="0" rtlCol="0" anchor="ctr"/>
          <a:lstStyle/>
          <a:p>
            <a:pPr indent="0" marL="0">
              <a:buNone/>
            </a:pPr>
            <a:r>
              <a:rPr lang="en-US" sz="1750" b="1" dirty="0">
                <a:solidFill>
                  <a:srgbClr val="101C26"/>
                </a:solidFill>
                <a:latin typeface="Cambria" pitchFamily="34" charset="0"/>
                <a:ea typeface="Cambria" pitchFamily="34" charset="-122"/>
                <a:cs typeface="Cambria" pitchFamily="34" charset="-120"/>
              </a:rPr>
              <a:t>Two hypotheses were never tested</a:t>
            </a:r>
            <a:endParaRPr lang="en-US" sz="1750" dirty="0"/>
          </a:p>
        </p:txBody>
      </p:sp>
      <p:sp>
        <p:nvSpPr>
          <p:cNvPr id="13" name="Text 11"/>
          <p:cNvSpPr txBox="1"/>
          <p:nvPr/>
        </p:nvSpPr>
        <p:spPr>
          <a:xfrm>
            <a:off x="6556248" y="2450592"/>
            <a:ext cx="4754880" cy="960120"/>
          </a:xfrm>
          <a:prstGeom prst="rect">
            <a:avLst/>
          </a:prstGeom>
          <a:noFill/>
          <a:ln/>
        </p:spPr>
        <p:txBody>
          <a:bodyPr wrap="square" lIns="0" tIns="0" rIns="0" bIns="0" rtlCol="0" anchor="t"/>
          <a:lstStyle/>
          <a:p>
            <a:pPr algn="l" indent="0" marL="0">
              <a:lnSpc>
                <a:spcPts val="1600"/>
              </a:lnSpc>
              <a:buNone/>
            </a:pPr>
            <a:r>
              <a:rPr lang="en-US" sz="1200" dirty="0">
                <a:solidFill>
                  <a:srgbClr val="2C3E4D"/>
                </a:solidFill>
                <a:latin typeface="Calibri" pitchFamily="34" charset="0"/>
                <a:ea typeface="Calibri" pitchFamily="34" charset="-122"/>
                <a:cs typeface="Calibri" pitchFamily="34" charset="-120"/>
              </a:rPr>
              <a:t>reservations was a no-op unless direction_control was “aisle”, and the variant built to isolate it sets “robot” — so H3's treatment cell was a copy of its control. On bottleneck no aisle ever commits a direction at all.</a:t>
            </a:r>
            <a:endParaRPr lang="en-US" sz="1200" dirty="0"/>
          </a:p>
        </p:txBody>
      </p:sp>
      <p:sp>
        <p:nvSpPr>
          <p:cNvPr id="14" name="Shape 12"/>
          <p:cNvSpPr/>
          <p:nvPr/>
        </p:nvSpPr>
        <p:spPr>
          <a:xfrm>
            <a:off x="548640" y="3721608"/>
            <a:ext cx="5349240" cy="1874520"/>
          </a:xfrm>
          <a:prstGeom prst="roundRect">
            <a:avLst>
              <a:gd name="adj" fmla="val 4390"/>
            </a:avLst>
          </a:prstGeom>
          <a:solidFill>
            <a:srgbClr val="EDF2F6"/>
          </a:solidFill>
          <a:ln w="12700">
            <a:solidFill>
              <a:srgbClr val="EDF2F6"/>
            </a:solidFill>
            <a:prstDash val="solid"/>
          </a:ln>
          <a:effectLst>
            <a:outerShdw sx="100000" sy="100000" kx="0" ky="0" algn="bl" rotWithShape="0" blurRad="127000" dist="25400" dir="5400000">
              <a:srgbClr val="0B1620">
                <a:alpha val="13000"/>
              </a:srgbClr>
            </a:outerShdw>
          </a:effectLst>
        </p:spPr>
      </p:sp>
      <p:sp>
        <p:nvSpPr>
          <p:cNvPr id="15" name="Shape 13"/>
          <p:cNvSpPr/>
          <p:nvPr/>
        </p:nvSpPr>
        <p:spPr>
          <a:xfrm>
            <a:off x="841248" y="3977640"/>
            <a:ext cx="384048" cy="384048"/>
          </a:xfrm>
          <a:prstGeom prst="ellipse">
            <a:avLst/>
          </a:prstGeom>
          <a:solidFill>
            <a:srgbClr val="F2A104"/>
          </a:solidFill>
          <a:ln/>
        </p:spPr>
      </p:sp>
      <p:sp>
        <p:nvSpPr>
          <p:cNvPr id="16" name="Text 14"/>
          <p:cNvSpPr txBox="1"/>
          <p:nvPr/>
        </p:nvSpPr>
        <p:spPr>
          <a:xfrm>
            <a:off x="841248" y="3977640"/>
            <a:ext cx="384048" cy="384048"/>
          </a:xfrm>
          <a:prstGeom prst="rect">
            <a:avLst/>
          </a:prstGeom>
          <a:noFill/>
          <a:ln/>
        </p:spPr>
        <p:txBody>
          <a:bodyPr wrap="square" lIns="0" tIns="0" rIns="0" bIns="0" rtlCol="0" anchor="ctr"/>
          <a:lstStyle/>
          <a:p>
            <a:pPr algn="ctr" indent="0" marL="0">
              <a:buNone/>
            </a:pPr>
            <a:r>
              <a:rPr lang="en-US" sz="1500" b="1" dirty="0">
                <a:solidFill>
                  <a:srgbClr val="101C26"/>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1353312" y="3995928"/>
            <a:ext cx="4206240" cy="347472"/>
          </a:xfrm>
          <a:prstGeom prst="rect">
            <a:avLst/>
          </a:prstGeom>
          <a:noFill/>
          <a:ln/>
        </p:spPr>
        <p:txBody>
          <a:bodyPr wrap="square" lIns="0" tIns="0" rIns="0" bIns="0" rtlCol="0" anchor="ctr"/>
          <a:lstStyle/>
          <a:p>
            <a:pPr indent="0" marL="0">
              <a:buNone/>
            </a:pPr>
            <a:r>
              <a:rPr lang="en-US" sz="1750" b="1" dirty="0">
                <a:solidFill>
                  <a:srgbClr val="101C26"/>
                </a:solidFill>
                <a:latin typeface="Cambria" pitchFamily="34" charset="0"/>
                <a:ea typeface="Cambria" pitchFamily="34" charset="-122"/>
                <a:cs typeface="Cambria" pitchFamily="34" charset="-120"/>
              </a:rPr>
              <a:t>The aisle signal could starve</a:t>
            </a:r>
            <a:endParaRPr lang="en-US" sz="1750" dirty="0"/>
          </a:p>
        </p:txBody>
      </p:sp>
      <p:sp>
        <p:nvSpPr>
          <p:cNvPr id="18" name="Text 16"/>
          <p:cNvSpPr txBox="1"/>
          <p:nvPr/>
        </p:nvSpPr>
        <p:spPr>
          <a:xfrm>
            <a:off x="841248" y="4507992"/>
            <a:ext cx="4754880" cy="960120"/>
          </a:xfrm>
          <a:prstGeom prst="rect">
            <a:avLst/>
          </a:prstGeom>
          <a:noFill/>
          <a:ln/>
        </p:spPr>
        <p:txBody>
          <a:bodyPr wrap="square" lIns="0" tIns="0" rIns="0" bIns="0" rtlCol="0" anchor="t"/>
          <a:lstStyle/>
          <a:p>
            <a:pPr algn="l" indent="0" marL="0">
              <a:lnSpc>
                <a:spcPts val="1600"/>
              </a:lnSpc>
              <a:buNone/>
            </a:pPr>
            <a:r>
              <a:rPr lang="en-US" sz="1200" dirty="0">
                <a:solidFill>
                  <a:srgbClr val="2C3E4D"/>
                </a:solidFill>
                <a:latin typeface="Calibri" pitchFamily="34" charset="0"/>
                <a:ea typeface="Calibri" pitchFamily="34" charset="-122"/>
                <a:cs typeface="Calibri" pitchFamily="34" charset="-120"/>
              </a:rPr>
              <a:t>A committed direction was held indefinitely unless the imbalance crossed τ, and pickups one side with deliveries the other makes demand balanced. Corridors deadlocked: 35 of 35 stalled by t=120.</a:t>
            </a:r>
            <a:endParaRPr lang="en-US" sz="1200" dirty="0"/>
          </a:p>
        </p:txBody>
      </p:sp>
      <p:sp>
        <p:nvSpPr>
          <p:cNvPr id="19" name="Shape 17"/>
          <p:cNvSpPr/>
          <p:nvPr/>
        </p:nvSpPr>
        <p:spPr>
          <a:xfrm>
            <a:off x="6263640" y="3721608"/>
            <a:ext cx="5349240" cy="1874520"/>
          </a:xfrm>
          <a:prstGeom prst="roundRect">
            <a:avLst>
              <a:gd name="adj" fmla="val 4390"/>
            </a:avLst>
          </a:prstGeom>
          <a:solidFill>
            <a:srgbClr val="EDF2F6"/>
          </a:solidFill>
          <a:ln w="12700">
            <a:solidFill>
              <a:srgbClr val="EDF2F6"/>
            </a:solidFill>
            <a:prstDash val="solid"/>
          </a:ln>
          <a:effectLst>
            <a:outerShdw sx="100000" sy="100000" kx="0" ky="0" algn="bl" rotWithShape="0" blurRad="127000" dist="25400" dir="5400000">
              <a:srgbClr val="0B1620">
                <a:alpha val="13000"/>
              </a:srgbClr>
            </a:outerShdw>
          </a:effectLst>
        </p:spPr>
      </p:sp>
      <p:sp>
        <p:nvSpPr>
          <p:cNvPr id="20" name="Shape 18"/>
          <p:cNvSpPr/>
          <p:nvPr/>
        </p:nvSpPr>
        <p:spPr>
          <a:xfrm>
            <a:off x="6556248" y="3977640"/>
            <a:ext cx="384048" cy="384048"/>
          </a:xfrm>
          <a:prstGeom prst="ellipse">
            <a:avLst/>
          </a:prstGeom>
          <a:solidFill>
            <a:srgbClr val="F2A104"/>
          </a:solidFill>
          <a:ln/>
        </p:spPr>
      </p:sp>
      <p:sp>
        <p:nvSpPr>
          <p:cNvPr id="21" name="Text 19"/>
          <p:cNvSpPr txBox="1"/>
          <p:nvPr/>
        </p:nvSpPr>
        <p:spPr>
          <a:xfrm>
            <a:off x="6556248" y="3977640"/>
            <a:ext cx="384048" cy="384048"/>
          </a:xfrm>
          <a:prstGeom prst="rect">
            <a:avLst/>
          </a:prstGeom>
          <a:noFill/>
          <a:ln/>
        </p:spPr>
        <p:txBody>
          <a:bodyPr wrap="square" lIns="0" tIns="0" rIns="0" bIns="0" rtlCol="0" anchor="ctr"/>
          <a:lstStyle/>
          <a:p>
            <a:pPr algn="ctr" indent="0" marL="0">
              <a:buNone/>
            </a:pPr>
            <a:r>
              <a:rPr lang="en-US" sz="1500" b="1" dirty="0">
                <a:solidFill>
                  <a:srgbClr val="101C26"/>
                </a:solidFill>
                <a:latin typeface="Calibri" pitchFamily="34" charset="0"/>
                <a:ea typeface="Calibri" pitchFamily="34" charset="-122"/>
                <a:cs typeface="Calibri" pitchFamily="34" charset="-120"/>
              </a:rPr>
              <a:t>4</a:t>
            </a:r>
            <a:endParaRPr lang="en-US" sz="1500" dirty="0"/>
          </a:p>
        </p:txBody>
      </p:sp>
      <p:sp>
        <p:nvSpPr>
          <p:cNvPr id="22" name="Text 20"/>
          <p:cNvSpPr txBox="1"/>
          <p:nvPr/>
        </p:nvSpPr>
        <p:spPr>
          <a:xfrm>
            <a:off x="7068312" y="3995928"/>
            <a:ext cx="4206240" cy="347472"/>
          </a:xfrm>
          <a:prstGeom prst="rect">
            <a:avLst/>
          </a:prstGeom>
          <a:noFill/>
          <a:ln/>
        </p:spPr>
        <p:txBody>
          <a:bodyPr wrap="square" lIns="0" tIns="0" rIns="0" bIns="0" rtlCol="0" anchor="ctr"/>
          <a:lstStyle/>
          <a:p>
            <a:pPr indent="0" marL="0">
              <a:buNone/>
            </a:pPr>
            <a:r>
              <a:rPr lang="en-US" sz="1750" b="1" dirty="0">
                <a:solidFill>
                  <a:srgbClr val="101C26"/>
                </a:solidFill>
                <a:latin typeface="Cambria" pitchFamily="34" charset="0"/>
                <a:ea typeface="Cambria" pitchFamily="34" charset="-122"/>
                <a:cs typeface="Cambria" pitchFamily="34" charset="-120"/>
              </a:rPr>
              <a:t>Three more, each measured</a:t>
            </a:r>
            <a:endParaRPr lang="en-US" sz="1750" dirty="0"/>
          </a:p>
        </p:txBody>
      </p:sp>
      <p:sp>
        <p:nvSpPr>
          <p:cNvPr id="23" name="Text 21"/>
          <p:cNvSpPr txBox="1"/>
          <p:nvPr/>
        </p:nvSpPr>
        <p:spPr>
          <a:xfrm>
            <a:off x="6556248" y="4507992"/>
            <a:ext cx="4754880" cy="960120"/>
          </a:xfrm>
          <a:prstGeom prst="rect">
            <a:avLst/>
          </a:prstGeom>
          <a:noFill/>
          <a:ln/>
        </p:spPr>
        <p:txBody>
          <a:bodyPr wrap="square" lIns="0" tIns="0" rIns="0" bIns="0" rtlCol="0" anchor="t"/>
          <a:lstStyle/>
          <a:p>
            <a:pPr algn="l" indent="0" marL="0">
              <a:lnSpc>
                <a:spcPts val="1600"/>
              </a:lnSpc>
              <a:buNone/>
            </a:pPr>
            <a:r>
              <a:rPr lang="en-US" sz="1200" dirty="0">
                <a:solidFill>
                  <a:srgbClr val="2C3E4D"/>
                </a:solidFill>
                <a:latin typeface="Calibri" pitchFamily="34" charset="0"/>
                <a:ea typeface="Calibri" pitchFamily="34" charset="-122"/>
                <a:cs typeface="Calibri" pitchFamily="34" charset="-120"/>
              </a:rPr>
              <a:t>Aisles were L and U shapes, so one-waying blocked corners both ways; recovery fired on healthy traffic; and the congestion term outranked the terms it modulates. 179 tests, up from 161.</a:t>
            </a:r>
            <a:endParaRPr lang="en-US" sz="1200" dirty="0"/>
          </a:p>
        </p:txBody>
      </p:sp>
      <p:sp>
        <p:nvSpPr>
          <p:cNvPr id="24" name="Shape 22"/>
          <p:cNvSpPr/>
          <p:nvPr/>
        </p:nvSpPr>
        <p:spPr>
          <a:xfrm>
            <a:off x="548640" y="5806440"/>
            <a:ext cx="11091672" cy="658368"/>
          </a:xfrm>
          <a:prstGeom prst="roundRect">
            <a:avLst>
              <a:gd name="adj" fmla="val 12500"/>
            </a:avLst>
          </a:prstGeom>
          <a:solidFill>
            <a:srgbClr val="1D3346"/>
          </a:solidFill>
          <a:ln w="12700">
            <a:solidFill>
              <a:srgbClr val="1D3346"/>
            </a:solidFill>
            <a:prstDash val="solid"/>
          </a:ln>
          <a:effectLst>
            <a:outerShdw sx="100000" sy="100000" kx="0" ky="0" algn="bl" rotWithShape="0" blurRad="127000" dist="25400" dir="5400000">
              <a:srgbClr val="0B1620">
                <a:alpha val="13000"/>
              </a:srgbClr>
            </a:outerShdw>
          </a:effectLst>
        </p:spPr>
      </p:sp>
      <p:sp>
        <p:nvSpPr>
          <p:cNvPr id="25" name="Text 23"/>
          <p:cNvSpPr txBox="1"/>
          <p:nvPr/>
        </p:nvSpPr>
        <p:spPr>
          <a:xfrm>
            <a:off x="868680" y="5943600"/>
            <a:ext cx="1042416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Task assignment is still held identical across all five planners, so the baseline comparison isolates the movement layer and nothing else.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515600" cy="237744"/>
          </a:xfrm>
          <a:prstGeom prst="rect">
            <a:avLst/>
          </a:prstGeom>
          <a:noFill/>
          <a:ln/>
        </p:spPr>
        <p:txBody>
          <a:bodyPr wrap="square" lIns="0" tIns="0" rIns="0" bIns="0" rtlCol="0" anchor="ctr"/>
          <a:lstStyle/>
          <a:p>
            <a:pPr indent="0" marL="0">
              <a:buNone/>
            </a:pPr>
            <a:r>
              <a:rPr lang="en-US" sz="1150" b="1" spc="220" kern="0" dirty="0">
                <a:solidFill>
                  <a:srgbClr val="F2A104"/>
                </a:solidFill>
                <a:latin typeface="Calibri" pitchFamily="34" charset="0"/>
                <a:ea typeface="Calibri" pitchFamily="34" charset="-122"/>
                <a:cs typeface="Calibri" pitchFamily="34" charset="-120"/>
              </a:rPr>
              <a:t>RESULT 1</a:t>
            </a:r>
            <a:endParaRPr lang="en-US" sz="1150" dirty="0"/>
          </a:p>
        </p:txBody>
      </p:sp>
      <p:sp>
        <p:nvSpPr>
          <p:cNvPr id="3" name="Text 1"/>
          <p:cNvSpPr txBox="1"/>
          <p:nvPr/>
        </p:nvSpPr>
        <p:spPr>
          <a:xfrm>
            <a:off x="548640" y="658368"/>
            <a:ext cx="10607040" cy="658368"/>
          </a:xfrm>
          <a:prstGeom prst="rect">
            <a:avLst/>
          </a:prstGeom>
          <a:noFill/>
          <a:ln/>
        </p:spPr>
        <p:txBody>
          <a:bodyPr wrap="square" lIns="0" tIns="0" rIns="0" bIns="0" rtlCol="0" anchor="ctr"/>
          <a:lstStyle/>
          <a:p>
            <a:pPr indent="0" marL="0">
              <a:buNone/>
            </a:pPr>
            <a:r>
              <a:rPr lang="en-US" sz="3400" b="1" dirty="0">
                <a:solidFill>
                  <a:srgbClr val="101C26"/>
                </a:solidFill>
                <a:latin typeface="Cambria" pitchFamily="34" charset="0"/>
                <a:ea typeface="Cambria" pitchFamily="34" charset="-122"/>
                <a:cs typeface="Cambria" pitchFamily="34" charset="-120"/>
              </a:rPr>
              <a:t>Against the literature: PIBT wins, and not narrowly</a:t>
            </a:r>
            <a:endParaRPr lang="en-US" sz="3400" dirty="0"/>
          </a:p>
        </p:txBody>
      </p:sp>
      <p:graphicFrame>
        <p:nvGraphicFramePr>
          <p:cNvPr id="4" name="Chart 0" descr=""/>
          <p:cNvGraphicFramePr/>
          <p:nvPr/>
        </p:nvGraphicFramePr>
        <p:xfrm>
          <a:off x="457200" y="1627632"/>
          <a:ext cx="685800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543800" y="1627632"/>
            <a:ext cx="4114800" cy="2286000"/>
          </a:xfrm>
          <a:prstGeom prst="roundRect">
            <a:avLst>
              <a:gd name="adj" fmla="val 3600"/>
            </a:avLst>
          </a:prstGeom>
          <a:solidFill>
            <a:srgbClr val="1D3346"/>
          </a:solidFill>
          <a:ln w="12700">
            <a:solidFill>
              <a:srgbClr val="1D3346"/>
            </a:solidFill>
            <a:prstDash val="solid"/>
          </a:ln>
          <a:effectLst>
            <a:outerShdw sx="100000" sy="100000" kx="0" ky="0" algn="bl" rotWithShape="0" blurRad="127000" dist="25400" dir="5400000">
              <a:srgbClr val="0B1620">
                <a:alpha val="13000"/>
              </a:srgbClr>
            </a:outerShdw>
          </a:effectLst>
        </p:spPr>
      </p:sp>
      <p:sp>
        <p:nvSpPr>
          <p:cNvPr id="6" name="Text 3"/>
          <p:cNvSpPr txBox="1"/>
          <p:nvPr/>
        </p:nvSpPr>
        <p:spPr>
          <a:xfrm>
            <a:off x="7818120" y="1810512"/>
            <a:ext cx="3611880" cy="548640"/>
          </a:xfrm>
          <a:prstGeom prst="rect">
            <a:avLst/>
          </a:prstGeom>
          <a:noFill/>
          <a:ln/>
        </p:spPr>
        <p:txBody>
          <a:bodyPr wrap="square" lIns="0" tIns="0" rIns="0" bIns="0" rtlCol="0" anchor="ctr"/>
          <a:lstStyle/>
          <a:p>
            <a:pPr indent="0" marL="0">
              <a:lnSpc>
                <a:spcPts val="2100"/>
              </a:lnSpc>
              <a:buNone/>
            </a:pPr>
            <a:r>
              <a:rPr lang="en-US" sz="1700" b="1" dirty="0">
                <a:solidFill>
                  <a:srgbClr val="FFFFFF"/>
                </a:solidFill>
                <a:latin typeface="Cambria" pitchFamily="34" charset="0"/>
                <a:ea typeface="Cambria" pitchFamily="34" charset="-122"/>
                <a:cs typeface="Cambria" pitchFamily="34" charset="-120"/>
              </a:rPr>
              <a:t>The headline was not the expected result</a:t>
            </a:r>
            <a:endParaRPr lang="en-US" sz="1700" dirty="0"/>
          </a:p>
        </p:txBody>
      </p:sp>
      <p:sp>
        <p:nvSpPr>
          <p:cNvPr id="7" name="Text 4"/>
          <p:cNvSpPr txBox="1"/>
          <p:nvPr/>
        </p:nvSpPr>
        <p:spPr>
          <a:xfrm>
            <a:off x="7818120" y="2395728"/>
            <a:ext cx="3611880" cy="1371600"/>
          </a:xfrm>
          <a:prstGeom prst="rect">
            <a:avLst/>
          </a:prstGeom>
          <a:noFill/>
          <a:ln/>
        </p:spPr>
        <p:txBody>
          <a:bodyPr wrap="square" lIns="0" tIns="0" rIns="0" bIns="0" rtlCol="0" anchor="t"/>
          <a:lstStyle/>
          <a:p>
            <a:pPr algn="l" indent="0" marL="0">
              <a:lnSpc>
                <a:spcPts val="1600"/>
              </a:lnSpc>
              <a:buNone/>
            </a:pPr>
            <a:r>
              <a:rPr lang="en-US" sz="1200" dirty="0">
                <a:solidFill>
                  <a:srgbClr val="C6D5E0"/>
                </a:solidFill>
                <a:latin typeface="Calibri" pitchFamily="34" charset="0"/>
                <a:ea typeface="Calibri" pitchFamily="34" charset="-122"/>
                <a:cs typeface="Calibri" pitchFamily="34" charset="-120"/>
              </a:rPr>
              <a:t>Plain lifelong_pibt beats both external baselines on every map, p &lt; 0.001 on throughput in every cell. Token Passing completes literally zero tasks on warehouse_corridors across all ten seeds.</a:t>
            </a:r>
            <a:endParaRPr lang="en-US" sz="1200" dirty="0"/>
          </a:p>
        </p:txBody>
      </p:sp>
      <p:sp>
        <p:nvSpPr>
          <p:cNvPr id="8" name="Shape 5"/>
          <p:cNvSpPr/>
          <p:nvPr/>
        </p:nvSpPr>
        <p:spPr>
          <a:xfrm>
            <a:off x="7543800" y="4041648"/>
            <a:ext cx="4114800" cy="960120"/>
          </a:xfrm>
          <a:prstGeom prst="roundRect">
            <a:avLst>
              <a:gd name="adj" fmla="val 8571"/>
            </a:avLst>
          </a:prstGeom>
          <a:solidFill>
            <a:srgbClr val="EDF2F6"/>
          </a:solidFill>
          <a:ln w="12700">
            <a:solidFill>
              <a:srgbClr val="EDF2F6"/>
            </a:solidFill>
            <a:prstDash val="solid"/>
          </a:ln>
        </p:spPr>
      </p:sp>
      <p:sp>
        <p:nvSpPr>
          <p:cNvPr id="9" name="Text 6"/>
          <p:cNvSpPr txBox="1"/>
          <p:nvPr/>
        </p:nvSpPr>
        <p:spPr>
          <a:xfrm>
            <a:off x="7818120" y="4160520"/>
            <a:ext cx="3566160" cy="256032"/>
          </a:xfrm>
          <a:prstGeom prst="rect">
            <a:avLst/>
          </a:prstGeom>
          <a:noFill/>
          <a:ln/>
        </p:spPr>
        <p:txBody>
          <a:bodyPr wrap="square" lIns="0" tIns="0" rIns="0" bIns="0" rtlCol="0" anchor="ctr"/>
          <a:lstStyle/>
          <a:p>
            <a:pPr indent="0" marL="0">
              <a:buNone/>
            </a:pPr>
            <a:r>
              <a:rPr lang="en-US" sz="1200" b="1" spc="120" kern="0" dirty="0">
                <a:solidFill>
                  <a:srgbClr val="F2A104"/>
                </a:solidFill>
                <a:latin typeface="Calibri" pitchFamily="34" charset="0"/>
                <a:ea typeface="Calibri" pitchFamily="34" charset="-122"/>
                <a:cs typeface="Calibri" pitchFamily="34" charset="-120"/>
              </a:rPr>
              <a:t>Why: no inheritance</a:t>
            </a:r>
            <a:endParaRPr lang="en-US" sz="1200" dirty="0"/>
          </a:p>
        </p:txBody>
      </p:sp>
      <p:sp>
        <p:nvSpPr>
          <p:cNvPr id="10" name="Text 7"/>
          <p:cNvSpPr txBox="1"/>
          <p:nvPr/>
        </p:nvSpPr>
        <p:spPr>
          <a:xfrm>
            <a:off x="7818120" y="4407408"/>
            <a:ext cx="3566160" cy="548640"/>
          </a:xfrm>
          <a:prstGeom prst="rect">
            <a:avLst/>
          </a:prstGeom>
          <a:noFill/>
          <a:ln/>
        </p:spPr>
        <p:txBody>
          <a:bodyPr wrap="square" lIns="0" tIns="0" rIns="0" bIns="0" rtlCol="0" anchor="t"/>
          <a:lstStyle/>
          <a:p>
            <a:pPr algn="l" indent="0" marL="0">
              <a:lnSpc>
                <a:spcPts val="1500"/>
              </a:lnSpc>
              <a:buNone/>
            </a:pPr>
            <a:r>
              <a:rPr lang="en-US" sz="1150" dirty="0">
                <a:solidFill>
                  <a:srgbClr val="2C3E4D"/>
                </a:solidFill>
                <a:latin typeface="Calibri" pitchFamily="34" charset="0"/>
                <a:ea typeface="Calibri" pitchFamily="34" charset="-122"/>
                <a:cs typeface="Calibri" pitchFamily="34" charset="-120"/>
              </a:rPr>
              <a:t>All 16 robots queue nose-to-tail in the connecting corridor and never move again. A queue Token Passing forms, it cannot resolve.</a:t>
            </a:r>
            <a:endParaRPr lang="en-US" sz="1150" dirty="0"/>
          </a:p>
        </p:txBody>
      </p:sp>
      <p:sp>
        <p:nvSpPr>
          <p:cNvPr id="11" name="Shape 8"/>
          <p:cNvSpPr/>
          <p:nvPr/>
        </p:nvSpPr>
        <p:spPr>
          <a:xfrm>
            <a:off x="7543800" y="5120640"/>
            <a:ext cx="4114800" cy="960120"/>
          </a:xfrm>
          <a:prstGeom prst="roundRect">
            <a:avLst>
              <a:gd name="adj" fmla="val 8571"/>
            </a:avLst>
          </a:prstGeom>
          <a:solidFill>
            <a:srgbClr val="EDF2F6"/>
          </a:solidFill>
          <a:ln w="12700">
            <a:solidFill>
              <a:srgbClr val="EDF2F6"/>
            </a:solidFill>
            <a:prstDash val="solid"/>
          </a:ln>
        </p:spPr>
      </p:sp>
      <p:sp>
        <p:nvSpPr>
          <p:cNvPr id="12" name="Text 9"/>
          <p:cNvSpPr txBox="1"/>
          <p:nvPr/>
        </p:nvSpPr>
        <p:spPr>
          <a:xfrm>
            <a:off x="7818120" y="5239512"/>
            <a:ext cx="3566160" cy="256032"/>
          </a:xfrm>
          <a:prstGeom prst="rect">
            <a:avLst/>
          </a:prstGeom>
          <a:noFill/>
          <a:ln/>
        </p:spPr>
        <p:txBody>
          <a:bodyPr wrap="square" lIns="0" tIns="0" rIns="0" bIns="0" rtlCol="0" anchor="ctr"/>
          <a:lstStyle/>
          <a:p>
            <a:pPr indent="0" marL="0">
              <a:buNone/>
            </a:pPr>
            <a:r>
              <a:rPr lang="en-US" sz="1200" b="1" spc="120" kern="0" dirty="0">
                <a:solidFill>
                  <a:srgbClr val="F2A104"/>
                </a:solidFill>
                <a:latin typeface="Calibri" pitchFamily="34" charset="0"/>
                <a:ea typeface="Calibri" pitchFamily="34" charset="-122"/>
                <a:cs typeface="Calibri" pitchFamily="34" charset="-120"/>
              </a:rPr>
              <a:t>And it is 56–356× cheaper</a:t>
            </a:r>
            <a:endParaRPr lang="en-US" sz="1200" dirty="0"/>
          </a:p>
        </p:txBody>
      </p:sp>
      <p:sp>
        <p:nvSpPr>
          <p:cNvPr id="13" name="Text 10"/>
          <p:cNvSpPr txBox="1"/>
          <p:nvPr/>
        </p:nvSpPr>
        <p:spPr>
          <a:xfrm>
            <a:off x="7818120" y="5486400"/>
            <a:ext cx="3566160" cy="548640"/>
          </a:xfrm>
          <a:prstGeom prst="rect">
            <a:avLst/>
          </a:prstGeom>
          <a:noFill/>
          <a:ln/>
        </p:spPr>
        <p:txBody>
          <a:bodyPr wrap="square" lIns="0" tIns="0" rIns="0" bIns="0" rtlCol="0" anchor="t"/>
          <a:lstStyle/>
          <a:p>
            <a:pPr algn="l" indent="0" marL="0">
              <a:lnSpc>
                <a:spcPts val="1500"/>
              </a:lnSpc>
              <a:buNone/>
            </a:pPr>
            <a:r>
              <a:rPr lang="en-US" sz="1150" dirty="0">
                <a:solidFill>
                  <a:srgbClr val="2C3E4D"/>
                </a:solidFill>
                <a:latin typeface="Calibri" pitchFamily="34" charset="0"/>
                <a:ea typeface="Calibri" pitchFamily="34" charset="-122"/>
                <a:cs typeface="Calibri" pitchFamily="34" charset="-120"/>
              </a:rPr>
              <a:t>warehouse_medium, ms per step:  lifelong_pibt 1.01  ·  full_lda_pibt 4.06  ·  RHCR 85.4  ·  token_passing 318.4</a:t>
            </a:r>
            <a:endParaRPr lang="en-US" sz="1150" dirty="0"/>
          </a:p>
        </p:txBody>
      </p:sp>
      <p:sp>
        <p:nvSpPr>
          <p:cNvPr id="14" name="Text 11"/>
          <p:cNvSpPr txBox="1"/>
          <p:nvPr/>
        </p:nvSpPr>
        <p:spPr>
          <a:xfrm>
            <a:off x="548640" y="6217920"/>
            <a:ext cx="11064240" cy="411480"/>
          </a:xfrm>
          <a:prstGeom prst="rect">
            <a:avLst/>
          </a:prstGeom>
          <a:noFill/>
          <a:ln/>
        </p:spPr>
        <p:txBody>
          <a:bodyPr wrap="square" lIns="0" tIns="0" rIns="0" bIns="0" rtlCol="0" anchor="ctr"/>
          <a:lstStyle/>
          <a:p>
            <a:pPr indent="0" marL="0">
              <a:buNone/>
            </a:pPr>
            <a:r>
              <a:rPr lang="en-US" sz="1000" i="1" dirty="0">
                <a:solidFill>
                  <a:srgbClr val="6C7C8A"/>
                </a:solidFill>
                <a:latin typeface="Calibri" pitchFamily="34" charset="0"/>
                <a:ea typeface="Calibri" pitchFamily="34" charset="-122"/>
                <a:cs typeface="Calibri" pitchFamily="34" charset="-120"/>
              </a:rPr>
              <a:t>10 seeds × 400 timesteps; permutation test vs. lifelong_pibt. full_lda_pibt now wins on bottleneck (0.14 vs 0.13, p = 0.016) and ties on corridors, where it used to lose 0.02 to 0.16. Assignment is held constant, so neither baseline runs its own paper's policy, and RHCR's window is an untuned default.</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515600" cy="237744"/>
          </a:xfrm>
          <a:prstGeom prst="rect">
            <a:avLst/>
          </a:prstGeom>
          <a:noFill/>
          <a:ln/>
        </p:spPr>
        <p:txBody>
          <a:bodyPr wrap="square" lIns="0" tIns="0" rIns="0" bIns="0" rtlCol="0" anchor="ctr"/>
          <a:lstStyle/>
          <a:p>
            <a:pPr indent="0" marL="0">
              <a:buNone/>
            </a:pPr>
            <a:r>
              <a:rPr lang="en-US" sz="1150" b="1" spc="220" kern="0" dirty="0">
                <a:solidFill>
                  <a:srgbClr val="F2A104"/>
                </a:solidFill>
                <a:latin typeface="Calibri" pitchFamily="34" charset="0"/>
                <a:ea typeface="Calibri" pitchFamily="34" charset="-122"/>
                <a:cs typeface="Calibri" pitchFamily="34" charset="-120"/>
              </a:rPr>
              <a:t>RESULT 2</a:t>
            </a:r>
            <a:endParaRPr lang="en-US" sz="1150" dirty="0"/>
          </a:p>
        </p:txBody>
      </p:sp>
      <p:sp>
        <p:nvSpPr>
          <p:cNvPr id="3" name="Text 1"/>
          <p:cNvSpPr txBox="1"/>
          <p:nvPr/>
        </p:nvSpPr>
        <p:spPr>
          <a:xfrm>
            <a:off x="548640" y="658368"/>
            <a:ext cx="10607040" cy="658368"/>
          </a:xfrm>
          <a:prstGeom prst="rect">
            <a:avLst/>
          </a:prstGeom>
          <a:noFill/>
          <a:ln/>
        </p:spPr>
        <p:txBody>
          <a:bodyPr wrap="square" lIns="0" tIns="0" rIns="0" bIns="0" rtlCol="0" anchor="ctr"/>
          <a:lstStyle/>
          <a:p>
            <a:pPr indent="0" marL="0">
              <a:buNone/>
            </a:pPr>
            <a:r>
              <a:rPr lang="en-US" sz="3400" b="1" dirty="0">
                <a:solidFill>
                  <a:srgbClr val="101C26"/>
                </a:solidFill>
                <a:latin typeface="Cambria" pitchFamily="34" charset="0"/>
                <a:ea typeface="Cambria" pitchFamily="34" charset="-122"/>
                <a:cs typeface="Cambria" pitchFamily="34" charset="-120"/>
              </a:rPr>
              <a:t>De-confounding, on designs that can now be read</a:t>
            </a:r>
            <a:endParaRPr lang="en-US" sz="3400" dirty="0"/>
          </a:p>
        </p:txBody>
      </p:sp>
      <p:graphicFrame>
        <p:nvGraphicFramePr>
          <p:cNvPr id="4" name="Chart 0" descr=""/>
          <p:cNvGraphicFramePr/>
          <p:nvPr/>
        </p:nvGraphicFramePr>
        <p:xfrm>
          <a:off x="457200" y="1627632"/>
          <a:ext cx="6858000" cy="39319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543800" y="1627632"/>
            <a:ext cx="4114800" cy="1965960"/>
          </a:xfrm>
          <a:prstGeom prst="roundRect">
            <a:avLst>
              <a:gd name="adj" fmla="val 4186"/>
            </a:avLst>
          </a:prstGeom>
          <a:solidFill>
            <a:srgbClr val="1D3346"/>
          </a:solidFill>
          <a:ln w="12700">
            <a:solidFill>
              <a:srgbClr val="1D3346"/>
            </a:solidFill>
            <a:prstDash val="solid"/>
          </a:ln>
          <a:effectLst>
            <a:outerShdw sx="100000" sy="100000" kx="0" ky="0" algn="bl" rotWithShape="0" blurRad="127000" dist="25400" dir="5400000">
              <a:srgbClr val="0B1620">
                <a:alpha val="13000"/>
              </a:srgbClr>
            </a:outerShdw>
          </a:effectLst>
        </p:spPr>
      </p:sp>
      <p:sp>
        <p:nvSpPr>
          <p:cNvPr id="6" name="Text 3"/>
          <p:cNvSpPr txBox="1"/>
          <p:nvPr/>
        </p:nvSpPr>
        <p:spPr>
          <a:xfrm>
            <a:off x="7818120" y="1810512"/>
            <a:ext cx="3611880" cy="29260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H3 — the empty cell</a:t>
            </a:r>
            <a:endParaRPr lang="en-US" sz="1700" dirty="0"/>
          </a:p>
        </p:txBody>
      </p:sp>
      <p:sp>
        <p:nvSpPr>
          <p:cNvPr id="7" name="Text 4"/>
          <p:cNvSpPr txBox="1"/>
          <p:nvPr/>
        </p:nvSpPr>
        <p:spPr>
          <a:xfrm>
            <a:off x="7818120" y="2176272"/>
            <a:ext cx="3611880" cy="1325880"/>
          </a:xfrm>
          <a:prstGeom prst="rect">
            <a:avLst/>
          </a:prstGeom>
          <a:noFill/>
          <a:ln/>
        </p:spPr>
        <p:txBody>
          <a:bodyPr wrap="square" lIns="0" tIns="0" rIns="0" bIns="0" rtlCol="0" anchor="t"/>
          <a:lstStyle/>
          <a:p>
            <a:pPr algn="l" indent="0" marL="0">
              <a:lnSpc>
                <a:spcPts val="1600"/>
              </a:lnSpc>
              <a:buNone/>
            </a:pPr>
            <a:r>
              <a:rPr lang="en-US" sz="1200" dirty="0">
                <a:solidFill>
                  <a:srgbClr val="C6D5E0"/>
                </a:solidFill>
                <a:latin typeface="Calibri" pitchFamily="34" charset="0"/>
                <a:ea typeface="Calibri" pitchFamily="34" charset="-122"/>
                <a:cs typeface="Calibri" pitchFamily="34" charset="-120"/>
              </a:rPr>
              <a:t>reservations_only sets direction_control=“robot”, and the reservation layer was gated on direction_control==“aisle”. Factor B was a bit-identical copy of the base, so its main effect was necessarily zero. “Exactly zero effect” described the wiring, not the mechanism.</a:t>
            </a:r>
            <a:endParaRPr lang="en-US" sz="1200" dirty="0"/>
          </a:p>
        </p:txBody>
      </p:sp>
      <p:sp>
        <p:nvSpPr>
          <p:cNvPr id="8" name="Shape 5"/>
          <p:cNvSpPr/>
          <p:nvPr/>
        </p:nvSpPr>
        <p:spPr>
          <a:xfrm>
            <a:off x="7543800" y="3712464"/>
            <a:ext cx="4114800" cy="1298448"/>
          </a:xfrm>
          <a:prstGeom prst="roundRect">
            <a:avLst>
              <a:gd name="adj" fmla="val 6338"/>
            </a:avLst>
          </a:prstGeom>
          <a:solidFill>
            <a:srgbClr val="EDF2F6"/>
          </a:solidFill>
          <a:ln w="12700">
            <a:solidFill>
              <a:srgbClr val="EDF2F6"/>
            </a:solidFill>
            <a:prstDash val="solid"/>
          </a:ln>
        </p:spPr>
      </p:sp>
      <p:sp>
        <p:nvSpPr>
          <p:cNvPr id="9" name="Text 6"/>
          <p:cNvSpPr txBox="1"/>
          <p:nvPr/>
        </p:nvSpPr>
        <p:spPr>
          <a:xfrm>
            <a:off x="7818120" y="3840480"/>
            <a:ext cx="3566160" cy="274320"/>
          </a:xfrm>
          <a:prstGeom prst="rect">
            <a:avLst/>
          </a:prstGeom>
          <a:noFill/>
          <a:ln/>
        </p:spPr>
        <p:txBody>
          <a:bodyPr wrap="square" lIns="0" tIns="0" rIns="0" bIns="0" rtlCol="0" anchor="ctr"/>
          <a:lstStyle/>
          <a:p>
            <a:pPr indent="0" marL="0">
              <a:buNone/>
            </a:pPr>
            <a:r>
              <a:rPr lang="en-US" sz="1250" b="1" spc="110" kern="0" dirty="0">
                <a:solidFill>
                  <a:srgbClr val="F2A104"/>
                </a:solidFill>
                <a:latin typeface="Calibri" pitchFamily="34" charset="0"/>
                <a:ea typeface="Calibri" pitchFamily="34" charset="-122"/>
                <a:cs typeface="Calibri" pitchFamily="34" charset="-120"/>
              </a:rPr>
              <a:t>H1/H3 — the attribution reverses</a:t>
            </a:r>
            <a:endParaRPr lang="en-US" sz="1250" dirty="0"/>
          </a:p>
        </p:txBody>
      </p:sp>
      <p:sp>
        <p:nvSpPr>
          <p:cNvPr id="10" name="Text 7"/>
          <p:cNvSpPr txBox="1"/>
          <p:nvPr/>
        </p:nvSpPr>
        <p:spPr>
          <a:xfrm>
            <a:off x="7818120" y="4114800"/>
            <a:ext cx="3566160" cy="731520"/>
          </a:xfrm>
          <a:prstGeom prst="rect">
            <a:avLst/>
          </a:prstGeom>
          <a:noFill/>
          <a:ln/>
        </p:spPr>
        <p:txBody>
          <a:bodyPr wrap="square" lIns="0" tIns="0" rIns="0" bIns="0" rtlCol="0" anchor="t"/>
          <a:lstStyle/>
          <a:p>
            <a:pPr algn="l" indent="0" marL="0">
              <a:lnSpc>
                <a:spcPts val="1500"/>
              </a:lnSpc>
              <a:buNone/>
            </a:pPr>
            <a:r>
              <a:rPr lang="en-US" sz="1150" dirty="0">
                <a:solidFill>
                  <a:srgbClr val="2C3E4D"/>
                </a:solidFill>
                <a:latin typeface="Calibri" pitchFamily="34" charset="0"/>
                <a:ea typeface="Calibri" pitchFamily="34" charset="-122"/>
                <a:cs typeface="Calibri" pitchFamily="34" charset="-120"/>
              </a:rPr>
              <a:t>With both cells live, on warehouse_medium: aisle direction alone raises throughput 0.337 → 0.405, entry admission alone drops it to 0.262, both land at 0.217.</a:t>
            </a:r>
            <a:endParaRPr lang="en-US" sz="1150" dirty="0"/>
          </a:p>
        </p:txBody>
      </p:sp>
      <p:sp>
        <p:nvSpPr>
          <p:cNvPr id="11" name="Shape 8"/>
          <p:cNvSpPr/>
          <p:nvPr/>
        </p:nvSpPr>
        <p:spPr>
          <a:xfrm>
            <a:off x="7543800" y="5138928"/>
            <a:ext cx="4114800" cy="1298448"/>
          </a:xfrm>
          <a:prstGeom prst="roundRect">
            <a:avLst>
              <a:gd name="adj" fmla="val 6338"/>
            </a:avLst>
          </a:prstGeom>
          <a:solidFill>
            <a:srgbClr val="EDF2F6"/>
          </a:solidFill>
          <a:ln w="12700">
            <a:solidFill>
              <a:srgbClr val="EDF2F6"/>
            </a:solidFill>
            <a:prstDash val="solid"/>
          </a:ln>
        </p:spPr>
      </p:sp>
      <p:sp>
        <p:nvSpPr>
          <p:cNvPr id="12" name="Text 9"/>
          <p:cNvSpPr txBox="1"/>
          <p:nvPr/>
        </p:nvSpPr>
        <p:spPr>
          <a:xfrm>
            <a:off x="7818120" y="5266944"/>
            <a:ext cx="3566160" cy="274320"/>
          </a:xfrm>
          <a:prstGeom prst="rect">
            <a:avLst/>
          </a:prstGeom>
          <a:noFill/>
          <a:ln/>
        </p:spPr>
        <p:txBody>
          <a:bodyPr wrap="square" lIns="0" tIns="0" rIns="0" bIns="0" rtlCol="0" anchor="ctr"/>
          <a:lstStyle/>
          <a:p>
            <a:pPr indent="0" marL="0">
              <a:buNone/>
            </a:pPr>
            <a:r>
              <a:rPr lang="en-US" sz="1250" b="1" spc="110" kern="0" dirty="0">
                <a:solidFill>
                  <a:srgbClr val="F2A104"/>
                </a:solidFill>
                <a:latin typeface="Calibri" pitchFamily="34" charset="0"/>
                <a:ea typeface="Calibri" pitchFamily="34" charset="-122"/>
                <a:cs typeface="Calibri" pitchFamily="34" charset="-120"/>
              </a:rPr>
              <a:t>H4 — one flag, three mechanisms</a:t>
            </a:r>
            <a:endParaRPr lang="en-US" sz="1250" dirty="0"/>
          </a:p>
        </p:txBody>
      </p:sp>
      <p:sp>
        <p:nvSpPr>
          <p:cNvPr id="13" name="Text 10"/>
          <p:cNvSpPr txBox="1"/>
          <p:nvPr/>
        </p:nvSpPr>
        <p:spPr>
          <a:xfrm>
            <a:off x="7818120" y="5541264"/>
            <a:ext cx="3566160" cy="777240"/>
          </a:xfrm>
          <a:prstGeom prst="rect">
            <a:avLst/>
          </a:prstGeom>
          <a:noFill/>
          <a:ln/>
        </p:spPr>
        <p:txBody>
          <a:bodyPr wrap="square" lIns="0" tIns="0" rIns="0" bIns="0" rtlCol="0" anchor="t"/>
          <a:lstStyle/>
          <a:p>
            <a:pPr algn="l" indent="0" marL="0">
              <a:lnSpc>
                <a:spcPts val="1500"/>
              </a:lnSpc>
              <a:buNone/>
            </a:pPr>
            <a:r>
              <a:rPr lang="en-US" sz="1150" dirty="0">
                <a:solidFill>
                  <a:srgbClr val="2C3E4D"/>
                </a:solidFill>
                <a:latin typeface="Calibri" pitchFamily="34" charset="0"/>
                <a:ea typeface="Calibri" pitchFamily="34" charset="-122"/>
                <a:cs typeface="Calibri" pitchFamily="34" charset="-120"/>
              </a:rPr>
              <a:t>congestion_aware moved the movement score, the assignment cost and the blocking term together — the same confound the factorials remove, one level down.</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515600" cy="237744"/>
          </a:xfrm>
          <a:prstGeom prst="rect">
            <a:avLst/>
          </a:prstGeom>
          <a:noFill/>
          <a:ln/>
        </p:spPr>
        <p:txBody>
          <a:bodyPr wrap="square" lIns="0" tIns="0" rIns="0" bIns="0" rtlCol="0" anchor="ctr"/>
          <a:lstStyle/>
          <a:p>
            <a:pPr indent="0" marL="0">
              <a:buNone/>
            </a:pPr>
            <a:r>
              <a:rPr lang="en-US" sz="1150" b="1" spc="220" kern="0" dirty="0">
                <a:solidFill>
                  <a:srgbClr val="F2A104"/>
                </a:solidFill>
                <a:latin typeface="Calibri" pitchFamily="34" charset="0"/>
                <a:ea typeface="Calibri" pitchFamily="34" charset="-122"/>
                <a:cs typeface="Calibri" pitchFamily="34" charset="-120"/>
              </a:rPr>
              <a:t>RESULT 3</a:t>
            </a:r>
            <a:endParaRPr lang="en-US" sz="1150" dirty="0"/>
          </a:p>
        </p:txBody>
      </p:sp>
      <p:sp>
        <p:nvSpPr>
          <p:cNvPr id="3" name="Text 1"/>
          <p:cNvSpPr txBox="1"/>
          <p:nvPr/>
        </p:nvSpPr>
        <p:spPr>
          <a:xfrm>
            <a:off x="548640" y="658368"/>
            <a:ext cx="10607040" cy="658368"/>
          </a:xfrm>
          <a:prstGeom prst="rect">
            <a:avLst/>
          </a:prstGeom>
          <a:noFill/>
          <a:ln/>
        </p:spPr>
        <p:txBody>
          <a:bodyPr wrap="square" lIns="0" tIns="0" rIns="0" bIns="0" rtlCol="0" anchor="ctr"/>
          <a:lstStyle/>
          <a:p>
            <a:pPr indent="0" marL="0">
              <a:buNone/>
            </a:pPr>
            <a:r>
              <a:rPr lang="en-US" sz="3400" b="1" dirty="0">
                <a:solidFill>
                  <a:srgbClr val="101C26"/>
                </a:solidFill>
                <a:latin typeface="Cambria" pitchFamily="34" charset="0"/>
                <a:ea typeface="Cambria" pitchFamily="34" charset="-122"/>
                <a:cs typeface="Cambria" pitchFamily="34" charset="-120"/>
              </a:rPr>
              <a:t>The scoreboard, on each claim's own metric</a:t>
            </a:r>
            <a:endParaRPr lang="en-US" sz="3400" dirty="0"/>
          </a:p>
        </p:txBody>
      </p:sp>
      <p:sp>
        <p:nvSpPr>
          <p:cNvPr id="4" name="Shape 2"/>
          <p:cNvSpPr/>
          <p:nvPr/>
        </p:nvSpPr>
        <p:spPr>
          <a:xfrm>
            <a:off x="548640" y="1691640"/>
            <a:ext cx="11091672" cy="566928"/>
          </a:xfrm>
          <a:prstGeom prst="roundRect">
            <a:avLst>
              <a:gd name="adj" fmla="val 14516"/>
            </a:avLst>
          </a:prstGeom>
          <a:solidFill>
            <a:srgbClr val="EDF2F6"/>
          </a:solidFill>
          <a:ln w="12700">
            <a:solidFill>
              <a:srgbClr val="EDF2F6"/>
            </a:solidFill>
            <a:prstDash val="solid"/>
          </a:ln>
        </p:spPr>
      </p:sp>
      <p:sp>
        <p:nvSpPr>
          <p:cNvPr id="5" name="Text 3"/>
          <p:cNvSpPr txBox="1"/>
          <p:nvPr/>
        </p:nvSpPr>
        <p:spPr>
          <a:xfrm>
            <a:off x="804672" y="1691640"/>
            <a:ext cx="548640" cy="566928"/>
          </a:xfrm>
          <a:prstGeom prst="rect">
            <a:avLst/>
          </a:prstGeom>
          <a:noFill/>
          <a:ln/>
        </p:spPr>
        <p:txBody>
          <a:bodyPr wrap="square" lIns="0" tIns="0" rIns="0" bIns="0" rtlCol="0" anchor="ctr"/>
          <a:lstStyle/>
          <a:p>
            <a:pPr indent="0" marL="0">
              <a:buNone/>
            </a:pPr>
            <a:r>
              <a:rPr lang="en-US" sz="1500" b="1" dirty="0">
                <a:solidFill>
                  <a:srgbClr val="F2A104"/>
                </a:solidFill>
                <a:latin typeface="Cambria" pitchFamily="34" charset="0"/>
                <a:ea typeface="Cambria" pitchFamily="34" charset="-122"/>
                <a:cs typeface="Cambria" pitchFamily="34" charset="-120"/>
              </a:rPr>
              <a:t>H1</a:t>
            </a:r>
            <a:endParaRPr lang="en-US" sz="1500" dirty="0"/>
          </a:p>
        </p:txBody>
      </p:sp>
      <p:sp>
        <p:nvSpPr>
          <p:cNvPr id="6" name="Text 4"/>
          <p:cNvSpPr txBox="1"/>
          <p:nvPr/>
        </p:nvSpPr>
        <p:spPr>
          <a:xfrm>
            <a:off x="1417320" y="1691640"/>
            <a:ext cx="6583680" cy="566928"/>
          </a:xfrm>
          <a:prstGeom prst="rect">
            <a:avLst/>
          </a:prstGeom>
          <a:noFill/>
          <a:ln/>
        </p:spPr>
        <p:txBody>
          <a:bodyPr wrap="square" lIns="0" tIns="0" rIns="0" bIns="0" rtlCol="0" anchor="ctr"/>
          <a:lstStyle/>
          <a:p>
            <a:pPr indent="0" marL="0">
              <a:buNone/>
            </a:pPr>
            <a:r>
              <a:rPr lang="en-US" sz="1300" dirty="0">
                <a:solidFill>
                  <a:srgbClr val="2C3E4D"/>
                </a:solidFill>
                <a:latin typeface="Calibri" pitchFamily="34" charset="0"/>
                <a:ea typeface="Calibri" pitchFamily="34" charset="-122"/>
                <a:cs typeface="Calibri" pitchFamily="34" charset="-120"/>
              </a:rPr>
              <a:t>Aisle direction lifts per-aisle flow in narrow aisles</a:t>
            </a:r>
            <a:endParaRPr lang="en-US" sz="1300" dirty="0"/>
          </a:p>
        </p:txBody>
      </p:sp>
      <p:sp>
        <p:nvSpPr>
          <p:cNvPr id="7" name="Shape 5"/>
          <p:cNvSpPr/>
          <p:nvPr/>
        </p:nvSpPr>
        <p:spPr>
          <a:xfrm>
            <a:off x="8778240" y="1810512"/>
            <a:ext cx="2606040" cy="329184"/>
          </a:xfrm>
          <a:prstGeom prst="roundRect">
            <a:avLst>
              <a:gd name="adj" fmla="val 50000"/>
            </a:avLst>
          </a:prstGeom>
          <a:solidFill>
            <a:srgbClr val="4A5A68"/>
          </a:solidFill>
          <a:ln/>
        </p:spPr>
      </p:sp>
      <p:sp>
        <p:nvSpPr>
          <p:cNvPr id="8" name="Text 6"/>
          <p:cNvSpPr txBox="1"/>
          <p:nvPr/>
        </p:nvSpPr>
        <p:spPr>
          <a:xfrm>
            <a:off x="8778240" y="1810512"/>
            <a:ext cx="26060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not on its own metric</a:t>
            </a:r>
            <a:endParaRPr lang="en-US" sz="1100" dirty="0"/>
          </a:p>
        </p:txBody>
      </p:sp>
      <p:sp>
        <p:nvSpPr>
          <p:cNvPr id="9" name="Shape 7"/>
          <p:cNvSpPr/>
          <p:nvPr/>
        </p:nvSpPr>
        <p:spPr>
          <a:xfrm>
            <a:off x="548640" y="2350008"/>
            <a:ext cx="11091672" cy="566928"/>
          </a:xfrm>
          <a:prstGeom prst="roundRect">
            <a:avLst>
              <a:gd name="adj" fmla="val 14516"/>
            </a:avLst>
          </a:prstGeom>
          <a:solidFill>
            <a:srgbClr val="FFFFFF"/>
          </a:solidFill>
          <a:ln w="12700">
            <a:solidFill>
              <a:srgbClr val="D0DAE3"/>
            </a:solidFill>
            <a:prstDash val="solid"/>
          </a:ln>
        </p:spPr>
      </p:sp>
      <p:sp>
        <p:nvSpPr>
          <p:cNvPr id="10" name="Text 8"/>
          <p:cNvSpPr txBox="1"/>
          <p:nvPr/>
        </p:nvSpPr>
        <p:spPr>
          <a:xfrm>
            <a:off x="804672" y="2350008"/>
            <a:ext cx="548640" cy="566928"/>
          </a:xfrm>
          <a:prstGeom prst="rect">
            <a:avLst/>
          </a:prstGeom>
          <a:noFill/>
          <a:ln/>
        </p:spPr>
        <p:txBody>
          <a:bodyPr wrap="square" lIns="0" tIns="0" rIns="0" bIns="0" rtlCol="0" anchor="ctr"/>
          <a:lstStyle/>
          <a:p>
            <a:pPr indent="0" marL="0">
              <a:buNone/>
            </a:pPr>
            <a:r>
              <a:rPr lang="en-US" sz="1500" b="1" dirty="0">
                <a:solidFill>
                  <a:srgbClr val="F2A104"/>
                </a:solidFill>
                <a:latin typeface="Cambria" pitchFamily="34" charset="0"/>
                <a:ea typeface="Cambria" pitchFamily="34" charset="-122"/>
                <a:cs typeface="Cambria" pitchFamily="34" charset="-120"/>
              </a:rPr>
              <a:t>H2</a:t>
            </a:r>
            <a:endParaRPr lang="en-US" sz="1500" dirty="0"/>
          </a:p>
        </p:txBody>
      </p:sp>
      <p:sp>
        <p:nvSpPr>
          <p:cNvPr id="11" name="Text 9"/>
          <p:cNvSpPr txBox="1"/>
          <p:nvPr/>
        </p:nvSpPr>
        <p:spPr>
          <a:xfrm>
            <a:off x="1417320" y="2350008"/>
            <a:ext cx="6583680" cy="566928"/>
          </a:xfrm>
          <a:prstGeom prst="rect">
            <a:avLst/>
          </a:prstGeom>
          <a:noFill/>
          <a:ln/>
        </p:spPr>
        <p:txBody>
          <a:bodyPr wrap="square" lIns="0" tIns="0" rIns="0" bIns="0" rtlCol="0" anchor="ctr"/>
          <a:lstStyle/>
          <a:p>
            <a:pPr indent="0" marL="0">
              <a:buNone/>
            </a:pPr>
            <a:r>
              <a:rPr lang="en-US" sz="1300" dirty="0">
                <a:solidFill>
                  <a:srgbClr val="2C3E4D"/>
                </a:solidFill>
                <a:latin typeface="Calibri" pitchFamily="34" charset="0"/>
                <a:ea typeface="Calibri" pitchFamily="34" charset="-122"/>
                <a:cs typeface="Calibri" pitchFamily="34" charset="-120"/>
              </a:rPr>
              <a:t>Hysteresis reduces switching and prevents oscillation</a:t>
            </a:r>
            <a:endParaRPr lang="en-US" sz="1300" dirty="0"/>
          </a:p>
        </p:txBody>
      </p:sp>
      <p:sp>
        <p:nvSpPr>
          <p:cNvPr id="12" name="Shape 10"/>
          <p:cNvSpPr/>
          <p:nvPr/>
        </p:nvSpPr>
        <p:spPr>
          <a:xfrm>
            <a:off x="8778240" y="2468880"/>
            <a:ext cx="2606040" cy="329184"/>
          </a:xfrm>
          <a:prstGeom prst="roundRect">
            <a:avLst>
              <a:gd name="adj" fmla="val 50000"/>
            </a:avLst>
          </a:prstGeom>
          <a:solidFill>
            <a:srgbClr val="1F7A5C"/>
          </a:solidFill>
          <a:ln/>
        </p:spPr>
      </p:sp>
      <p:sp>
        <p:nvSpPr>
          <p:cNvPr id="13" name="Text 11"/>
          <p:cNvSpPr txBox="1"/>
          <p:nvPr/>
        </p:nvSpPr>
        <p:spPr>
          <a:xfrm>
            <a:off x="8778240" y="2468880"/>
            <a:ext cx="26060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supported, every map</a:t>
            </a:r>
            <a:endParaRPr lang="en-US" sz="1100" dirty="0"/>
          </a:p>
        </p:txBody>
      </p:sp>
      <p:sp>
        <p:nvSpPr>
          <p:cNvPr id="14" name="Shape 12"/>
          <p:cNvSpPr/>
          <p:nvPr/>
        </p:nvSpPr>
        <p:spPr>
          <a:xfrm>
            <a:off x="548640" y="3008376"/>
            <a:ext cx="11091672" cy="566928"/>
          </a:xfrm>
          <a:prstGeom prst="roundRect">
            <a:avLst>
              <a:gd name="adj" fmla="val 14516"/>
            </a:avLst>
          </a:prstGeom>
          <a:solidFill>
            <a:srgbClr val="EDF2F6"/>
          </a:solidFill>
          <a:ln w="12700">
            <a:solidFill>
              <a:srgbClr val="EDF2F6"/>
            </a:solidFill>
            <a:prstDash val="solid"/>
          </a:ln>
        </p:spPr>
      </p:sp>
      <p:sp>
        <p:nvSpPr>
          <p:cNvPr id="15" name="Text 13"/>
          <p:cNvSpPr txBox="1"/>
          <p:nvPr/>
        </p:nvSpPr>
        <p:spPr>
          <a:xfrm>
            <a:off x="804672" y="3008376"/>
            <a:ext cx="548640" cy="566928"/>
          </a:xfrm>
          <a:prstGeom prst="rect">
            <a:avLst/>
          </a:prstGeom>
          <a:noFill/>
          <a:ln/>
        </p:spPr>
        <p:txBody>
          <a:bodyPr wrap="square" lIns="0" tIns="0" rIns="0" bIns="0" rtlCol="0" anchor="ctr"/>
          <a:lstStyle/>
          <a:p>
            <a:pPr indent="0" marL="0">
              <a:buNone/>
            </a:pPr>
            <a:r>
              <a:rPr lang="en-US" sz="1500" b="1" dirty="0">
                <a:solidFill>
                  <a:srgbClr val="F2A104"/>
                </a:solidFill>
                <a:latin typeface="Cambria" pitchFamily="34" charset="0"/>
                <a:ea typeface="Cambria" pitchFamily="34" charset="-122"/>
                <a:cs typeface="Cambria" pitchFamily="34" charset="-120"/>
              </a:rPr>
              <a:t>H3</a:t>
            </a:r>
            <a:endParaRPr lang="en-US" sz="1500" dirty="0"/>
          </a:p>
        </p:txBody>
      </p:sp>
      <p:sp>
        <p:nvSpPr>
          <p:cNvPr id="16" name="Text 14"/>
          <p:cNvSpPr txBox="1"/>
          <p:nvPr/>
        </p:nvSpPr>
        <p:spPr>
          <a:xfrm>
            <a:off x="1417320" y="3008376"/>
            <a:ext cx="6583680" cy="566928"/>
          </a:xfrm>
          <a:prstGeom prst="rect">
            <a:avLst/>
          </a:prstGeom>
          <a:noFill/>
          <a:ln/>
        </p:spPr>
        <p:txBody>
          <a:bodyPr wrap="square" lIns="0" tIns="0" rIns="0" bIns="0" rtlCol="0" anchor="ctr"/>
          <a:lstStyle/>
          <a:p>
            <a:pPr indent="0" marL="0">
              <a:buNone/>
            </a:pPr>
            <a:r>
              <a:rPr lang="en-US" sz="1300" dirty="0">
                <a:solidFill>
                  <a:srgbClr val="2C3E4D"/>
                </a:solidFill>
                <a:latin typeface="Calibri" pitchFamily="34" charset="0"/>
                <a:ea typeface="Calibri" pitchFamily="34" charset="-122"/>
                <a:cs typeface="Calibri" pitchFamily="34" charset="-120"/>
              </a:rPr>
              <a:t>Entry capacity admission cuts head-on conflicts</a:t>
            </a:r>
            <a:endParaRPr lang="en-US" sz="1300" dirty="0"/>
          </a:p>
        </p:txBody>
      </p:sp>
      <p:sp>
        <p:nvSpPr>
          <p:cNvPr id="17" name="Shape 15"/>
          <p:cNvSpPr/>
          <p:nvPr/>
        </p:nvSpPr>
        <p:spPr>
          <a:xfrm>
            <a:off x="8778240" y="3127248"/>
            <a:ext cx="2606040" cy="329184"/>
          </a:xfrm>
          <a:prstGeom prst="roundRect">
            <a:avLst>
              <a:gd name="adj" fmla="val 50000"/>
            </a:avLst>
          </a:prstGeom>
          <a:solidFill>
            <a:srgbClr val="4A5A68"/>
          </a:solidFill>
          <a:ln/>
        </p:spPr>
      </p:sp>
      <p:sp>
        <p:nvSpPr>
          <p:cNvPr id="18" name="Text 16"/>
          <p:cNvSpPr txBox="1"/>
          <p:nvPr/>
        </p:nvSpPr>
        <p:spPr>
          <a:xfrm>
            <a:off x="8778240" y="3127248"/>
            <a:ext cx="26060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map-dependent</a:t>
            </a:r>
            <a:endParaRPr lang="en-US" sz="1100" dirty="0"/>
          </a:p>
        </p:txBody>
      </p:sp>
      <p:sp>
        <p:nvSpPr>
          <p:cNvPr id="19" name="Shape 17"/>
          <p:cNvSpPr/>
          <p:nvPr/>
        </p:nvSpPr>
        <p:spPr>
          <a:xfrm>
            <a:off x="548640" y="3666744"/>
            <a:ext cx="11091672" cy="566928"/>
          </a:xfrm>
          <a:prstGeom prst="roundRect">
            <a:avLst>
              <a:gd name="adj" fmla="val 14516"/>
            </a:avLst>
          </a:prstGeom>
          <a:solidFill>
            <a:srgbClr val="FFFFFF"/>
          </a:solidFill>
          <a:ln w="12700">
            <a:solidFill>
              <a:srgbClr val="D0DAE3"/>
            </a:solidFill>
            <a:prstDash val="solid"/>
          </a:ln>
        </p:spPr>
      </p:sp>
      <p:sp>
        <p:nvSpPr>
          <p:cNvPr id="20" name="Text 18"/>
          <p:cNvSpPr txBox="1"/>
          <p:nvPr/>
        </p:nvSpPr>
        <p:spPr>
          <a:xfrm>
            <a:off x="804672" y="3666744"/>
            <a:ext cx="548640" cy="566928"/>
          </a:xfrm>
          <a:prstGeom prst="rect">
            <a:avLst/>
          </a:prstGeom>
          <a:noFill/>
          <a:ln/>
        </p:spPr>
        <p:txBody>
          <a:bodyPr wrap="square" lIns="0" tIns="0" rIns="0" bIns="0" rtlCol="0" anchor="ctr"/>
          <a:lstStyle/>
          <a:p>
            <a:pPr indent="0" marL="0">
              <a:buNone/>
            </a:pPr>
            <a:r>
              <a:rPr lang="en-US" sz="1500" b="1" dirty="0">
                <a:solidFill>
                  <a:srgbClr val="F2A104"/>
                </a:solidFill>
                <a:latin typeface="Cambria" pitchFamily="34" charset="0"/>
                <a:ea typeface="Cambria" pitchFamily="34" charset="-122"/>
                <a:cs typeface="Cambria" pitchFamily="34" charset="-120"/>
              </a:rPr>
              <a:t>H4</a:t>
            </a:r>
            <a:endParaRPr lang="en-US" sz="1500" dirty="0"/>
          </a:p>
        </p:txBody>
      </p:sp>
      <p:sp>
        <p:nvSpPr>
          <p:cNvPr id="21" name="Text 19"/>
          <p:cNvSpPr txBox="1"/>
          <p:nvPr/>
        </p:nvSpPr>
        <p:spPr>
          <a:xfrm>
            <a:off x="1417320" y="3666744"/>
            <a:ext cx="6583680" cy="566928"/>
          </a:xfrm>
          <a:prstGeom prst="rect">
            <a:avLst/>
          </a:prstGeom>
          <a:noFill/>
          <a:ln/>
        </p:spPr>
        <p:txBody>
          <a:bodyPr wrap="square" lIns="0" tIns="0" rIns="0" bIns="0" rtlCol="0" anchor="ctr"/>
          <a:lstStyle/>
          <a:p>
            <a:pPr indent="0" marL="0">
              <a:buNone/>
            </a:pPr>
            <a:r>
              <a:rPr lang="en-US" sz="1300" dirty="0">
                <a:solidFill>
                  <a:srgbClr val="2C3E4D"/>
                </a:solidFill>
                <a:latin typeface="Calibri" pitchFamily="34" charset="0"/>
                <a:ea typeface="Calibri" pitchFamily="34" charset="-122"/>
                <a:cs typeface="Calibri" pitchFamily="34" charset="-120"/>
              </a:rPr>
              <a:t>Congestion in matching cuts service time</a:t>
            </a:r>
            <a:endParaRPr lang="en-US" sz="1300" dirty="0"/>
          </a:p>
        </p:txBody>
      </p:sp>
      <p:sp>
        <p:nvSpPr>
          <p:cNvPr id="22" name="Shape 20"/>
          <p:cNvSpPr/>
          <p:nvPr/>
        </p:nvSpPr>
        <p:spPr>
          <a:xfrm>
            <a:off x="8778240" y="3785616"/>
            <a:ext cx="2606040" cy="329184"/>
          </a:xfrm>
          <a:prstGeom prst="roundRect">
            <a:avLst>
              <a:gd name="adj" fmla="val 50000"/>
            </a:avLst>
          </a:prstGeom>
          <a:solidFill>
            <a:srgbClr val="AF3527"/>
          </a:solidFill>
          <a:ln/>
        </p:spPr>
      </p:sp>
      <p:sp>
        <p:nvSpPr>
          <p:cNvPr id="23" name="Text 21"/>
          <p:cNvSpPr txBox="1"/>
          <p:nvPr/>
        </p:nvSpPr>
        <p:spPr>
          <a:xfrm>
            <a:off x="8778240" y="3785616"/>
            <a:ext cx="26060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not supported</a:t>
            </a:r>
            <a:endParaRPr lang="en-US" sz="1100" dirty="0"/>
          </a:p>
        </p:txBody>
      </p:sp>
      <p:sp>
        <p:nvSpPr>
          <p:cNvPr id="24" name="Shape 22"/>
          <p:cNvSpPr/>
          <p:nvPr/>
        </p:nvSpPr>
        <p:spPr>
          <a:xfrm>
            <a:off x="548640" y="4325112"/>
            <a:ext cx="11091672" cy="566928"/>
          </a:xfrm>
          <a:prstGeom prst="roundRect">
            <a:avLst>
              <a:gd name="adj" fmla="val 14516"/>
            </a:avLst>
          </a:prstGeom>
          <a:solidFill>
            <a:srgbClr val="EDF2F6"/>
          </a:solidFill>
          <a:ln w="12700">
            <a:solidFill>
              <a:srgbClr val="EDF2F6"/>
            </a:solidFill>
            <a:prstDash val="solid"/>
          </a:ln>
        </p:spPr>
      </p:sp>
      <p:sp>
        <p:nvSpPr>
          <p:cNvPr id="25" name="Text 23"/>
          <p:cNvSpPr txBox="1"/>
          <p:nvPr/>
        </p:nvSpPr>
        <p:spPr>
          <a:xfrm>
            <a:off x="804672" y="4325112"/>
            <a:ext cx="548640" cy="566928"/>
          </a:xfrm>
          <a:prstGeom prst="rect">
            <a:avLst/>
          </a:prstGeom>
          <a:noFill/>
          <a:ln/>
        </p:spPr>
        <p:txBody>
          <a:bodyPr wrap="square" lIns="0" tIns="0" rIns="0" bIns="0" rtlCol="0" anchor="ctr"/>
          <a:lstStyle/>
          <a:p>
            <a:pPr indent="0" marL="0">
              <a:buNone/>
            </a:pPr>
            <a:r>
              <a:rPr lang="en-US" sz="1500" b="1" dirty="0">
                <a:solidFill>
                  <a:srgbClr val="F2A104"/>
                </a:solidFill>
                <a:latin typeface="Cambria" pitchFamily="34" charset="0"/>
                <a:ea typeface="Cambria" pitchFamily="34" charset="-122"/>
                <a:cs typeface="Cambria" pitchFamily="34" charset="-120"/>
              </a:rPr>
              <a:t>H5</a:t>
            </a:r>
            <a:endParaRPr lang="en-US" sz="1500" dirty="0"/>
          </a:p>
        </p:txBody>
      </p:sp>
      <p:sp>
        <p:nvSpPr>
          <p:cNvPr id="26" name="Text 24"/>
          <p:cNvSpPr txBox="1"/>
          <p:nvPr/>
        </p:nvSpPr>
        <p:spPr>
          <a:xfrm>
            <a:off x="1417320" y="4325112"/>
            <a:ext cx="6583680" cy="566928"/>
          </a:xfrm>
          <a:prstGeom prst="rect">
            <a:avLst/>
          </a:prstGeom>
          <a:noFill/>
          <a:ln/>
        </p:spPr>
        <p:txBody>
          <a:bodyPr wrap="square" lIns="0" tIns="0" rIns="0" bIns="0" rtlCol="0" anchor="ctr"/>
          <a:lstStyle/>
          <a:p>
            <a:pPr indent="0" marL="0">
              <a:buNone/>
            </a:pPr>
            <a:r>
              <a:rPr lang="en-US" sz="1300" dirty="0">
                <a:solidFill>
                  <a:srgbClr val="2C3E4D"/>
                </a:solidFill>
                <a:latin typeface="Calibri" pitchFamily="34" charset="0"/>
                <a:ea typeface="Calibri" pitchFamily="34" charset="-122"/>
                <a:cs typeface="Calibri" pitchFamily="34" charset="-120"/>
              </a:rPr>
              <a:t>Proximity decay of the direction weight helps arrival</a:t>
            </a:r>
            <a:endParaRPr lang="en-US" sz="1300" dirty="0"/>
          </a:p>
        </p:txBody>
      </p:sp>
      <p:sp>
        <p:nvSpPr>
          <p:cNvPr id="27" name="Shape 25"/>
          <p:cNvSpPr/>
          <p:nvPr/>
        </p:nvSpPr>
        <p:spPr>
          <a:xfrm>
            <a:off x="8778240" y="4443984"/>
            <a:ext cx="2606040" cy="329184"/>
          </a:xfrm>
          <a:prstGeom prst="roundRect">
            <a:avLst>
              <a:gd name="adj" fmla="val 50000"/>
            </a:avLst>
          </a:prstGeom>
          <a:solidFill>
            <a:srgbClr val="4A5A68"/>
          </a:solidFill>
          <a:ln/>
        </p:spPr>
      </p:sp>
      <p:sp>
        <p:nvSpPr>
          <p:cNvPr id="28" name="Text 26"/>
          <p:cNvSpPr txBox="1"/>
          <p:nvPr/>
        </p:nvSpPr>
        <p:spPr>
          <a:xfrm>
            <a:off x="8778240" y="4443984"/>
            <a:ext cx="26060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mechanism is inert</a:t>
            </a:r>
            <a:endParaRPr lang="en-US" sz="1100" dirty="0"/>
          </a:p>
        </p:txBody>
      </p:sp>
      <p:sp>
        <p:nvSpPr>
          <p:cNvPr id="29" name="Shape 27"/>
          <p:cNvSpPr/>
          <p:nvPr/>
        </p:nvSpPr>
        <p:spPr>
          <a:xfrm>
            <a:off x="548640" y="4983480"/>
            <a:ext cx="11091672" cy="566928"/>
          </a:xfrm>
          <a:prstGeom prst="roundRect">
            <a:avLst>
              <a:gd name="adj" fmla="val 14516"/>
            </a:avLst>
          </a:prstGeom>
          <a:solidFill>
            <a:srgbClr val="FFFFFF"/>
          </a:solidFill>
          <a:ln w="12700">
            <a:solidFill>
              <a:srgbClr val="D0DAE3"/>
            </a:solidFill>
            <a:prstDash val="solid"/>
          </a:ln>
        </p:spPr>
      </p:sp>
      <p:sp>
        <p:nvSpPr>
          <p:cNvPr id="30" name="Text 28"/>
          <p:cNvSpPr txBox="1"/>
          <p:nvPr/>
        </p:nvSpPr>
        <p:spPr>
          <a:xfrm>
            <a:off x="804672" y="4983480"/>
            <a:ext cx="548640" cy="566928"/>
          </a:xfrm>
          <a:prstGeom prst="rect">
            <a:avLst/>
          </a:prstGeom>
          <a:noFill/>
          <a:ln/>
        </p:spPr>
        <p:txBody>
          <a:bodyPr wrap="square" lIns="0" tIns="0" rIns="0" bIns="0" rtlCol="0" anchor="ctr"/>
          <a:lstStyle/>
          <a:p>
            <a:pPr indent="0" marL="0">
              <a:buNone/>
            </a:pPr>
            <a:r>
              <a:rPr lang="en-US" sz="1500" b="1" dirty="0">
                <a:solidFill>
                  <a:srgbClr val="F2A104"/>
                </a:solidFill>
                <a:latin typeface="Cambria" pitchFamily="34" charset="0"/>
                <a:ea typeface="Cambria" pitchFamily="34" charset="-122"/>
                <a:cs typeface="Cambria" pitchFamily="34" charset="-120"/>
              </a:rPr>
              <a:t>H6</a:t>
            </a:r>
            <a:endParaRPr lang="en-US" sz="1500" dirty="0"/>
          </a:p>
        </p:txBody>
      </p:sp>
      <p:sp>
        <p:nvSpPr>
          <p:cNvPr id="31" name="Text 29"/>
          <p:cNvSpPr txBox="1"/>
          <p:nvPr/>
        </p:nvSpPr>
        <p:spPr>
          <a:xfrm>
            <a:off x="1417320" y="4983480"/>
            <a:ext cx="6583680" cy="566928"/>
          </a:xfrm>
          <a:prstGeom prst="rect">
            <a:avLst/>
          </a:prstGeom>
          <a:noFill/>
          <a:ln/>
        </p:spPr>
        <p:txBody>
          <a:bodyPr wrap="square" lIns="0" tIns="0" rIns="0" bIns="0" rtlCol="0" anchor="ctr"/>
          <a:lstStyle/>
          <a:p>
            <a:pPr indent="0" marL="0">
              <a:buNone/>
            </a:pPr>
            <a:r>
              <a:rPr lang="en-US" sz="1300" dirty="0">
                <a:solidFill>
                  <a:srgbClr val="2C3E4D"/>
                </a:solidFill>
                <a:latin typeface="Calibri" pitchFamily="34" charset="0"/>
                <a:ea typeface="Calibri" pitchFamily="34" charset="-122"/>
                <a:cs typeface="Calibri" pitchFamily="34" charset="-120"/>
              </a:rPr>
              <a:t>Localised recovery beats a global planner</a:t>
            </a:r>
            <a:endParaRPr lang="en-US" sz="1300" dirty="0"/>
          </a:p>
        </p:txBody>
      </p:sp>
      <p:sp>
        <p:nvSpPr>
          <p:cNvPr id="32" name="Shape 30"/>
          <p:cNvSpPr/>
          <p:nvPr/>
        </p:nvSpPr>
        <p:spPr>
          <a:xfrm>
            <a:off x="8778240" y="5102352"/>
            <a:ext cx="2606040" cy="329184"/>
          </a:xfrm>
          <a:prstGeom prst="roundRect">
            <a:avLst>
              <a:gd name="adj" fmla="val 50000"/>
            </a:avLst>
          </a:prstGeom>
          <a:solidFill>
            <a:srgbClr val="1F7A5C"/>
          </a:solidFill>
          <a:ln/>
        </p:spPr>
      </p:sp>
      <p:sp>
        <p:nvSpPr>
          <p:cNvPr id="33" name="Text 31"/>
          <p:cNvSpPr txBox="1"/>
          <p:nvPr/>
        </p:nvSpPr>
        <p:spPr>
          <a:xfrm>
            <a:off x="8778240" y="5102352"/>
            <a:ext cx="26060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supported on corridors</a:t>
            </a:r>
            <a:endParaRPr lang="en-US" sz="1100" dirty="0"/>
          </a:p>
        </p:txBody>
      </p:sp>
      <p:sp>
        <p:nvSpPr>
          <p:cNvPr id="34" name="Shape 32"/>
          <p:cNvSpPr/>
          <p:nvPr/>
        </p:nvSpPr>
        <p:spPr>
          <a:xfrm>
            <a:off x="548640" y="5715000"/>
            <a:ext cx="11091672" cy="749808"/>
          </a:xfrm>
          <a:prstGeom prst="roundRect">
            <a:avLst>
              <a:gd name="adj" fmla="val 10976"/>
            </a:avLst>
          </a:prstGeom>
          <a:solidFill>
            <a:srgbClr val="1D3346"/>
          </a:solidFill>
          <a:ln w="12700">
            <a:solidFill>
              <a:srgbClr val="1D3346"/>
            </a:solidFill>
            <a:prstDash val="solid"/>
          </a:ln>
          <a:effectLst>
            <a:outerShdw sx="100000" sy="100000" kx="0" ky="0" algn="bl" rotWithShape="0" blurRad="127000" dist="25400" dir="5400000">
              <a:srgbClr val="0B1620">
                <a:alpha val="13000"/>
              </a:srgbClr>
            </a:outerShdw>
          </a:effectLst>
        </p:spPr>
      </p:sp>
      <p:sp>
        <p:nvSpPr>
          <p:cNvPr id="35" name="Text 33"/>
          <p:cNvSpPr txBox="1"/>
          <p:nvPr/>
        </p:nvSpPr>
        <p:spPr>
          <a:xfrm>
            <a:off x="868680" y="5870448"/>
            <a:ext cx="10424160" cy="45720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Scored on the quantity each claim names — head-on conflicts for H3, per-aisle flow for H1 — not on throughput. H1 fails its own metric yet raises end-to-end throughput on three of four maps.</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515600" cy="237744"/>
          </a:xfrm>
          <a:prstGeom prst="rect">
            <a:avLst/>
          </a:prstGeom>
          <a:noFill/>
          <a:ln/>
        </p:spPr>
        <p:txBody>
          <a:bodyPr wrap="square" lIns="0" tIns="0" rIns="0" bIns="0" rtlCol="0" anchor="ctr"/>
          <a:lstStyle/>
          <a:p>
            <a:pPr indent="0" marL="0">
              <a:buNone/>
            </a:pPr>
            <a:r>
              <a:rPr lang="en-US" sz="1150" b="1" spc="220" kern="0" dirty="0">
                <a:solidFill>
                  <a:srgbClr val="F2A104"/>
                </a:solidFill>
                <a:latin typeface="Calibri" pitchFamily="34" charset="0"/>
                <a:ea typeface="Calibri" pitchFamily="34" charset="-122"/>
                <a:cs typeface="Calibri" pitchFamily="34" charset="-120"/>
              </a:rPr>
              <a:t>WHAT THE FIXES WERE WORTH</a:t>
            </a:r>
            <a:endParaRPr lang="en-US" sz="1150" dirty="0"/>
          </a:p>
        </p:txBody>
      </p:sp>
      <p:sp>
        <p:nvSpPr>
          <p:cNvPr id="3" name="Text 1"/>
          <p:cNvSpPr txBox="1"/>
          <p:nvPr/>
        </p:nvSpPr>
        <p:spPr>
          <a:xfrm>
            <a:off x="548640" y="658368"/>
            <a:ext cx="10607040" cy="658368"/>
          </a:xfrm>
          <a:prstGeom prst="rect">
            <a:avLst/>
          </a:prstGeom>
          <a:noFill/>
          <a:ln/>
        </p:spPr>
        <p:txBody>
          <a:bodyPr wrap="square" lIns="0" tIns="0" rIns="0" bIns="0" rtlCol="0" anchor="ctr"/>
          <a:lstStyle/>
          <a:p>
            <a:pPr indent="0" marL="0">
              <a:buNone/>
            </a:pPr>
            <a:r>
              <a:rPr lang="en-US" sz="3400" b="1" dirty="0">
                <a:solidFill>
                  <a:srgbClr val="101C26"/>
                </a:solidFill>
                <a:latin typeface="Cambria" pitchFamily="34" charset="0"/>
                <a:ea typeface="Cambria" pitchFamily="34" charset="-122"/>
                <a:cs typeface="Cambria" pitchFamily="34" charset="-120"/>
              </a:rPr>
              <a:t>Three mechanisms, measured one at a time</a:t>
            </a:r>
            <a:endParaRPr lang="en-US" sz="3400" dirty="0"/>
          </a:p>
        </p:txBody>
      </p:sp>
      <p:sp>
        <p:nvSpPr>
          <p:cNvPr id="4" name="Shape 2"/>
          <p:cNvSpPr/>
          <p:nvPr/>
        </p:nvSpPr>
        <p:spPr>
          <a:xfrm>
            <a:off x="548640" y="1664208"/>
            <a:ext cx="11091672" cy="1325880"/>
          </a:xfrm>
          <a:prstGeom prst="roundRect">
            <a:avLst>
              <a:gd name="adj" fmla="val 6207"/>
            </a:avLst>
          </a:prstGeom>
          <a:solidFill>
            <a:srgbClr val="EDF2F6"/>
          </a:solidFill>
          <a:ln w="12700">
            <a:solidFill>
              <a:srgbClr val="EDF2F6"/>
            </a:solidFill>
            <a:prstDash val="solid"/>
          </a:ln>
          <a:effectLst>
            <a:outerShdw sx="100000" sy="100000" kx="0" ky="0" algn="bl" rotWithShape="0" blurRad="127000" dist="25400" dir="5400000">
              <a:srgbClr val="0B1620">
                <a:alpha val="13000"/>
              </a:srgbClr>
            </a:outerShdw>
          </a:effectLst>
        </p:spPr>
      </p:sp>
      <p:sp>
        <p:nvSpPr>
          <p:cNvPr id="5" name="Shape 3"/>
          <p:cNvSpPr/>
          <p:nvPr/>
        </p:nvSpPr>
        <p:spPr>
          <a:xfrm>
            <a:off x="859536" y="1956816"/>
            <a:ext cx="420624" cy="420624"/>
          </a:xfrm>
          <a:prstGeom prst="ellipse">
            <a:avLst/>
          </a:prstGeom>
          <a:solidFill>
            <a:srgbClr val="F2A104"/>
          </a:solidFill>
          <a:ln/>
        </p:spPr>
      </p:sp>
      <p:sp>
        <p:nvSpPr>
          <p:cNvPr id="6" name="Text 4"/>
          <p:cNvSpPr txBox="1"/>
          <p:nvPr/>
        </p:nvSpPr>
        <p:spPr>
          <a:xfrm>
            <a:off x="859536" y="1956816"/>
            <a:ext cx="420624" cy="420624"/>
          </a:xfrm>
          <a:prstGeom prst="rect">
            <a:avLst/>
          </a:prstGeom>
          <a:noFill/>
          <a:ln/>
        </p:spPr>
        <p:txBody>
          <a:bodyPr wrap="square" lIns="0" tIns="0" rIns="0" bIns="0" rtlCol="0" anchor="ctr"/>
          <a:lstStyle/>
          <a:p>
            <a:pPr algn="ctr" indent="0" marL="0">
              <a:buNone/>
            </a:pPr>
            <a:r>
              <a:rPr lang="en-US" sz="1600" b="1" dirty="0">
                <a:solidFill>
                  <a:srgbClr val="101C26"/>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463040" y="1847088"/>
            <a:ext cx="9692640" cy="347472"/>
          </a:xfrm>
          <a:prstGeom prst="rect">
            <a:avLst/>
          </a:prstGeom>
          <a:noFill/>
          <a:ln/>
        </p:spPr>
        <p:txBody>
          <a:bodyPr wrap="square" lIns="0" tIns="0" rIns="0" bIns="0" rtlCol="0" anchor="ctr"/>
          <a:lstStyle/>
          <a:p>
            <a:pPr indent="0" marL="0">
              <a:buNone/>
            </a:pPr>
            <a:r>
              <a:rPr lang="en-US" sz="1700" b="1" dirty="0">
                <a:solidFill>
                  <a:srgbClr val="101C26"/>
                </a:solidFill>
                <a:latin typeface="Cambria" pitchFamily="34" charset="0"/>
                <a:ea typeface="Cambria" pitchFamily="34" charset="-122"/>
                <a:cs typeface="Cambria" pitchFamily="34" charset="-120"/>
              </a:rPr>
              <a:t>Direction ranks candidates instead of rejecting them</a:t>
            </a:r>
            <a:endParaRPr lang="en-US" sz="1700" dirty="0"/>
          </a:p>
        </p:txBody>
      </p:sp>
      <p:sp>
        <p:nvSpPr>
          <p:cNvPr id="8" name="Text 6"/>
          <p:cNvSpPr txBox="1"/>
          <p:nvPr/>
        </p:nvSpPr>
        <p:spPr>
          <a:xfrm>
            <a:off x="1463040" y="2231136"/>
            <a:ext cx="9692640" cy="658368"/>
          </a:xfrm>
          <a:prstGeom prst="rect">
            <a:avLst/>
          </a:prstGeom>
          <a:noFill/>
          <a:ln/>
        </p:spPr>
        <p:txBody>
          <a:bodyPr wrap="square" lIns="0" tIns="0" rIns="0" bIns="0" rtlCol="0" anchor="t"/>
          <a:lstStyle/>
          <a:p>
            <a:pPr algn="l" indent="0" marL="0">
              <a:lnSpc>
                <a:spcPts val="1650"/>
              </a:lnSpc>
              <a:buNone/>
            </a:pPr>
            <a:r>
              <a:rPr lang="en-US" sz="1250" dirty="0">
                <a:solidFill>
                  <a:srgbClr val="2C3E4D"/>
                </a:solidFill>
                <a:latin typeface="Calibri" pitchFamily="34" charset="0"/>
                <a:ea typeface="Calibri" pitchFamily="34" charset="-122"/>
                <a:cs typeface="Calibri" pitchFamily="34" charset="-120"/>
              </a:rPr>
              <a:t>The largest effect in the repository: 0.084 → 0.158 on corridors, 0.112 → 0.304 on narrow, 0.161 → 0.405 on medium, p = 0.008 on each. A rejected move is a move priority inheritance can no longer use to unblock a chain.</a:t>
            </a:r>
            <a:endParaRPr lang="en-US" sz="1250" dirty="0"/>
          </a:p>
        </p:txBody>
      </p:sp>
      <p:sp>
        <p:nvSpPr>
          <p:cNvPr id="9" name="Shape 7"/>
          <p:cNvSpPr/>
          <p:nvPr/>
        </p:nvSpPr>
        <p:spPr>
          <a:xfrm>
            <a:off x="548640" y="3154680"/>
            <a:ext cx="11091672" cy="1325880"/>
          </a:xfrm>
          <a:prstGeom prst="roundRect">
            <a:avLst>
              <a:gd name="adj" fmla="val 6207"/>
            </a:avLst>
          </a:prstGeom>
          <a:solidFill>
            <a:srgbClr val="EDF2F6"/>
          </a:solidFill>
          <a:ln w="12700">
            <a:solidFill>
              <a:srgbClr val="EDF2F6"/>
            </a:solidFill>
            <a:prstDash val="solid"/>
          </a:ln>
          <a:effectLst>
            <a:outerShdw sx="100000" sy="100000" kx="0" ky="0" algn="bl" rotWithShape="0" blurRad="127000" dist="25400" dir="5400000">
              <a:srgbClr val="0B1620">
                <a:alpha val="13000"/>
              </a:srgbClr>
            </a:outerShdw>
          </a:effectLst>
        </p:spPr>
      </p:sp>
      <p:sp>
        <p:nvSpPr>
          <p:cNvPr id="10" name="Shape 8"/>
          <p:cNvSpPr/>
          <p:nvPr/>
        </p:nvSpPr>
        <p:spPr>
          <a:xfrm>
            <a:off x="859536" y="3447288"/>
            <a:ext cx="420624" cy="420624"/>
          </a:xfrm>
          <a:prstGeom prst="ellipse">
            <a:avLst/>
          </a:prstGeom>
          <a:solidFill>
            <a:srgbClr val="F2A104"/>
          </a:solidFill>
          <a:ln/>
        </p:spPr>
      </p:sp>
      <p:sp>
        <p:nvSpPr>
          <p:cNvPr id="11" name="Text 9"/>
          <p:cNvSpPr txBox="1"/>
          <p:nvPr/>
        </p:nvSpPr>
        <p:spPr>
          <a:xfrm>
            <a:off x="859536" y="3447288"/>
            <a:ext cx="420624" cy="420624"/>
          </a:xfrm>
          <a:prstGeom prst="rect">
            <a:avLst/>
          </a:prstGeom>
          <a:noFill/>
          <a:ln/>
        </p:spPr>
        <p:txBody>
          <a:bodyPr wrap="square" lIns="0" tIns="0" rIns="0" bIns="0" rtlCol="0" anchor="ctr"/>
          <a:lstStyle/>
          <a:p>
            <a:pPr algn="ctr" indent="0" marL="0">
              <a:buNone/>
            </a:pPr>
            <a:r>
              <a:rPr lang="en-US" sz="1600" b="1" dirty="0">
                <a:solidFill>
                  <a:srgbClr val="101C26"/>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1463040" y="3337560"/>
            <a:ext cx="9692640" cy="347472"/>
          </a:xfrm>
          <a:prstGeom prst="rect">
            <a:avLst/>
          </a:prstGeom>
          <a:noFill/>
          <a:ln/>
        </p:spPr>
        <p:txBody>
          <a:bodyPr wrap="square" lIns="0" tIns="0" rIns="0" bIns="0" rtlCol="0" anchor="ctr"/>
          <a:lstStyle/>
          <a:p>
            <a:pPr indent="0" marL="0">
              <a:buNone/>
            </a:pPr>
            <a:r>
              <a:rPr lang="en-US" sz="1700" b="1" dirty="0">
                <a:solidFill>
                  <a:srgbClr val="101C26"/>
                </a:solidFill>
                <a:latin typeface="Cambria" pitchFamily="34" charset="0"/>
                <a:ea typeface="Cambria" pitchFamily="34" charset="-122"/>
                <a:cs typeface="Cambria" pitchFamily="34" charset="-120"/>
              </a:rPr>
              <a:t>Recovery escalates only on a corroborated stall</a:t>
            </a:r>
            <a:endParaRPr lang="en-US" sz="1700" dirty="0"/>
          </a:p>
        </p:txBody>
      </p:sp>
      <p:sp>
        <p:nvSpPr>
          <p:cNvPr id="13" name="Text 11"/>
          <p:cNvSpPr txBox="1"/>
          <p:nvPr/>
        </p:nvSpPr>
        <p:spPr>
          <a:xfrm>
            <a:off x="1463040" y="3721608"/>
            <a:ext cx="9692640" cy="658368"/>
          </a:xfrm>
          <a:prstGeom prst="rect">
            <a:avLst/>
          </a:prstGeom>
          <a:noFill/>
          <a:ln/>
        </p:spPr>
        <p:txBody>
          <a:bodyPr wrap="square" lIns="0" tIns="0" rIns="0" bIns="0" rtlCol="0" anchor="t"/>
          <a:lstStyle/>
          <a:p>
            <a:pPr algn="l" indent="0" marL="0">
              <a:lnSpc>
                <a:spcPts val="1650"/>
              </a:lnSpc>
              <a:buNone/>
            </a:pPr>
            <a:r>
              <a:rPr lang="en-US" sz="1250" dirty="0">
                <a:solidFill>
                  <a:srgbClr val="2C3E4D"/>
                </a:solidFill>
                <a:latin typeface="Calibri" pitchFamily="34" charset="0"/>
                <a:ea typeface="Calibri" pitchFamily="34" charset="-122"/>
                <a:cs typeface="Calibri" pitchFamily="34" charset="-120"/>
              </a:rPr>
              <a:t>0.022 → 0.134 tasks/step on warehouse_corridors. This was invisible before, because the hard constraints above manufactured real deadlocks for recovery to rescue — remove the cause and the false positives show through.</a:t>
            </a:r>
            <a:endParaRPr lang="en-US" sz="1250" dirty="0"/>
          </a:p>
        </p:txBody>
      </p:sp>
      <p:sp>
        <p:nvSpPr>
          <p:cNvPr id="14" name="Shape 12"/>
          <p:cNvSpPr/>
          <p:nvPr/>
        </p:nvSpPr>
        <p:spPr>
          <a:xfrm>
            <a:off x="548640" y="4645152"/>
            <a:ext cx="11091672" cy="1325880"/>
          </a:xfrm>
          <a:prstGeom prst="roundRect">
            <a:avLst>
              <a:gd name="adj" fmla="val 6207"/>
            </a:avLst>
          </a:prstGeom>
          <a:solidFill>
            <a:srgbClr val="1D3346"/>
          </a:solidFill>
          <a:ln w="12700">
            <a:solidFill>
              <a:srgbClr val="1D3346"/>
            </a:solidFill>
            <a:prstDash val="solid"/>
          </a:ln>
          <a:effectLst>
            <a:outerShdw sx="100000" sy="100000" kx="0" ky="0" algn="bl" rotWithShape="0" blurRad="127000" dist="25400" dir="5400000">
              <a:srgbClr val="0B1620">
                <a:alpha val="13000"/>
              </a:srgbClr>
            </a:outerShdw>
          </a:effectLst>
        </p:spPr>
      </p:sp>
      <p:sp>
        <p:nvSpPr>
          <p:cNvPr id="15" name="Shape 13"/>
          <p:cNvSpPr/>
          <p:nvPr/>
        </p:nvSpPr>
        <p:spPr>
          <a:xfrm>
            <a:off x="859536" y="4937760"/>
            <a:ext cx="420624" cy="420624"/>
          </a:xfrm>
          <a:prstGeom prst="ellipse">
            <a:avLst/>
          </a:prstGeom>
          <a:solidFill>
            <a:srgbClr val="F2A104"/>
          </a:solidFill>
          <a:ln/>
        </p:spPr>
      </p:sp>
      <p:sp>
        <p:nvSpPr>
          <p:cNvPr id="16" name="Text 14"/>
          <p:cNvSpPr txBox="1"/>
          <p:nvPr/>
        </p:nvSpPr>
        <p:spPr>
          <a:xfrm>
            <a:off x="859536" y="4937760"/>
            <a:ext cx="420624" cy="420624"/>
          </a:xfrm>
          <a:prstGeom prst="rect">
            <a:avLst/>
          </a:prstGeom>
          <a:noFill/>
          <a:ln/>
        </p:spPr>
        <p:txBody>
          <a:bodyPr wrap="square" lIns="0" tIns="0" rIns="0" bIns="0" rtlCol="0" anchor="ctr"/>
          <a:lstStyle/>
          <a:p>
            <a:pPr algn="ctr" indent="0" marL="0">
              <a:buNone/>
            </a:pPr>
            <a:r>
              <a:rPr lang="en-US" sz="1600" b="1" dirty="0">
                <a:solidFill>
                  <a:srgbClr val="101C26"/>
                </a:solidFill>
                <a:latin typeface="Calibri" pitchFamily="34" charset="0"/>
                <a:ea typeface="Calibri" pitchFamily="34" charset="-122"/>
                <a:cs typeface="Calibri" pitchFamily="34" charset="-120"/>
              </a:rPr>
              <a:t>3</a:t>
            </a:r>
            <a:endParaRPr lang="en-US" sz="1600" dirty="0"/>
          </a:p>
        </p:txBody>
      </p:sp>
      <p:sp>
        <p:nvSpPr>
          <p:cNvPr id="17" name="Text 15"/>
          <p:cNvSpPr txBox="1"/>
          <p:nvPr/>
        </p:nvSpPr>
        <p:spPr>
          <a:xfrm>
            <a:off x="1463040" y="4828032"/>
            <a:ext cx="9692640" cy="347472"/>
          </a:xfrm>
          <a:prstGeom prst="rect">
            <a:avLst/>
          </a:prstGeom>
          <a:noFill/>
          <a:ln/>
        </p:spPr>
        <p:txBody>
          <a:bodyPr wrap="square" lIns="0" tIns="0" rIns="0" bIns="0" rtlCol="0" anchor="ctr"/>
          <a:lstStyle/>
          <a:p>
            <a:pPr indent="0" marL="0">
              <a:buNone/>
            </a:pPr>
            <a:r>
              <a:rPr lang="en-US" sz="1700" b="1" dirty="0">
                <a:solidFill>
                  <a:srgbClr val="F2A104"/>
                </a:solidFill>
                <a:latin typeface="Cambria" pitchFamily="34" charset="0"/>
                <a:ea typeface="Cambria" pitchFamily="34" charset="-122"/>
                <a:cs typeface="Cambria" pitchFamily="34" charset="-120"/>
              </a:rPr>
              <a:t>The maximum green, and why it now matters less</a:t>
            </a:r>
            <a:endParaRPr lang="en-US" sz="1700" dirty="0"/>
          </a:p>
        </p:txBody>
      </p:sp>
      <p:sp>
        <p:nvSpPr>
          <p:cNvPr id="18" name="Text 16"/>
          <p:cNvSpPr txBox="1"/>
          <p:nvPr/>
        </p:nvSpPr>
        <p:spPr>
          <a:xfrm>
            <a:off x="1463040" y="5212080"/>
            <a:ext cx="9692640" cy="658368"/>
          </a:xfrm>
          <a:prstGeom prst="rect">
            <a:avLst/>
          </a:prstGeom>
          <a:noFill/>
          <a:ln/>
        </p:spPr>
        <p:txBody>
          <a:bodyPr wrap="square" lIns="0" tIns="0" rIns="0" bIns="0" rtlCol="0" anchor="t"/>
          <a:lstStyle/>
          <a:p>
            <a:pPr algn="l" indent="0" marL="0">
              <a:lnSpc>
                <a:spcPts val="1650"/>
              </a:lnSpc>
              <a:buNone/>
            </a:pPr>
            <a:r>
              <a:rPr lang="en-US" sz="1250" dirty="0">
                <a:solidFill>
                  <a:srgbClr val="C6D5E0"/>
                </a:solidFill>
                <a:latin typeface="Calibri" pitchFamily="34" charset="0"/>
                <a:ea typeface="Calibri" pitchFamily="34" charset="-122"/>
                <a:cs typeface="Calibri" pitchFamily="34" charset="-120"/>
              </a:rPr>
              <a:t>It was decisive while direction was a hard constraint: without it corridors reached an absorbing deadlock. Once counterflow is merely expensive a robot can buy its way out, so the two fixes are partly redundant. It stays because it makes the layer correct, not just survivable.</a:t>
            </a:r>
            <a:endParaRPr lang="en-US" sz="1250" dirty="0"/>
          </a:p>
        </p:txBody>
      </p:sp>
      <p:sp>
        <p:nvSpPr>
          <p:cNvPr id="19" name="Shape 17"/>
          <p:cNvSpPr/>
          <p:nvPr/>
        </p:nvSpPr>
        <p:spPr>
          <a:xfrm>
            <a:off x="548640" y="6144768"/>
            <a:ext cx="11091672" cy="457200"/>
          </a:xfrm>
          <a:prstGeom prst="roundRect">
            <a:avLst>
              <a:gd name="adj" fmla="val 18000"/>
            </a:avLst>
          </a:prstGeom>
          <a:solidFill>
            <a:srgbClr val="FFFFFF"/>
          </a:solidFill>
          <a:ln w="12700">
            <a:solidFill>
              <a:srgbClr val="FFFFFF"/>
            </a:solidFill>
            <a:prstDash val="solid"/>
          </a:ln>
        </p:spPr>
      </p:sp>
      <p:sp>
        <p:nvSpPr>
          <p:cNvPr id="20" name="Text 18"/>
          <p:cNvSpPr txBox="1"/>
          <p:nvPr/>
        </p:nvSpPr>
        <p:spPr>
          <a:xfrm>
            <a:off x="548640" y="6199632"/>
            <a:ext cx="11064240" cy="365760"/>
          </a:xfrm>
          <a:prstGeom prst="rect">
            <a:avLst/>
          </a:prstGeom>
          <a:noFill/>
          <a:ln/>
        </p:spPr>
        <p:txBody>
          <a:bodyPr wrap="square" lIns="0" tIns="0" rIns="0" bIns="0" rtlCol="0" anchor="t"/>
          <a:lstStyle/>
          <a:p>
            <a:pPr algn="l" indent="0" marL="0">
              <a:lnSpc>
                <a:spcPts val="1650"/>
              </a:lnSpc>
              <a:buNone/>
            </a:pPr>
            <a:r>
              <a:rPr lang="en-US" sz="1250" i="1" dirty="0">
                <a:solidFill>
                  <a:srgbClr val="6C7C8A"/>
                </a:solidFill>
                <a:latin typeface="Calibri" pitchFamily="34" charset="0"/>
                <a:ea typeface="Calibri" pitchFamily="34" charset="-122"/>
                <a:cs typeface="Calibri" pitchFamily="34" charset="-120"/>
              </a:rPr>
              <a:t>Coordinated direction assignment across parallel aisles — the last review's most promising fix — is implemented, and measures ±0.011.</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0515600" cy="237744"/>
          </a:xfrm>
          <a:prstGeom prst="rect">
            <a:avLst/>
          </a:prstGeom>
          <a:noFill/>
          <a:ln/>
        </p:spPr>
        <p:txBody>
          <a:bodyPr wrap="square" lIns="0" tIns="0" rIns="0" bIns="0" rtlCol="0" anchor="ctr"/>
          <a:lstStyle/>
          <a:p>
            <a:pPr indent="0" marL="0">
              <a:buNone/>
            </a:pPr>
            <a:r>
              <a:rPr lang="en-US" sz="1150" b="1" spc="220" kern="0" dirty="0">
                <a:solidFill>
                  <a:srgbClr val="F2A104"/>
                </a:solidFill>
                <a:latin typeface="Calibri" pitchFamily="34" charset="0"/>
                <a:ea typeface="Calibri" pitchFamily="34" charset="-122"/>
                <a:cs typeface="Calibri" pitchFamily="34" charset="-120"/>
              </a:rPr>
              <a:t>WHERE THIS GOES</a:t>
            </a:r>
            <a:endParaRPr lang="en-US" sz="1150" dirty="0"/>
          </a:p>
        </p:txBody>
      </p:sp>
      <p:sp>
        <p:nvSpPr>
          <p:cNvPr id="3" name="Text 1"/>
          <p:cNvSpPr txBox="1"/>
          <p:nvPr/>
        </p:nvSpPr>
        <p:spPr>
          <a:xfrm>
            <a:off x="548640" y="658368"/>
            <a:ext cx="10607040" cy="658368"/>
          </a:xfrm>
          <a:prstGeom prst="rect">
            <a:avLst/>
          </a:prstGeom>
          <a:noFill/>
          <a:ln/>
        </p:spPr>
        <p:txBody>
          <a:bodyPr wrap="square" lIns="0" tIns="0" rIns="0" bIns="0" rtlCol="0" anchor="ctr"/>
          <a:lstStyle/>
          <a:p>
            <a:pPr indent="0" marL="0">
              <a:buNone/>
            </a:pPr>
            <a:r>
              <a:rPr lang="en-US" sz="3400" b="1" dirty="0">
                <a:solidFill>
                  <a:srgbClr val="101C26"/>
                </a:solidFill>
                <a:latin typeface="Cambria" pitchFamily="34" charset="0"/>
                <a:ea typeface="Cambria" pitchFamily="34" charset="-122"/>
                <a:cs typeface="Cambria" pitchFamily="34" charset="-120"/>
              </a:rPr>
              <a:t>The next pieces of work, in order of expected payoff</a:t>
            </a:r>
            <a:endParaRPr lang="en-US" sz="3400" dirty="0"/>
          </a:p>
        </p:txBody>
      </p:sp>
      <p:sp>
        <p:nvSpPr>
          <p:cNvPr id="4" name="Shape 2"/>
          <p:cNvSpPr/>
          <p:nvPr/>
        </p:nvSpPr>
        <p:spPr>
          <a:xfrm>
            <a:off x="548640" y="1691640"/>
            <a:ext cx="5349240" cy="1874520"/>
          </a:xfrm>
          <a:prstGeom prst="roundRect">
            <a:avLst>
              <a:gd name="adj" fmla="val 4390"/>
            </a:avLst>
          </a:prstGeom>
          <a:solidFill>
            <a:srgbClr val="1D3346"/>
          </a:solidFill>
          <a:ln w="12700">
            <a:solidFill>
              <a:srgbClr val="1D3346"/>
            </a:solidFill>
            <a:prstDash val="solid"/>
          </a:ln>
          <a:effectLst>
            <a:outerShdw sx="100000" sy="100000" kx="0" ky="0" algn="bl" rotWithShape="0" blurRad="127000" dist="25400" dir="5400000">
              <a:srgbClr val="0B1620">
                <a:alpha val="13000"/>
              </a:srgbClr>
            </a:outerShdw>
          </a:effectLst>
        </p:spPr>
      </p:sp>
      <p:sp>
        <p:nvSpPr>
          <p:cNvPr id="5" name="Shape 3"/>
          <p:cNvSpPr/>
          <p:nvPr/>
        </p:nvSpPr>
        <p:spPr>
          <a:xfrm>
            <a:off x="841248" y="1929384"/>
            <a:ext cx="402336" cy="402336"/>
          </a:xfrm>
          <a:prstGeom prst="ellipse">
            <a:avLst/>
          </a:prstGeom>
          <a:solidFill>
            <a:srgbClr val="F2A104"/>
          </a:solidFill>
          <a:ln/>
        </p:spPr>
      </p:sp>
      <p:sp>
        <p:nvSpPr>
          <p:cNvPr id="6" name="Text 4"/>
          <p:cNvSpPr txBox="1"/>
          <p:nvPr/>
        </p:nvSpPr>
        <p:spPr>
          <a:xfrm>
            <a:off x="841248" y="1929384"/>
            <a:ext cx="402336" cy="402336"/>
          </a:xfrm>
          <a:prstGeom prst="rect">
            <a:avLst/>
          </a:prstGeom>
          <a:noFill/>
          <a:ln/>
        </p:spPr>
        <p:txBody>
          <a:bodyPr wrap="square" lIns="0" tIns="0" rIns="0" bIns="0" rtlCol="0" anchor="ctr"/>
          <a:lstStyle/>
          <a:p>
            <a:pPr algn="ctr" indent="0" marL="0">
              <a:buNone/>
            </a:pPr>
            <a:r>
              <a:rPr lang="en-US" sz="1500" b="1" dirty="0">
                <a:solidFill>
                  <a:srgbClr val="101C26"/>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841248" y="2468880"/>
            <a:ext cx="4754880" cy="402336"/>
          </a:xfrm>
          <a:prstGeom prst="rect">
            <a:avLst/>
          </a:prstGeom>
          <a:noFill/>
          <a:ln/>
        </p:spPr>
        <p:txBody>
          <a:bodyPr wrap="square" lIns="0" tIns="0" rIns="0" bIns="0" rtlCol="0" anchor="t"/>
          <a:lstStyle/>
          <a:p>
            <a:pPr indent="0" marL="0">
              <a:lnSpc>
                <a:spcPts val="2100"/>
              </a:lnSpc>
              <a:buNone/>
            </a:pPr>
            <a:r>
              <a:rPr lang="en-US" sz="1700" b="1" dirty="0">
                <a:solidFill>
                  <a:srgbClr val="FFFFFF"/>
                </a:solidFill>
                <a:latin typeface="Cambria" pitchFamily="34" charset="0"/>
                <a:ea typeface="Cambria" pitchFamily="34" charset="-122"/>
                <a:cs typeface="Cambria" pitchFamily="34" charset="-120"/>
              </a:rPr>
              <a:t>Make entry admission earn its cost</a:t>
            </a:r>
            <a:endParaRPr lang="en-US" sz="1700" dirty="0"/>
          </a:p>
        </p:txBody>
      </p:sp>
      <p:sp>
        <p:nvSpPr>
          <p:cNvPr id="8" name="Text 6"/>
          <p:cNvSpPr txBox="1"/>
          <p:nvPr/>
        </p:nvSpPr>
        <p:spPr>
          <a:xfrm>
            <a:off x="841248" y="2916936"/>
            <a:ext cx="4754880" cy="548640"/>
          </a:xfrm>
          <a:prstGeom prst="rect">
            <a:avLst/>
          </a:prstGeom>
          <a:noFill/>
          <a:ln/>
        </p:spPr>
        <p:txBody>
          <a:bodyPr wrap="square" lIns="0" tIns="0" rIns="0" bIns="0" rtlCol="0" anchor="t"/>
          <a:lstStyle/>
          <a:p>
            <a:pPr algn="l" indent="0" marL="0">
              <a:lnSpc>
                <a:spcPts val="1550"/>
              </a:lnSpc>
              <a:buNone/>
            </a:pPr>
            <a:r>
              <a:rPr lang="en-US" sz="1200" dirty="0">
                <a:solidFill>
                  <a:srgbClr val="C6D5E0"/>
                </a:solidFill>
                <a:latin typeface="Calibri" pitchFamily="34" charset="0"/>
                <a:ea typeface="Calibri" pitchFamily="34" charset="-122"/>
                <a:cs typeface="Calibri" pitchFamily="34" charset="-120"/>
              </a:rPr>
              <a:t>The one repaired mechanism that still loses throughput on every map. Both the capacity model and the admission rule are suspect.</a:t>
            </a:r>
            <a:endParaRPr lang="en-US" sz="1200" dirty="0"/>
          </a:p>
        </p:txBody>
      </p:sp>
      <p:sp>
        <p:nvSpPr>
          <p:cNvPr id="9" name="Shape 7"/>
          <p:cNvSpPr/>
          <p:nvPr/>
        </p:nvSpPr>
        <p:spPr>
          <a:xfrm>
            <a:off x="6263640" y="1691640"/>
            <a:ext cx="5349240" cy="1874520"/>
          </a:xfrm>
          <a:prstGeom prst="roundRect">
            <a:avLst>
              <a:gd name="adj" fmla="val 4390"/>
            </a:avLst>
          </a:prstGeom>
          <a:solidFill>
            <a:srgbClr val="EDF2F6"/>
          </a:solidFill>
          <a:ln w="12700">
            <a:solidFill>
              <a:srgbClr val="EDF2F6"/>
            </a:solidFill>
            <a:prstDash val="solid"/>
          </a:ln>
          <a:effectLst>
            <a:outerShdw sx="100000" sy="100000" kx="0" ky="0" algn="bl" rotWithShape="0" blurRad="127000" dist="25400" dir="5400000">
              <a:srgbClr val="0B1620">
                <a:alpha val="13000"/>
              </a:srgbClr>
            </a:outerShdw>
          </a:effectLst>
        </p:spPr>
      </p:sp>
      <p:sp>
        <p:nvSpPr>
          <p:cNvPr id="10" name="Shape 8"/>
          <p:cNvSpPr/>
          <p:nvPr/>
        </p:nvSpPr>
        <p:spPr>
          <a:xfrm>
            <a:off x="6556248" y="1929384"/>
            <a:ext cx="402336" cy="402336"/>
          </a:xfrm>
          <a:prstGeom prst="ellipse">
            <a:avLst/>
          </a:prstGeom>
          <a:solidFill>
            <a:srgbClr val="F2A104"/>
          </a:solidFill>
          <a:ln/>
        </p:spPr>
      </p:sp>
      <p:sp>
        <p:nvSpPr>
          <p:cNvPr id="11" name="Text 9"/>
          <p:cNvSpPr txBox="1"/>
          <p:nvPr/>
        </p:nvSpPr>
        <p:spPr>
          <a:xfrm>
            <a:off x="6556248" y="1929384"/>
            <a:ext cx="402336" cy="402336"/>
          </a:xfrm>
          <a:prstGeom prst="rect">
            <a:avLst/>
          </a:prstGeom>
          <a:noFill/>
          <a:ln/>
        </p:spPr>
        <p:txBody>
          <a:bodyPr wrap="square" lIns="0" tIns="0" rIns="0" bIns="0" rtlCol="0" anchor="ctr"/>
          <a:lstStyle/>
          <a:p>
            <a:pPr algn="ctr" indent="0" marL="0">
              <a:buNone/>
            </a:pPr>
            <a:r>
              <a:rPr lang="en-US" sz="1500" b="1" dirty="0">
                <a:solidFill>
                  <a:srgbClr val="101C26"/>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6556248" y="2468880"/>
            <a:ext cx="4754880" cy="402336"/>
          </a:xfrm>
          <a:prstGeom prst="rect">
            <a:avLst/>
          </a:prstGeom>
          <a:noFill/>
          <a:ln/>
        </p:spPr>
        <p:txBody>
          <a:bodyPr wrap="square" lIns="0" tIns="0" rIns="0" bIns="0" rtlCol="0" anchor="t"/>
          <a:lstStyle/>
          <a:p>
            <a:pPr indent="0" marL="0">
              <a:lnSpc>
                <a:spcPts val="2100"/>
              </a:lnSpc>
              <a:buNone/>
            </a:pPr>
            <a:r>
              <a:rPr lang="en-US" sz="1700" b="1" dirty="0">
                <a:solidFill>
                  <a:srgbClr val="101C26"/>
                </a:solidFill>
                <a:latin typeface="Cambria" pitchFamily="34" charset="0"/>
                <a:ea typeface="Cambria" pitchFamily="34" charset="-122"/>
                <a:cs typeface="Cambria" pitchFamily="34" charset="-120"/>
              </a:rPr>
              <a:t>Work out why the aisle layer loses on open grids</a:t>
            </a:r>
            <a:endParaRPr lang="en-US" sz="1700" dirty="0"/>
          </a:p>
        </p:txBody>
      </p:sp>
      <p:sp>
        <p:nvSpPr>
          <p:cNvPr id="13" name="Text 11"/>
          <p:cNvSpPr txBox="1"/>
          <p:nvPr/>
        </p:nvSpPr>
        <p:spPr>
          <a:xfrm>
            <a:off x="6556248" y="2916936"/>
            <a:ext cx="4754880" cy="548640"/>
          </a:xfrm>
          <a:prstGeom prst="rect">
            <a:avLst/>
          </a:prstGeom>
          <a:noFill/>
          <a:ln/>
        </p:spPr>
        <p:txBody>
          <a:bodyPr wrap="square" lIns="0" tIns="0" rIns="0" bIns="0" rtlCol="0" anchor="t"/>
          <a:lstStyle/>
          <a:p>
            <a:pPr algn="l" indent="0" marL="0">
              <a:lnSpc>
                <a:spcPts val="1550"/>
              </a:lnSpc>
              <a:buNone/>
            </a:pPr>
            <a:r>
              <a:rPr lang="en-US" sz="1200" dirty="0">
                <a:solidFill>
                  <a:srgbClr val="2C3E4D"/>
                </a:solidFill>
                <a:latin typeface="Calibri" pitchFamily="34" charset="0"/>
                <a:ea typeface="Calibri" pitchFamily="34" charset="-122"/>
                <a:cs typeface="Calibri" pitchFamily="34" charset="-120"/>
              </a:rPr>
              <a:t>It wins on corridors, loses on medium and narrow. Turning cost alone beats it on two maps.</a:t>
            </a:r>
            <a:endParaRPr lang="en-US" sz="1200" dirty="0"/>
          </a:p>
        </p:txBody>
      </p:sp>
      <p:sp>
        <p:nvSpPr>
          <p:cNvPr id="14" name="Shape 12"/>
          <p:cNvSpPr/>
          <p:nvPr/>
        </p:nvSpPr>
        <p:spPr>
          <a:xfrm>
            <a:off x="548640" y="3749040"/>
            <a:ext cx="5349240" cy="1874520"/>
          </a:xfrm>
          <a:prstGeom prst="roundRect">
            <a:avLst>
              <a:gd name="adj" fmla="val 4390"/>
            </a:avLst>
          </a:prstGeom>
          <a:solidFill>
            <a:srgbClr val="EDF2F6"/>
          </a:solidFill>
          <a:ln w="12700">
            <a:solidFill>
              <a:srgbClr val="EDF2F6"/>
            </a:solidFill>
            <a:prstDash val="solid"/>
          </a:ln>
          <a:effectLst>
            <a:outerShdw sx="100000" sy="100000" kx="0" ky="0" algn="bl" rotWithShape="0" blurRad="127000" dist="25400" dir="5400000">
              <a:srgbClr val="0B1620">
                <a:alpha val="13000"/>
              </a:srgbClr>
            </a:outerShdw>
          </a:effectLst>
        </p:spPr>
      </p:sp>
      <p:sp>
        <p:nvSpPr>
          <p:cNvPr id="15" name="Shape 13"/>
          <p:cNvSpPr/>
          <p:nvPr/>
        </p:nvSpPr>
        <p:spPr>
          <a:xfrm>
            <a:off x="841248" y="3986784"/>
            <a:ext cx="402336" cy="402336"/>
          </a:xfrm>
          <a:prstGeom prst="ellipse">
            <a:avLst/>
          </a:prstGeom>
          <a:solidFill>
            <a:srgbClr val="F2A104"/>
          </a:solidFill>
          <a:ln/>
        </p:spPr>
      </p:sp>
      <p:sp>
        <p:nvSpPr>
          <p:cNvPr id="16" name="Text 14"/>
          <p:cNvSpPr txBox="1"/>
          <p:nvPr/>
        </p:nvSpPr>
        <p:spPr>
          <a:xfrm>
            <a:off x="841248" y="3986784"/>
            <a:ext cx="402336" cy="402336"/>
          </a:xfrm>
          <a:prstGeom prst="rect">
            <a:avLst/>
          </a:prstGeom>
          <a:noFill/>
          <a:ln/>
        </p:spPr>
        <p:txBody>
          <a:bodyPr wrap="square" lIns="0" tIns="0" rIns="0" bIns="0" rtlCol="0" anchor="ctr"/>
          <a:lstStyle/>
          <a:p>
            <a:pPr algn="ctr" indent="0" marL="0">
              <a:buNone/>
            </a:pPr>
            <a:r>
              <a:rPr lang="en-US" sz="1500" b="1" dirty="0">
                <a:solidFill>
                  <a:srgbClr val="101C26"/>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841248" y="4526280"/>
            <a:ext cx="4754880" cy="402336"/>
          </a:xfrm>
          <a:prstGeom prst="rect">
            <a:avLst/>
          </a:prstGeom>
          <a:noFill/>
          <a:ln/>
        </p:spPr>
        <p:txBody>
          <a:bodyPr wrap="square" lIns="0" tIns="0" rIns="0" bIns="0" rtlCol="0" anchor="t"/>
          <a:lstStyle/>
          <a:p>
            <a:pPr indent="0" marL="0">
              <a:lnSpc>
                <a:spcPts val="2100"/>
              </a:lnSpc>
              <a:buNone/>
            </a:pPr>
            <a:r>
              <a:rPr lang="en-US" sz="1700" b="1" dirty="0">
                <a:solidFill>
                  <a:srgbClr val="101C26"/>
                </a:solidFill>
                <a:latin typeface="Cambria" pitchFamily="34" charset="0"/>
                <a:ea typeface="Cambria" pitchFamily="34" charset="-122"/>
                <a:cs typeface="Cambria" pitchFamily="34" charset="-120"/>
              </a:rPr>
              <a:t>Tune the baselines honestly, then re-run</a:t>
            </a:r>
            <a:endParaRPr lang="en-US" sz="1700" dirty="0"/>
          </a:p>
        </p:txBody>
      </p:sp>
      <p:sp>
        <p:nvSpPr>
          <p:cNvPr id="18" name="Text 16"/>
          <p:cNvSpPr txBox="1"/>
          <p:nvPr/>
        </p:nvSpPr>
        <p:spPr>
          <a:xfrm>
            <a:off x="841248" y="4974336"/>
            <a:ext cx="4754880" cy="548640"/>
          </a:xfrm>
          <a:prstGeom prst="rect">
            <a:avLst/>
          </a:prstGeom>
          <a:noFill/>
          <a:ln/>
        </p:spPr>
        <p:txBody>
          <a:bodyPr wrap="square" lIns="0" tIns="0" rIns="0" bIns="0" rtlCol="0" anchor="t"/>
          <a:lstStyle/>
          <a:p>
            <a:pPr algn="l" indent="0" marL="0">
              <a:lnSpc>
                <a:spcPts val="1550"/>
              </a:lnSpc>
              <a:buNone/>
            </a:pPr>
            <a:r>
              <a:rPr lang="en-US" sz="1200" dirty="0">
                <a:solidFill>
                  <a:srgbClr val="2C3E4D"/>
                </a:solidFill>
                <a:latin typeface="Calibri" pitchFamily="34" charset="0"/>
                <a:ea typeface="Calibri" pitchFamily="34" charset="-122"/>
                <a:cs typeface="Calibri" pitchFamily="34" charset="-120"/>
              </a:rPr>
              <a:t>Pair each baseline with the assignment policy from its own paper, and give RHCR a window sized for its intended scale.</a:t>
            </a:r>
            <a:endParaRPr lang="en-US" sz="1200" dirty="0"/>
          </a:p>
        </p:txBody>
      </p:sp>
      <p:sp>
        <p:nvSpPr>
          <p:cNvPr id="19" name="Shape 17"/>
          <p:cNvSpPr/>
          <p:nvPr/>
        </p:nvSpPr>
        <p:spPr>
          <a:xfrm>
            <a:off x="6263640" y="3749040"/>
            <a:ext cx="5349240" cy="1874520"/>
          </a:xfrm>
          <a:prstGeom prst="roundRect">
            <a:avLst>
              <a:gd name="adj" fmla="val 4390"/>
            </a:avLst>
          </a:prstGeom>
          <a:solidFill>
            <a:srgbClr val="EDF2F6"/>
          </a:solidFill>
          <a:ln w="12700">
            <a:solidFill>
              <a:srgbClr val="EDF2F6"/>
            </a:solidFill>
            <a:prstDash val="solid"/>
          </a:ln>
          <a:effectLst>
            <a:outerShdw sx="100000" sy="100000" kx="0" ky="0" algn="bl" rotWithShape="0" blurRad="127000" dist="25400" dir="5400000">
              <a:srgbClr val="0B1620">
                <a:alpha val="13000"/>
              </a:srgbClr>
            </a:outerShdw>
          </a:effectLst>
        </p:spPr>
      </p:sp>
      <p:sp>
        <p:nvSpPr>
          <p:cNvPr id="20" name="Shape 18"/>
          <p:cNvSpPr/>
          <p:nvPr/>
        </p:nvSpPr>
        <p:spPr>
          <a:xfrm>
            <a:off x="6556248" y="3986784"/>
            <a:ext cx="402336" cy="402336"/>
          </a:xfrm>
          <a:prstGeom prst="ellipse">
            <a:avLst/>
          </a:prstGeom>
          <a:solidFill>
            <a:srgbClr val="F2A104"/>
          </a:solidFill>
          <a:ln/>
        </p:spPr>
      </p:sp>
      <p:sp>
        <p:nvSpPr>
          <p:cNvPr id="21" name="Text 19"/>
          <p:cNvSpPr txBox="1"/>
          <p:nvPr/>
        </p:nvSpPr>
        <p:spPr>
          <a:xfrm>
            <a:off x="6556248" y="3986784"/>
            <a:ext cx="402336" cy="402336"/>
          </a:xfrm>
          <a:prstGeom prst="rect">
            <a:avLst/>
          </a:prstGeom>
          <a:noFill/>
          <a:ln/>
        </p:spPr>
        <p:txBody>
          <a:bodyPr wrap="square" lIns="0" tIns="0" rIns="0" bIns="0" rtlCol="0" anchor="ctr"/>
          <a:lstStyle/>
          <a:p>
            <a:pPr algn="ctr" indent="0" marL="0">
              <a:buNone/>
            </a:pPr>
            <a:r>
              <a:rPr lang="en-US" sz="1500" b="1" dirty="0">
                <a:solidFill>
                  <a:srgbClr val="101C26"/>
                </a:solidFill>
                <a:latin typeface="Calibri" pitchFamily="34" charset="0"/>
                <a:ea typeface="Calibri" pitchFamily="34" charset="-122"/>
                <a:cs typeface="Calibri" pitchFamily="34" charset="-120"/>
              </a:rPr>
              <a:t>4</a:t>
            </a:r>
            <a:endParaRPr lang="en-US" sz="1500" dirty="0"/>
          </a:p>
        </p:txBody>
      </p:sp>
      <p:sp>
        <p:nvSpPr>
          <p:cNvPr id="22" name="Text 20"/>
          <p:cNvSpPr txBox="1"/>
          <p:nvPr/>
        </p:nvSpPr>
        <p:spPr>
          <a:xfrm>
            <a:off x="6556248" y="4526280"/>
            <a:ext cx="4754880" cy="402336"/>
          </a:xfrm>
          <a:prstGeom prst="rect">
            <a:avLst/>
          </a:prstGeom>
          <a:noFill/>
          <a:ln/>
        </p:spPr>
        <p:txBody>
          <a:bodyPr wrap="square" lIns="0" tIns="0" rIns="0" bIns="0" rtlCol="0" anchor="t"/>
          <a:lstStyle/>
          <a:p>
            <a:pPr indent="0" marL="0">
              <a:lnSpc>
                <a:spcPts val="2100"/>
              </a:lnSpc>
              <a:buNone/>
            </a:pPr>
            <a:r>
              <a:rPr lang="en-US" sz="1700" b="1" dirty="0">
                <a:solidFill>
                  <a:srgbClr val="101C26"/>
                </a:solidFill>
                <a:latin typeface="Cambria" pitchFamily="34" charset="0"/>
                <a:ea typeface="Cambria" pitchFamily="34" charset="-122"/>
                <a:cs typeface="Cambria" pitchFamily="34" charset="-120"/>
              </a:rPr>
              <a:t>Close the gaps the spec still leaves open</a:t>
            </a:r>
            <a:endParaRPr lang="en-US" sz="1700" dirty="0"/>
          </a:p>
        </p:txBody>
      </p:sp>
      <p:sp>
        <p:nvSpPr>
          <p:cNvPr id="23" name="Text 21"/>
          <p:cNvSpPr txBox="1"/>
          <p:nvPr/>
        </p:nvSpPr>
        <p:spPr>
          <a:xfrm>
            <a:off x="6556248" y="4974336"/>
            <a:ext cx="4754880" cy="548640"/>
          </a:xfrm>
          <a:prstGeom prst="rect">
            <a:avLst/>
          </a:prstGeom>
          <a:noFill/>
          <a:ln/>
        </p:spPr>
        <p:txBody>
          <a:bodyPr wrap="square" lIns="0" tIns="0" rIns="0" bIns="0" rtlCol="0" anchor="t"/>
          <a:lstStyle/>
          <a:p>
            <a:pPr algn="l" indent="0" marL="0">
              <a:lnSpc>
                <a:spcPts val="1550"/>
              </a:lnSpc>
              <a:buNone/>
            </a:pPr>
            <a:r>
              <a:rPr lang="en-US" sz="1200" dirty="0">
                <a:solidFill>
                  <a:srgbClr val="2C3E4D"/>
                </a:solidFill>
                <a:latin typeface="Calibri" pitchFamily="34" charset="0"/>
                <a:ea typeface="Calibri" pitchFamily="34" charset="-122"/>
                <a:cs typeface="Calibri" pitchFamily="34" charset="-120"/>
              </a:rPr>
              <a:t>Intersection reservations, kinematics and footprints, asynchronous execution, and the delayed/failed-robot failure scenarios.</a:t>
            </a:r>
            <a:endParaRPr lang="en-US" sz="1200" dirty="0"/>
          </a:p>
        </p:txBody>
      </p:sp>
      <p:sp>
        <p:nvSpPr>
          <p:cNvPr id="24" name="Shape 22"/>
          <p:cNvSpPr/>
          <p:nvPr/>
        </p:nvSpPr>
        <p:spPr>
          <a:xfrm>
            <a:off x="548640" y="5852160"/>
            <a:ext cx="11091672" cy="658368"/>
          </a:xfrm>
          <a:prstGeom prst="roundRect">
            <a:avLst>
              <a:gd name="adj" fmla="val 12500"/>
            </a:avLst>
          </a:prstGeom>
          <a:solidFill>
            <a:srgbClr val="FFFFFF"/>
          </a:solidFill>
          <a:ln w="12700">
            <a:solidFill>
              <a:srgbClr val="F2A104"/>
            </a:solidFill>
            <a:prstDash val="solid"/>
          </a:ln>
        </p:spPr>
      </p:sp>
      <p:sp>
        <p:nvSpPr>
          <p:cNvPr id="25" name="Text 23"/>
          <p:cNvSpPr txBox="1"/>
          <p:nvPr/>
        </p:nvSpPr>
        <p:spPr>
          <a:xfrm>
            <a:off x="868680" y="5998464"/>
            <a:ext cx="10424160" cy="411480"/>
          </a:xfrm>
          <a:prstGeom prst="rect">
            <a:avLst/>
          </a:prstGeom>
          <a:noFill/>
          <a:ln/>
        </p:spPr>
        <p:txBody>
          <a:bodyPr wrap="square" lIns="0" tIns="0" rIns="0" bIns="0" rtlCol="0" anchor="t"/>
          <a:lstStyle/>
          <a:p>
            <a:pPr algn="l" indent="0" marL="0">
              <a:lnSpc>
                <a:spcPts val="1716"/>
              </a:lnSpc>
              <a:buNone/>
            </a:pPr>
            <a:r>
              <a:rPr lang="en-US" sz="1300" dirty="0">
                <a:solidFill>
                  <a:srgbClr val="101C26"/>
                </a:solidFill>
                <a:latin typeface="Calibri" pitchFamily="34" charset="0"/>
                <a:ea typeface="Calibri" pitchFamily="34" charset="-122"/>
                <a:cs typeface="Calibri" pitchFamily="34" charset="-120"/>
              </a:rPr>
              <a:t>The diagnostic that found every bug in this project is now a feature: click any robot in the GUI and it lists each candidate cell, its score, which rule rejected it, and which aisle penalty it paid.</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01C26"/>
        </a:solidFill>
      </p:bgPr>
    </p:bg>
    <p:spTree>
      <p:nvGrpSpPr>
        <p:cNvPr id="1" name=""/>
        <p:cNvGrpSpPr/>
        <p:nvPr/>
      </p:nvGrpSpPr>
      <p:grpSpPr>
        <a:xfrm>
          <a:off x="0" y="0"/>
          <a:ext cx="0" cy="0"/>
          <a:chOff x="0" y="0"/>
          <a:chExt cx="0" cy="0"/>
        </a:xfrm>
      </p:grpSpPr>
      <p:sp>
        <p:nvSpPr>
          <p:cNvPr id="2" name="Text 0"/>
          <p:cNvSpPr txBox="1"/>
          <p:nvPr/>
        </p:nvSpPr>
        <p:spPr>
          <a:xfrm>
            <a:off x="548640" y="384048"/>
            <a:ext cx="10515600" cy="237744"/>
          </a:xfrm>
          <a:prstGeom prst="rect">
            <a:avLst/>
          </a:prstGeom>
          <a:noFill/>
          <a:ln/>
        </p:spPr>
        <p:txBody>
          <a:bodyPr wrap="square" lIns="0" tIns="0" rIns="0" bIns="0" rtlCol="0" anchor="ctr"/>
          <a:lstStyle/>
          <a:p>
            <a:pPr indent="0" marL="0">
              <a:buNone/>
            </a:pPr>
            <a:r>
              <a:rPr lang="en-US" sz="1150" b="1" spc="220" kern="0" dirty="0">
                <a:solidFill>
                  <a:srgbClr val="F2A104"/>
                </a:solidFill>
                <a:latin typeface="Calibri" pitchFamily="34" charset="0"/>
                <a:ea typeface="Calibri" pitchFamily="34" charset="-122"/>
                <a:cs typeface="Calibri" pitchFamily="34" charset="-120"/>
              </a:rPr>
              <a:t>IN CLOSING</a:t>
            </a:r>
            <a:endParaRPr lang="en-US" sz="1150" dirty="0"/>
          </a:p>
        </p:txBody>
      </p:sp>
      <p:sp>
        <p:nvSpPr>
          <p:cNvPr id="3" name="Text 1"/>
          <p:cNvSpPr txBox="1"/>
          <p:nvPr/>
        </p:nvSpPr>
        <p:spPr>
          <a:xfrm>
            <a:off x="548640" y="658368"/>
            <a:ext cx="1060704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Three things worth taking away</a:t>
            </a:r>
            <a:endParaRPr lang="en-US" sz="3400" dirty="0"/>
          </a:p>
        </p:txBody>
      </p:sp>
      <p:sp>
        <p:nvSpPr>
          <p:cNvPr id="4" name="Shape 2"/>
          <p:cNvSpPr/>
          <p:nvPr/>
        </p:nvSpPr>
        <p:spPr>
          <a:xfrm>
            <a:off x="548640" y="1801368"/>
            <a:ext cx="438912" cy="438912"/>
          </a:xfrm>
          <a:prstGeom prst="ellipse">
            <a:avLst/>
          </a:prstGeom>
          <a:solidFill>
            <a:srgbClr val="F2A104"/>
          </a:solidFill>
          <a:ln/>
        </p:spPr>
      </p:sp>
      <p:sp>
        <p:nvSpPr>
          <p:cNvPr id="5" name="Text 3"/>
          <p:cNvSpPr txBox="1"/>
          <p:nvPr/>
        </p:nvSpPr>
        <p:spPr>
          <a:xfrm>
            <a:off x="548640" y="1801368"/>
            <a:ext cx="438912" cy="438912"/>
          </a:xfrm>
          <a:prstGeom prst="rect">
            <a:avLst/>
          </a:prstGeom>
          <a:noFill/>
          <a:ln/>
        </p:spPr>
        <p:txBody>
          <a:bodyPr wrap="square" lIns="0" tIns="0" rIns="0" bIns="0" rtlCol="0" anchor="ctr"/>
          <a:lstStyle/>
          <a:p>
            <a:pPr algn="ctr" indent="0" marL="0">
              <a:buNone/>
            </a:pPr>
            <a:r>
              <a:rPr lang="en-US" sz="1700" b="1" dirty="0">
                <a:solidFill>
                  <a:srgbClr val="101C26"/>
                </a:solidFill>
                <a:latin typeface="Calibri" pitchFamily="34" charset="0"/>
                <a:ea typeface="Calibri" pitchFamily="34" charset="-122"/>
                <a:cs typeface="Calibri" pitchFamily="34" charset="-120"/>
              </a:rPr>
              <a:t>1</a:t>
            </a:r>
            <a:endParaRPr lang="en-US" sz="1700" dirty="0"/>
          </a:p>
        </p:txBody>
      </p:sp>
      <p:sp>
        <p:nvSpPr>
          <p:cNvPr id="6" name="Text 4"/>
          <p:cNvSpPr txBox="1"/>
          <p:nvPr/>
        </p:nvSpPr>
        <p:spPr>
          <a:xfrm>
            <a:off x="1207008" y="1737360"/>
            <a:ext cx="10424160" cy="365760"/>
          </a:xfrm>
          <a:prstGeom prst="rect">
            <a:avLst/>
          </a:prstGeom>
          <a:noFill/>
          <a:ln/>
        </p:spPr>
        <p:txBody>
          <a:bodyPr wrap="square" lIns="0" tIns="0" rIns="0" bIns="0" rtlCol="0" anchor="ctr"/>
          <a:lstStyle/>
          <a:p>
            <a:pPr indent="0" marL="0">
              <a:buNone/>
            </a:pPr>
            <a:r>
              <a:rPr lang="en-US" sz="2100" b="1" dirty="0">
                <a:solidFill>
                  <a:srgbClr val="F2A104"/>
                </a:solidFill>
                <a:latin typeface="Cambria" pitchFamily="34" charset="0"/>
                <a:ea typeface="Cambria" pitchFamily="34" charset="-122"/>
                <a:cs typeface="Cambria" pitchFamily="34" charset="-120"/>
              </a:rPr>
              <a:t>The core was the contribution all along</a:t>
            </a:r>
            <a:endParaRPr lang="en-US" sz="2100" dirty="0"/>
          </a:p>
        </p:txBody>
      </p:sp>
      <p:sp>
        <p:nvSpPr>
          <p:cNvPr id="7" name="Text 5"/>
          <p:cNvSpPr txBox="1"/>
          <p:nvPr/>
        </p:nvSpPr>
        <p:spPr>
          <a:xfrm>
            <a:off x="1207008" y="2167128"/>
            <a:ext cx="10332720" cy="777240"/>
          </a:xfrm>
          <a:prstGeom prst="rect">
            <a:avLst/>
          </a:prstGeom>
          <a:noFill/>
          <a:ln/>
        </p:spPr>
        <p:txBody>
          <a:bodyPr wrap="square" lIns="0" tIns="0" rIns="0" bIns="0" rtlCol="0" anchor="t"/>
          <a:lstStyle/>
          <a:p>
            <a:pPr algn="l" indent="0" marL="0">
              <a:lnSpc>
                <a:spcPts val="1850"/>
              </a:lnSpc>
              <a:buNone/>
            </a:pPr>
            <a:r>
              <a:rPr lang="en-US" sz="1350" dirty="0">
                <a:solidFill>
                  <a:srgbClr val="C6D5E0"/>
                </a:solidFill>
                <a:latin typeface="Calibri" pitchFamily="34" charset="0"/>
                <a:ea typeface="Calibri" pitchFamily="34" charset="-122"/>
                <a:cs typeface="Calibri" pitchFamily="34" charset="-120"/>
              </a:rPr>
              <a:t>Forty years of MAPF converged on a mechanism — priority inheritance with backtracking — that a hundred lines of recursion capture. Plain lifelong PIBT still wins on the open grids.</a:t>
            </a:r>
            <a:endParaRPr lang="en-US" sz="1350" dirty="0"/>
          </a:p>
        </p:txBody>
      </p:sp>
      <p:sp>
        <p:nvSpPr>
          <p:cNvPr id="8" name="Shape 6"/>
          <p:cNvSpPr/>
          <p:nvPr/>
        </p:nvSpPr>
        <p:spPr>
          <a:xfrm>
            <a:off x="548640" y="3218688"/>
            <a:ext cx="438912" cy="438912"/>
          </a:xfrm>
          <a:prstGeom prst="ellipse">
            <a:avLst/>
          </a:prstGeom>
          <a:solidFill>
            <a:srgbClr val="F2A104"/>
          </a:solidFill>
          <a:ln/>
        </p:spPr>
      </p:sp>
      <p:sp>
        <p:nvSpPr>
          <p:cNvPr id="9" name="Text 7"/>
          <p:cNvSpPr txBox="1"/>
          <p:nvPr/>
        </p:nvSpPr>
        <p:spPr>
          <a:xfrm>
            <a:off x="548640" y="3218688"/>
            <a:ext cx="438912" cy="438912"/>
          </a:xfrm>
          <a:prstGeom prst="rect">
            <a:avLst/>
          </a:prstGeom>
          <a:noFill/>
          <a:ln/>
        </p:spPr>
        <p:txBody>
          <a:bodyPr wrap="square" lIns="0" tIns="0" rIns="0" bIns="0" rtlCol="0" anchor="ctr"/>
          <a:lstStyle/>
          <a:p>
            <a:pPr algn="ctr" indent="0" marL="0">
              <a:buNone/>
            </a:pPr>
            <a:r>
              <a:rPr lang="en-US" sz="1700" b="1" dirty="0">
                <a:solidFill>
                  <a:srgbClr val="101C26"/>
                </a:solidFill>
                <a:latin typeface="Calibri" pitchFamily="34" charset="0"/>
                <a:ea typeface="Calibri" pitchFamily="34" charset="-122"/>
                <a:cs typeface="Calibri" pitchFamily="34" charset="-120"/>
              </a:rPr>
              <a:t>2</a:t>
            </a:r>
            <a:endParaRPr lang="en-US" sz="1700" dirty="0"/>
          </a:p>
        </p:txBody>
      </p:sp>
      <p:sp>
        <p:nvSpPr>
          <p:cNvPr id="10" name="Text 8"/>
          <p:cNvSpPr txBox="1"/>
          <p:nvPr/>
        </p:nvSpPr>
        <p:spPr>
          <a:xfrm>
            <a:off x="1207008" y="3154680"/>
            <a:ext cx="10424160" cy="365760"/>
          </a:xfrm>
          <a:prstGeom prst="rect">
            <a:avLst/>
          </a:prstGeom>
          <a:noFill/>
          <a:ln/>
        </p:spPr>
        <p:txBody>
          <a:bodyPr wrap="square" lIns="0" tIns="0" rIns="0" bIns="0" rtlCol="0" anchor="ctr"/>
          <a:lstStyle/>
          <a:p>
            <a:pPr indent="0" marL="0">
              <a:buNone/>
            </a:pPr>
            <a:r>
              <a:rPr lang="en-US" sz="2100" b="1" dirty="0">
                <a:solidFill>
                  <a:srgbClr val="F2A104"/>
                </a:solidFill>
                <a:latin typeface="Cambria" pitchFamily="34" charset="0"/>
                <a:ea typeface="Cambria" pitchFamily="34" charset="-122"/>
                <a:cs typeface="Cambria" pitchFamily="34" charset="-120"/>
              </a:rPr>
              <a:t>A mechanism that cannot act is not a negative result</a:t>
            </a:r>
            <a:endParaRPr lang="en-US" sz="2100" dirty="0"/>
          </a:p>
        </p:txBody>
      </p:sp>
      <p:sp>
        <p:nvSpPr>
          <p:cNvPr id="11" name="Text 9"/>
          <p:cNvSpPr txBox="1"/>
          <p:nvPr/>
        </p:nvSpPr>
        <p:spPr>
          <a:xfrm>
            <a:off x="1207008" y="3584448"/>
            <a:ext cx="10332720" cy="777240"/>
          </a:xfrm>
          <a:prstGeom prst="rect">
            <a:avLst/>
          </a:prstGeom>
          <a:noFill/>
          <a:ln/>
        </p:spPr>
        <p:txBody>
          <a:bodyPr wrap="square" lIns="0" tIns="0" rIns="0" bIns="0" rtlCol="0" anchor="t"/>
          <a:lstStyle/>
          <a:p>
            <a:pPr algn="l" indent="0" marL="0">
              <a:lnSpc>
                <a:spcPts val="1850"/>
              </a:lnSpc>
              <a:buNone/>
            </a:pPr>
            <a:r>
              <a:rPr lang="en-US" sz="1350" dirty="0">
                <a:solidFill>
                  <a:srgbClr val="C6D5E0"/>
                </a:solidFill>
                <a:latin typeface="Calibri" pitchFamily="34" charset="0"/>
                <a:ea typeface="Calibri" pitchFamily="34" charset="-122"/>
                <a:cs typeface="Calibri" pitchFamily="34" charset="-120"/>
              </a:rPr>
              <a:t>Three of our six hypotheses were reported as failures. One had an empty treatment cell, one a map where the treatment never fired, one was rescuing deadlocks we had manufactured.</a:t>
            </a:r>
            <a:endParaRPr lang="en-US" sz="1350" dirty="0"/>
          </a:p>
        </p:txBody>
      </p:sp>
      <p:sp>
        <p:nvSpPr>
          <p:cNvPr id="12" name="Shape 10"/>
          <p:cNvSpPr/>
          <p:nvPr/>
        </p:nvSpPr>
        <p:spPr>
          <a:xfrm>
            <a:off x="548640" y="4636008"/>
            <a:ext cx="438912" cy="438912"/>
          </a:xfrm>
          <a:prstGeom prst="ellipse">
            <a:avLst/>
          </a:prstGeom>
          <a:solidFill>
            <a:srgbClr val="F2A104"/>
          </a:solidFill>
          <a:ln/>
        </p:spPr>
      </p:sp>
      <p:sp>
        <p:nvSpPr>
          <p:cNvPr id="13" name="Text 11"/>
          <p:cNvSpPr txBox="1"/>
          <p:nvPr/>
        </p:nvSpPr>
        <p:spPr>
          <a:xfrm>
            <a:off x="548640" y="4636008"/>
            <a:ext cx="438912" cy="438912"/>
          </a:xfrm>
          <a:prstGeom prst="rect">
            <a:avLst/>
          </a:prstGeom>
          <a:noFill/>
          <a:ln/>
        </p:spPr>
        <p:txBody>
          <a:bodyPr wrap="square" lIns="0" tIns="0" rIns="0" bIns="0" rtlCol="0" anchor="ctr"/>
          <a:lstStyle/>
          <a:p>
            <a:pPr algn="ctr" indent="0" marL="0">
              <a:buNone/>
            </a:pPr>
            <a:r>
              <a:rPr lang="en-US" sz="1700" b="1" dirty="0">
                <a:solidFill>
                  <a:srgbClr val="101C26"/>
                </a:solidFill>
                <a:latin typeface="Calibri" pitchFamily="34" charset="0"/>
                <a:ea typeface="Calibri" pitchFamily="34" charset="-122"/>
                <a:cs typeface="Calibri" pitchFamily="34" charset="-120"/>
              </a:rPr>
              <a:t>3</a:t>
            </a:r>
            <a:endParaRPr lang="en-US" sz="1700" dirty="0"/>
          </a:p>
        </p:txBody>
      </p:sp>
      <p:sp>
        <p:nvSpPr>
          <p:cNvPr id="14" name="Text 12"/>
          <p:cNvSpPr txBox="1"/>
          <p:nvPr/>
        </p:nvSpPr>
        <p:spPr>
          <a:xfrm>
            <a:off x="1207008" y="4572000"/>
            <a:ext cx="10424160" cy="365760"/>
          </a:xfrm>
          <a:prstGeom prst="rect">
            <a:avLst/>
          </a:prstGeom>
          <a:noFill/>
          <a:ln/>
        </p:spPr>
        <p:txBody>
          <a:bodyPr wrap="square" lIns="0" tIns="0" rIns="0" bIns="0" rtlCol="0" anchor="ctr"/>
          <a:lstStyle/>
          <a:p>
            <a:pPr indent="0" marL="0">
              <a:buNone/>
            </a:pPr>
            <a:r>
              <a:rPr lang="en-US" sz="2100" b="1" dirty="0">
                <a:solidFill>
                  <a:srgbClr val="F2A104"/>
                </a:solidFill>
                <a:latin typeface="Cambria" pitchFamily="34" charset="0"/>
                <a:ea typeface="Cambria" pitchFamily="34" charset="-122"/>
                <a:cs typeface="Cambria" pitchFamily="34" charset="-120"/>
              </a:rPr>
              <a:t>The invariant was load-bearing, not decorative</a:t>
            </a:r>
            <a:endParaRPr lang="en-US" sz="2100" dirty="0"/>
          </a:p>
        </p:txBody>
      </p:sp>
      <p:sp>
        <p:nvSpPr>
          <p:cNvPr id="15" name="Text 13"/>
          <p:cNvSpPr txBox="1"/>
          <p:nvPr/>
        </p:nvSpPr>
        <p:spPr>
          <a:xfrm>
            <a:off x="1207008" y="5001768"/>
            <a:ext cx="10332720" cy="777240"/>
          </a:xfrm>
          <a:prstGeom prst="rect">
            <a:avLst/>
          </a:prstGeom>
          <a:noFill/>
          <a:ln/>
        </p:spPr>
        <p:txBody>
          <a:bodyPr wrap="square" lIns="0" tIns="0" rIns="0" bIns="0" rtlCol="0" anchor="t"/>
          <a:lstStyle/>
          <a:p>
            <a:pPr algn="l" indent="0" marL="0">
              <a:lnSpc>
                <a:spcPts val="1850"/>
              </a:lnSpc>
              <a:buNone/>
            </a:pPr>
            <a:r>
              <a:rPr lang="en-US" sz="1350" dirty="0">
                <a:solidFill>
                  <a:srgbClr val="C6D5E0"/>
                </a:solidFill>
                <a:latin typeface="Calibri" pitchFamily="34" charset="0"/>
                <a:ea typeface="Calibri" pitchFamily="34" charset="-122"/>
                <a:cs typeface="Calibri" pitchFamily="34" charset="-120"/>
              </a:rPr>
              <a:t>“Ranks candidates, never decides safety” appears three times in this deck. The code did the opposite, and that one line accounts for every collapse we blamed on aisle management.</a:t>
            </a:r>
            <a:endParaRPr lang="en-US" sz="1350" dirty="0"/>
          </a:p>
        </p:txBody>
      </p:sp>
      <p:sp>
        <p:nvSpPr>
          <p:cNvPr id="16" name="Shape 14"/>
          <p:cNvSpPr/>
          <p:nvPr/>
        </p:nvSpPr>
        <p:spPr>
          <a:xfrm>
            <a:off x="548640" y="5852160"/>
            <a:ext cx="11091672" cy="658368"/>
          </a:xfrm>
          <a:prstGeom prst="roundRect">
            <a:avLst>
              <a:gd name="adj" fmla="val 12500"/>
            </a:avLst>
          </a:prstGeom>
          <a:solidFill>
            <a:srgbClr val="1A2C3B"/>
          </a:solidFill>
          <a:ln w="12700">
            <a:solidFill>
              <a:srgbClr val="1A2C3B"/>
            </a:solidFill>
            <a:prstDash val="solid"/>
          </a:ln>
        </p:spPr>
      </p:sp>
      <p:sp>
        <p:nvSpPr>
          <p:cNvPr id="17" name="Text 15"/>
          <p:cNvSpPr txBox="1"/>
          <p:nvPr/>
        </p:nvSpPr>
        <p:spPr>
          <a:xfrm>
            <a:off x="868680" y="5989320"/>
            <a:ext cx="10424160" cy="411480"/>
          </a:xfrm>
          <a:prstGeom prst="rect">
            <a:avLst/>
          </a:prstGeom>
          <a:noFill/>
          <a:ln/>
        </p:spPr>
        <p:txBody>
          <a:bodyPr wrap="square" lIns="0" tIns="0" rIns="0" bIns="0" rtlCol="0" anchor="ctr"/>
          <a:lstStyle/>
          <a:p>
            <a:pPr indent="0" marL="0">
              <a:buNone/>
            </a:pPr>
            <a:r>
              <a:rPr lang="en-US" sz="1300" dirty="0">
                <a:solidFill>
                  <a:srgbClr val="FBE6B8"/>
                </a:solidFill>
                <a:latin typeface="Courier New" pitchFamily="34" charset="0"/>
                <a:ea typeface="Courier New" pitchFamily="34" charset="-122"/>
                <a:cs typeface="Courier New" pitchFamily="34" charset="-120"/>
              </a:rPr>
              <a:t>python3 main.py   —   no install, no dependencies, 179 tests, zero collisions.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AisleFlow - From MAPF to Aisle-Managed Lifelong PIBT</dc:title>
  <dc:subject>PptxGenJS Presentation</dc:subject>
  <dc:creator>AisleFlow</dc:creator>
  <cp:lastModifiedBy>AisleFlow</cp:lastModifiedBy>
  <cp:revision>1</cp:revision>
  <dcterms:created xsi:type="dcterms:W3CDTF">2026-08-30T20:42:18Z</dcterms:created>
  <dcterms:modified xsi:type="dcterms:W3CDTF">2026-08-30T20:42:18Z</dcterms:modified>
</cp:coreProperties>
</file>