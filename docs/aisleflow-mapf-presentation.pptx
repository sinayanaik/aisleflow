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01C26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01C26"/>
                </a:solidFill>
                <a:latin typeface="Calibri"/>
              </a:rPr>
              <a:t>Throughput — tasks completed per timestep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lifelong_pibt</c:v>
                </c:pt>
              </c:strCache>
            </c:strRef>
          </c:tx>
          <c:spPr>
            <a:solidFill>
              <a:srgbClr val="1D334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 (16)</c:v>
                  </c:pt>
                  <c:pt idx="1">
                    <c:v>corridors (35)</c:v>
                  </c:pt>
                  <c:pt idx="2">
                    <c:v>medium (40)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0.11</c:v>
                </c:pt>
                <c:pt idx="1">
                  <c:v>0.16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full_lda_pibt</c:v>
                </c:pt>
              </c:strCache>
            </c:strRef>
          </c:tx>
          <c:spPr>
            <a:solidFill>
              <a:srgbClr val="F2A10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 (16)</c:v>
                  </c:pt>
                  <c:pt idx="1">
                    <c:v>corridors (35)</c:v>
                  </c:pt>
                  <c:pt idx="2">
                    <c:v>medium (40)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0.15</c:v>
                </c:pt>
                <c:pt idx="1">
                  <c:v>0.02</c:v>
                </c:pt>
                <c:pt idx="2">
                  <c:v>0.2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token_passing</c:v>
                </c:pt>
              </c:strCache>
            </c:strRef>
          </c:tx>
          <c:spPr>
            <a:solidFill>
              <a:srgbClr val="9BB0C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 (16)</c:v>
                  </c:pt>
                  <c:pt idx="1">
                    <c:v>corridors (35)</c:v>
                  </c:pt>
                  <c:pt idx="2">
                    <c:v>medium (40)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RHCR</c:v>
                </c:pt>
              </c:strCache>
            </c:strRef>
          </c:tx>
          <c:spPr>
            <a:solidFill>
              <a:srgbClr val="C9D6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 (16)</c:v>
                  </c:pt>
                  <c:pt idx="1">
                    <c:v>corridors (35)</c:v>
                  </c:pt>
                  <c:pt idx="2">
                    <c:v>medium (40)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0.01</c:v>
                </c:pt>
                <c:pt idx="1">
                  <c:v>0</c:v>
                </c:pt>
                <c:pt idx="2">
                  <c:v>0.01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2C3E4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C3E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</c:scaling>
        <c:delete val="0"/>
        <c:axPos val="l"/>
        <c:majorGridlines>
          <c:spPr>
            <a:ln w="12700" cap="flat">
              <a:solidFill>
                <a:srgbClr val="E6EC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C7C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C3E4D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01C26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01C26"/>
                </a:solidFill>
                <a:latin typeface="Calibri"/>
              </a:rPr>
              <a:t>H1 decomposed — throughput, 5 seeds × 400 steps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(lifelong_pibt)</c:v>
                </c:pt>
              </c:strCache>
            </c:strRef>
          </c:tx>
          <c:spPr>
            <a:solidFill>
              <a:srgbClr val="9BB0C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</c:v>
                  </c:pt>
                  <c:pt idx="1">
                    <c:v>corridors</c:v>
                  </c:pt>
                  <c:pt idx="2">
                    <c:v>medium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0.13</c:v>
                </c:pt>
                <c:pt idx="1">
                  <c:v>0.147</c:v>
                </c:pt>
                <c:pt idx="2">
                  <c:v>0.505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direction alone</c:v>
                </c:pt>
              </c:strCache>
            </c:strRef>
          </c:tx>
          <c:spPr>
            <a:solidFill>
              <a:srgbClr val="1D334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</c:v>
                  </c:pt>
                  <c:pt idx="1">
                    <c:v>corridors</c:v>
                  </c:pt>
                  <c:pt idx="2">
                    <c:v>medium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0.144</c:v>
                </c:pt>
                <c:pt idx="1">
                  <c:v>0.165</c:v>
                </c:pt>
                <c:pt idx="2">
                  <c:v>0.357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turning cost alone</c:v>
                </c:pt>
              </c:strCache>
            </c:strRef>
          </c:tx>
          <c:spPr>
            <a:solidFill>
              <a:srgbClr val="F2A10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</c:v>
                  </c:pt>
                  <c:pt idx="1">
                    <c:v>corridors</c:v>
                  </c:pt>
                  <c:pt idx="2">
                    <c:v>medium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0.157</c:v>
                </c:pt>
                <c:pt idx="1">
                  <c:v>0.201</c:v>
                </c:pt>
                <c:pt idx="2">
                  <c:v>0.391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both (directional_pibt)</c:v>
                </c:pt>
              </c:strCache>
            </c:strRef>
          </c:tx>
          <c:spPr>
            <a:solidFill>
              <a:srgbClr val="C9D6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C3E4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bottleneck</c:v>
                  </c:pt>
                  <c:pt idx="1">
                    <c:v>corridors</c:v>
                  </c:pt>
                  <c:pt idx="2">
                    <c:v>medium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0.144</c:v>
                </c:pt>
                <c:pt idx="1">
                  <c:v>0.159</c:v>
                </c:pt>
                <c:pt idx="2">
                  <c:v>0.269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850" u="none">
                  <a:solidFill>
                    <a:srgbClr val="2C3E4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C3E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</c:scaling>
        <c:delete val="0"/>
        <c:axPos val="l"/>
        <c:majorGridlines>
          <c:spPr>
            <a:ln w="12700" cap="flat">
              <a:solidFill>
                <a:srgbClr val="E6EC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C7C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C3E4D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this is a research-engineering review. Two halves - where the field came from, and what this repository contributes to it. The honest result is in the second 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questions map to the three acts of the deck. The bottom band is the invariant that makes the whole thing safe: the high level only reorders and restricts candidates.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downstream - CBS constraints, PIBT's rejection rules, this repo's validate.py - is machinery for enforcing exactly these two conditions cheaply.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branch is where PIBT lives, and where this project lives. Note the third card: lifelong is not a harder version of MAPF, it is a different problem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arc: coupling buys optimality and costs scale; decoupling buys scale and costs guarantees. PIBT sits at the far decoupled end but recovers a conditional progress guarantee via priority inheritance.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table is the justification for building on PIBT rather than CBS: at 40 robots on a lifelong stream, replanning optimally is not on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move from left to right is what creates the aisle problem: with a continuous stream of tasks, traffic patterns in corridors become persistent and directional rather than incidental.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inheritance chain is the mechanism that makes queues resolve. Remember this diagram - it is exactly what Token Passing lacks, and it explains the baseline result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thesis. Everything after it is either mechanism or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modules, ~6,700 lines, no runtime dependencies. The module-to-spec-section table lives in docs/implementation-notes.md.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ablation flag in the paper maps onto switching one of these terms off. That is why the factorial decomposition later is possible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drain phase is what makes one-way corridors safe: you never reverse a corridor that still has traffic in it. The drain timeout is our addition - without it DRAINING is an absorbing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Levels 5-7 all work by temporarily suspending the aisle layer. Hold that thought - the results show that this suspension is doing most of the useful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this changed the LDA-PIBT algorithm. It changed what we are entitled to claim about it - and two claims did not survive.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careful with this slide in front of an audience: the margin is real and significant, but the caveats matter. RHCR is designed for hundreds of robots on much larger warehouses.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methodological heart of the work. A 2x2 design costs four runs instead of two and tells you something the ladder cannot: whether the effect is additive or interacting.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Reporting a negative result properly is the contribution here. Four of six hypotheses were wrong or unsupported once the confounds were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Cause 3 is the deep one and it is a genuine tension in the idea, not a bug: aisle direction and priority inheritance want opposite things from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 here: coordinated direction assignment is the one that could plausibly flip the headline result on warehouse_corridors.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invariant: whatever the high level got wrong, collision freedom never broke. That separation of concerns is what made the negative result safe to discover.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26680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" name="Shape 1"/>
          <p:cNvSpPr/>
          <p:nvPr/>
        </p:nvSpPr>
        <p:spPr>
          <a:xfrm>
            <a:off x="8197596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" name="Shape 2"/>
          <p:cNvSpPr/>
          <p:nvPr/>
        </p:nvSpPr>
        <p:spPr>
          <a:xfrm>
            <a:off x="8732520" y="1298448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5" name="Shape 3"/>
          <p:cNvSpPr/>
          <p:nvPr/>
        </p:nvSpPr>
        <p:spPr>
          <a:xfrm>
            <a:off x="9139428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" name="Shape 4"/>
          <p:cNvSpPr/>
          <p:nvPr/>
        </p:nvSpPr>
        <p:spPr>
          <a:xfrm>
            <a:off x="9610344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7" name="Shape 5"/>
          <p:cNvSpPr/>
          <p:nvPr/>
        </p:nvSpPr>
        <p:spPr>
          <a:xfrm>
            <a:off x="10081260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8" name="Shape 6"/>
          <p:cNvSpPr/>
          <p:nvPr/>
        </p:nvSpPr>
        <p:spPr>
          <a:xfrm>
            <a:off x="10552176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9" name="Shape 7"/>
          <p:cNvSpPr/>
          <p:nvPr/>
        </p:nvSpPr>
        <p:spPr>
          <a:xfrm>
            <a:off x="11023092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0" name="Shape 8"/>
          <p:cNvSpPr/>
          <p:nvPr/>
        </p:nvSpPr>
        <p:spPr>
          <a:xfrm>
            <a:off x="11494008" y="123444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11" name="Shape 9"/>
          <p:cNvSpPr/>
          <p:nvPr/>
        </p:nvSpPr>
        <p:spPr>
          <a:xfrm>
            <a:off x="7726680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2" name="Shape 10"/>
          <p:cNvSpPr/>
          <p:nvPr/>
        </p:nvSpPr>
        <p:spPr>
          <a:xfrm>
            <a:off x="8197596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3" name="Shape 11"/>
          <p:cNvSpPr/>
          <p:nvPr/>
        </p:nvSpPr>
        <p:spPr>
          <a:xfrm>
            <a:off x="8668512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14" name="Shape 12"/>
          <p:cNvSpPr/>
          <p:nvPr/>
        </p:nvSpPr>
        <p:spPr>
          <a:xfrm>
            <a:off x="9139428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10344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145268" y="1769364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52176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23092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19" name="Shape 17"/>
          <p:cNvSpPr/>
          <p:nvPr/>
        </p:nvSpPr>
        <p:spPr>
          <a:xfrm>
            <a:off x="11494008" y="170535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0" name="Shape 18"/>
          <p:cNvSpPr/>
          <p:nvPr/>
        </p:nvSpPr>
        <p:spPr>
          <a:xfrm>
            <a:off x="7726680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1" name="Shape 19"/>
          <p:cNvSpPr/>
          <p:nvPr/>
        </p:nvSpPr>
        <p:spPr>
          <a:xfrm>
            <a:off x="8197596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2" name="Shape 20"/>
          <p:cNvSpPr/>
          <p:nvPr/>
        </p:nvSpPr>
        <p:spPr>
          <a:xfrm>
            <a:off x="8668512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3" name="Shape 21"/>
          <p:cNvSpPr/>
          <p:nvPr/>
        </p:nvSpPr>
        <p:spPr>
          <a:xfrm>
            <a:off x="9139428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4" name="Shape 22"/>
          <p:cNvSpPr/>
          <p:nvPr/>
        </p:nvSpPr>
        <p:spPr>
          <a:xfrm>
            <a:off x="9674352" y="2240280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5" name="Shape 23"/>
          <p:cNvSpPr/>
          <p:nvPr/>
        </p:nvSpPr>
        <p:spPr>
          <a:xfrm>
            <a:off x="10081260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6" name="Shape 24"/>
          <p:cNvSpPr/>
          <p:nvPr/>
        </p:nvSpPr>
        <p:spPr>
          <a:xfrm>
            <a:off x="10552176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7" name="Shape 25"/>
          <p:cNvSpPr/>
          <p:nvPr/>
        </p:nvSpPr>
        <p:spPr>
          <a:xfrm>
            <a:off x="11023092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8" name="Shape 26"/>
          <p:cNvSpPr/>
          <p:nvPr/>
        </p:nvSpPr>
        <p:spPr>
          <a:xfrm>
            <a:off x="11494008" y="217627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29" name="Shape 27"/>
          <p:cNvSpPr/>
          <p:nvPr/>
        </p:nvSpPr>
        <p:spPr>
          <a:xfrm>
            <a:off x="7726680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0" name="Shape 28"/>
          <p:cNvSpPr/>
          <p:nvPr/>
        </p:nvSpPr>
        <p:spPr>
          <a:xfrm>
            <a:off x="8197596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1" name="Shape 29"/>
          <p:cNvSpPr/>
          <p:nvPr/>
        </p:nvSpPr>
        <p:spPr>
          <a:xfrm>
            <a:off x="8668512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32" name="Shape 30"/>
          <p:cNvSpPr/>
          <p:nvPr/>
        </p:nvSpPr>
        <p:spPr>
          <a:xfrm>
            <a:off x="9139428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3" name="Shape 31"/>
          <p:cNvSpPr/>
          <p:nvPr/>
        </p:nvSpPr>
        <p:spPr>
          <a:xfrm>
            <a:off x="9610344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81260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35" name="Shape 33"/>
          <p:cNvSpPr/>
          <p:nvPr/>
        </p:nvSpPr>
        <p:spPr>
          <a:xfrm>
            <a:off x="10552176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6" name="Shape 34"/>
          <p:cNvSpPr/>
          <p:nvPr/>
        </p:nvSpPr>
        <p:spPr>
          <a:xfrm>
            <a:off x="11023092" y="2647188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7" name="Shape 35"/>
          <p:cNvSpPr/>
          <p:nvPr/>
        </p:nvSpPr>
        <p:spPr>
          <a:xfrm>
            <a:off x="11558016" y="2711196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6680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39" name="Shape 37"/>
          <p:cNvSpPr/>
          <p:nvPr/>
        </p:nvSpPr>
        <p:spPr>
          <a:xfrm>
            <a:off x="8197596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0" name="Shape 38"/>
          <p:cNvSpPr/>
          <p:nvPr/>
        </p:nvSpPr>
        <p:spPr>
          <a:xfrm>
            <a:off x="8668512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41" name="Shape 39"/>
          <p:cNvSpPr/>
          <p:nvPr/>
        </p:nvSpPr>
        <p:spPr>
          <a:xfrm>
            <a:off x="9139428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2" name="Shape 40"/>
          <p:cNvSpPr/>
          <p:nvPr/>
        </p:nvSpPr>
        <p:spPr>
          <a:xfrm>
            <a:off x="9610344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3" name="Shape 41"/>
          <p:cNvSpPr/>
          <p:nvPr/>
        </p:nvSpPr>
        <p:spPr>
          <a:xfrm>
            <a:off x="10081260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44" name="Shape 42"/>
          <p:cNvSpPr/>
          <p:nvPr/>
        </p:nvSpPr>
        <p:spPr>
          <a:xfrm>
            <a:off x="10552176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23092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46" name="Shape 44"/>
          <p:cNvSpPr/>
          <p:nvPr/>
        </p:nvSpPr>
        <p:spPr>
          <a:xfrm>
            <a:off x="11494008" y="311810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47" name="Shape 45"/>
          <p:cNvSpPr/>
          <p:nvPr/>
        </p:nvSpPr>
        <p:spPr>
          <a:xfrm>
            <a:off x="7726680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48" name="Shape 46"/>
          <p:cNvSpPr/>
          <p:nvPr/>
        </p:nvSpPr>
        <p:spPr>
          <a:xfrm>
            <a:off x="8261604" y="3653028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49" name="Shape 47"/>
          <p:cNvSpPr/>
          <p:nvPr/>
        </p:nvSpPr>
        <p:spPr>
          <a:xfrm>
            <a:off x="8668512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0" name="Shape 48"/>
          <p:cNvSpPr/>
          <p:nvPr/>
        </p:nvSpPr>
        <p:spPr>
          <a:xfrm>
            <a:off x="9139428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1" name="Shape 49"/>
          <p:cNvSpPr/>
          <p:nvPr/>
        </p:nvSpPr>
        <p:spPr>
          <a:xfrm>
            <a:off x="9610344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2" name="Shape 50"/>
          <p:cNvSpPr/>
          <p:nvPr/>
        </p:nvSpPr>
        <p:spPr>
          <a:xfrm>
            <a:off x="10081260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3" name="Shape 51"/>
          <p:cNvSpPr/>
          <p:nvPr/>
        </p:nvSpPr>
        <p:spPr>
          <a:xfrm>
            <a:off x="10552176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4" name="Shape 52"/>
          <p:cNvSpPr/>
          <p:nvPr/>
        </p:nvSpPr>
        <p:spPr>
          <a:xfrm>
            <a:off x="11023092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5" name="Shape 53"/>
          <p:cNvSpPr/>
          <p:nvPr/>
        </p:nvSpPr>
        <p:spPr>
          <a:xfrm>
            <a:off x="11494008" y="3589020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6" name="Shape 54"/>
          <p:cNvSpPr/>
          <p:nvPr/>
        </p:nvSpPr>
        <p:spPr>
          <a:xfrm>
            <a:off x="7726680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57" name="Shape 55"/>
          <p:cNvSpPr/>
          <p:nvPr/>
        </p:nvSpPr>
        <p:spPr>
          <a:xfrm>
            <a:off x="8197596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58" name="Shape 56"/>
          <p:cNvSpPr/>
          <p:nvPr/>
        </p:nvSpPr>
        <p:spPr>
          <a:xfrm>
            <a:off x="8668512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59" name="Shape 57"/>
          <p:cNvSpPr/>
          <p:nvPr/>
        </p:nvSpPr>
        <p:spPr>
          <a:xfrm>
            <a:off x="9139428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0" name="Shape 58"/>
          <p:cNvSpPr/>
          <p:nvPr/>
        </p:nvSpPr>
        <p:spPr>
          <a:xfrm>
            <a:off x="9610344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1" name="Shape 59"/>
          <p:cNvSpPr/>
          <p:nvPr/>
        </p:nvSpPr>
        <p:spPr>
          <a:xfrm>
            <a:off x="10145268" y="4123944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2" name="Shape 60"/>
          <p:cNvSpPr/>
          <p:nvPr/>
        </p:nvSpPr>
        <p:spPr>
          <a:xfrm>
            <a:off x="10552176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3" name="Shape 61"/>
          <p:cNvSpPr/>
          <p:nvPr/>
        </p:nvSpPr>
        <p:spPr>
          <a:xfrm>
            <a:off x="11023092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4" name="Shape 62"/>
          <p:cNvSpPr/>
          <p:nvPr/>
        </p:nvSpPr>
        <p:spPr>
          <a:xfrm>
            <a:off x="11494008" y="4059936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65" name="Shape 63"/>
          <p:cNvSpPr/>
          <p:nvPr/>
        </p:nvSpPr>
        <p:spPr>
          <a:xfrm>
            <a:off x="7726680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6" name="Shape 64"/>
          <p:cNvSpPr/>
          <p:nvPr/>
        </p:nvSpPr>
        <p:spPr>
          <a:xfrm>
            <a:off x="8197596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7" name="Shape 65"/>
          <p:cNvSpPr/>
          <p:nvPr/>
        </p:nvSpPr>
        <p:spPr>
          <a:xfrm>
            <a:off x="8732520" y="4594860"/>
            <a:ext cx="274320" cy="27432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8" name="Shape 66"/>
          <p:cNvSpPr/>
          <p:nvPr/>
        </p:nvSpPr>
        <p:spPr>
          <a:xfrm>
            <a:off x="9139428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69" name="Shape 67"/>
          <p:cNvSpPr/>
          <p:nvPr/>
        </p:nvSpPr>
        <p:spPr>
          <a:xfrm>
            <a:off x="9610344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70" name="Shape 68"/>
          <p:cNvSpPr/>
          <p:nvPr/>
        </p:nvSpPr>
        <p:spPr>
          <a:xfrm>
            <a:off x="10081260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71" name="Shape 69"/>
          <p:cNvSpPr/>
          <p:nvPr/>
        </p:nvSpPr>
        <p:spPr>
          <a:xfrm>
            <a:off x="10552176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72" name="Shape 70"/>
          <p:cNvSpPr/>
          <p:nvPr/>
        </p:nvSpPr>
        <p:spPr>
          <a:xfrm>
            <a:off x="11023092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26404F"/>
          </a:solidFill>
          <a:ln/>
        </p:spPr>
      </p:sp>
      <p:sp>
        <p:nvSpPr>
          <p:cNvPr id="73" name="Shape 71"/>
          <p:cNvSpPr/>
          <p:nvPr/>
        </p:nvSpPr>
        <p:spPr>
          <a:xfrm>
            <a:off x="11494008" y="4530852"/>
            <a:ext cx="402336" cy="402336"/>
          </a:xfrm>
          <a:prstGeom prst="roundRect">
            <a:avLst>
              <a:gd name="adj" fmla="val 9091"/>
            </a:avLst>
          </a:prstGeom>
          <a:solidFill>
            <a:srgbClr val="14212C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48640" y="13716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PATH FINDING  ·  PROJECT REVIEW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1700784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AisleFlow</a:t>
            </a:r>
            <a:endParaRPr lang="en-US" sz="6000" dirty="0"/>
          </a:p>
        </p:txBody>
      </p:sp>
      <p:sp>
        <p:nvSpPr>
          <p:cNvPr id="76" name="Text 74"/>
          <p:cNvSpPr txBox="1"/>
          <p:nvPr/>
        </p:nvSpPr>
        <p:spPr>
          <a:xfrm>
            <a:off x="548640" y="2697480"/>
            <a:ext cx="6537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50" dirty="0">
                <a:solidFill>
                  <a:srgbClr val="BFD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Forty years of multi-agent path finding, the warehouse problem it grew into, and what a directional, congestion-aware lifelong planner actually bought us.</a:t>
            </a:r>
            <a:endParaRPr lang="en-US" sz="1650" dirty="0"/>
          </a:p>
        </p:txBody>
      </p:sp>
      <p:sp>
        <p:nvSpPr>
          <p:cNvPr id="77" name="Text 75"/>
          <p:cNvSpPr txBox="1"/>
          <p:nvPr/>
        </p:nvSpPr>
        <p:spPr>
          <a:xfrm>
            <a:off x="548640" y="461772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200" dirty="0"/>
          </a:p>
        </p:txBody>
      </p:sp>
      <p:sp>
        <p:nvSpPr>
          <p:cNvPr id="78" name="Text 76"/>
          <p:cNvSpPr txBox="1"/>
          <p:nvPr/>
        </p:nvSpPr>
        <p:spPr>
          <a:xfrm>
            <a:off x="1572768" y="47365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planners</a:t>
            </a:r>
            <a:endParaRPr lang="en-US" sz="11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</a:t>
            </a:r>
            <a:endParaRPr lang="en-US" sz="1150" dirty="0"/>
          </a:p>
        </p:txBody>
      </p:sp>
      <p:sp>
        <p:nvSpPr>
          <p:cNvPr id="79" name="Text 77"/>
          <p:cNvSpPr txBox="1"/>
          <p:nvPr/>
        </p:nvSpPr>
        <p:spPr>
          <a:xfrm>
            <a:off x="2761488" y="461772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161</a:t>
            </a:r>
            <a:endParaRPr lang="en-US" sz="4200" dirty="0"/>
          </a:p>
        </p:txBody>
      </p:sp>
      <p:sp>
        <p:nvSpPr>
          <p:cNvPr id="80" name="Text 78"/>
          <p:cNvSpPr txBox="1"/>
          <p:nvPr/>
        </p:nvSpPr>
        <p:spPr>
          <a:xfrm>
            <a:off x="3785616" y="47365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in</a:t>
            </a:r>
            <a:endParaRPr lang="en-US" sz="11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suite</a:t>
            </a:r>
            <a:endParaRPr lang="en-US" sz="1150" dirty="0"/>
          </a:p>
        </p:txBody>
      </p:sp>
      <p:sp>
        <p:nvSpPr>
          <p:cNvPr id="81" name="Text 79"/>
          <p:cNvSpPr txBox="1"/>
          <p:nvPr/>
        </p:nvSpPr>
        <p:spPr>
          <a:xfrm>
            <a:off x="4974336" y="461772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200" dirty="0"/>
          </a:p>
        </p:txBody>
      </p:sp>
      <p:sp>
        <p:nvSpPr>
          <p:cNvPr id="82" name="Text 80"/>
          <p:cNvSpPr txBox="1"/>
          <p:nvPr/>
        </p:nvSpPr>
        <p:spPr>
          <a:xfrm>
            <a:off x="5998464" y="47365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1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115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59436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LDA-PIBT  ·  Lifelong Aisle-Managed Priority Inheritance with Backtracking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DECK COVERS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56432" cy="3246120"/>
          </a:xfrm>
          <a:prstGeom prst="roundRect">
            <a:avLst>
              <a:gd name="adj" fmla="val 253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011680"/>
            <a:ext cx="457200" cy="45720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65176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did MAPF come from?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35204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decoupled prioritized planning in 1987 to optimal solvers, and then to the scalable, greedy planners that made thousands of robots tractable.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79392" y="1691640"/>
            <a:ext cx="3456432" cy="3246120"/>
          </a:xfrm>
          <a:prstGeom prst="roundRect">
            <a:avLst>
              <a:gd name="adj" fmla="val 253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0288" y="2011680"/>
            <a:ext cx="457200" cy="45720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65176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problem were we solving?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5204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aisles are narrow and effectively one-way. PIBT is direction-blind. LDA-PIBT adds an aisle layer that decides direction, and a recovery layer that survives it.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10144" y="1691640"/>
            <a:ext cx="3456432" cy="3246120"/>
          </a:xfrm>
          <a:prstGeom prst="roundRect">
            <a:avLst>
              <a:gd name="adj" fmla="val 253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011680"/>
            <a:ext cx="457200" cy="45720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65176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How, and did it work?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5204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two-layer architecture, a de-confounded factorial ablation, and the first comparison in this repo against Token Passing and RHCR. Two hypotheses did not survive.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68680" y="537667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principle held throughout: 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direction, congestion and turning cost decide which legal move PIBT tries first — they never replace its collision checks or its backtracking.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Path Finding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graph G = (V, E), a set of k agents, each with a start and a goal vertex, find k paths such that every agent reaches its goal and no two agents ever collide. Time is discrete: at each timestep an agent moves along one edge or waits.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collisions define the problem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conflict — two agents occupy the same cell at the same timestep.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conflict — two agents exchange cells across one edge in one timestep.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493776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41248" y="5138928"/>
            <a:ext cx="4809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in MAPF is an optimisation objective layered on top of those two rules: makespan, sum-of-costs, or — in the lifelong setting this project lives in — throughput.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46520" y="1691640"/>
            <a:ext cx="5193792" cy="214884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73912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conflict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46520" y="4023360"/>
            <a:ext cx="5193792" cy="214884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739128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conflict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863840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57616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51392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45168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38944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7848" y="2551176"/>
            <a:ext cx="292608" cy="292608"/>
          </a:xfrm>
          <a:prstGeom prst="ellipse">
            <a:avLst/>
          </a:prstGeom>
          <a:solidFill>
            <a:srgbClr val="1D3346"/>
          </a:solidFill>
          <a:ln/>
        </p:spPr>
      </p:sp>
      <p:sp>
        <p:nvSpPr>
          <p:cNvPr id="19" name="Shape 17"/>
          <p:cNvSpPr/>
          <p:nvPr/>
        </p:nvSpPr>
        <p:spPr>
          <a:xfrm>
            <a:off x="9902952" y="2551176"/>
            <a:ext cx="292608" cy="29260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0" name="Shape 18"/>
          <p:cNvSpPr/>
          <p:nvPr/>
        </p:nvSpPr>
        <p:spPr>
          <a:xfrm>
            <a:off x="8275320" y="2697480"/>
            <a:ext cx="621792" cy="0"/>
          </a:xfrm>
          <a:prstGeom prst="line">
            <a:avLst/>
          </a:prstGeom>
          <a:noFill/>
          <a:ln w="25400">
            <a:solidFill>
              <a:srgbClr val="1D3346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208008" y="2697480"/>
            <a:ext cx="621792" cy="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8924544" y="2487168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7D9D3"/>
          </a:solidFill>
          <a:ln w="19050">
            <a:solidFill>
              <a:srgbClr val="AF352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0" y="30540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2"/>
              </a:lnSpc>
              <a:buNone/>
            </a:pPr>
            <a:r>
              <a:rPr lang="en-US" sz="110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claim the shaded cell at t+1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35240" y="4828032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AF352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9016" y="4828032"/>
            <a:ext cx="420624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AF352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99248" y="4892040"/>
            <a:ext cx="292608" cy="292608"/>
          </a:xfrm>
          <a:prstGeom prst="ellipse">
            <a:avLst/>
          </a:prstGeom>
          <a:solidFill>
            <a:srgbClr val="1D3346"/>
          </a:solidFill>
          <a:ln/>
        </p:spPr>
      </p:sp>
      <p:sp>
        <p:nvSpPr>
          <p:cNvPr id="27" name="Shape 25"/>
          <p:cNvSpPr/>
          <p:nvPr/>
        </p:nvSpPr>
        <p:spPr>
          <a:xfrm>
            <a:off x="8193024" y="4892040"/>
            <a:ext cx="292608" cy="29260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8" name="Shape 26"/>
          <p:cNvSpPr/>
          <p:nvPr/>
        </p:nvSpPr>
        <p:spPr>
          <a:xfrm>
            <a:off x="7790688" y="4681728"/>
            <a:ext cx="548640" cy="0"/>
          </a:xfrm>
          <a:prstGeom prst="line">
            <a:avLst/>
          </a:prstGeom>
          <a:noFill/>
          <a:ln w="25400">
            <a:solidFill>
              <a:srgbClr val="1D3346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790688" y="5394960"/>
            <a:ext cx="548640" cy="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head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823960" y="468172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trade places along one edge — legal for each</a:t>
            </a:r>
            <a:endParaRPr lang="en-US" sz="110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alone, illegal for the pair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RESISTED FORTY YEARS OF ATTACK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difficulty is structural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56432" cy="3291840"/>
          </a:xfrm>
          <a:prstGeom prst="roundRect">
            <a:avLst>
              <a:gd name="adj" fmla="val 250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59536" y="193852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≈5ᵏ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834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branching factor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3246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may move in four directions or wait, so the joint action space of k agents grows as 5ᵏ. Coupled search is exponential in the number of agents, not the map.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79392" y="1691640"/>
            <a:ext cx="3456432" cy="3291840"/>
          </a:xfrm>
          <a:prstGeom prst="roundRect">
            <a:avLst>
              <a:gd name="adj" fmla="val 250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90288" y="193852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NP-hard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2834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solve optimally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90288" y="3246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MAPF on graphs is NP-hard for both makespan and sum-of-costs (Yu &amp; LaValle, 2013; anticipated by Ratner &amp; Warmuth on the generalised 15-puzzle, 1986).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10144" y="1691640"/>
            <a:ext cx="3456432" cy="3291840"/>
          </a:xfrm>
          <a:prstGeom prst="roundRect">
            <a:avLst>
              <a:gd name="adj" fmla="val 250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21040" y="193852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Endless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8346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BE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horizon never ends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246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working warehouse, a delivered task is replaced by a new one. There is no final goal configuration to plan to — the classical formulation simply stops applying.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30368"/>
            <a:ext cx="11091672" cy="804672"/>
          </a:xfrm>
          <a:prstGeom prst="roundRect">
            <a:avLst>
              <a:gd name="adj" fmla="val 10227"/>
            </a:avLst>
          </a:prstGeom>
          <a:solidFill>
            <a:srgbClr val="EDF2F6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5431536"/>
            <a:ext cx="10469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2"/>
              </a:lnSpc>
              <a:buNone/>
            </a:pPr>
            <a:r>
              <a:rPr lang="en-US" sz="135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field split. One branch chased optimality and paid for it in scale. Another gave up optimality for completeness. A third gave up both for speed — and turned out to be the branch warehouses needed.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eras of multi-agent path finding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148840" cy="416052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76656" y="185623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1987–2005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21214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Decoupled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33472"/>
            <a:ext cx="18013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Erdmann &amp; Lozano-Pérez: plan one agent at a time, treat the others as moving obstacles.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Silver's Cooperative A* / WHCA* (2005) adds a shared reservation table over space-time.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incomplete, order-sensitive.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52344" y="1645920"/>
            <a:ext cx="2148840" cy="416052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971800" y="185623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2010–2015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21214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Optimal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2633472"/>
            <a:ext cx="18013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 (Sharon et al.) splits on conflicts and re-plans single agents under constraints.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ICTS, M* and BCP follow soon after.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Optimal, elegant — and it falls over past tens of agents in dense maps.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1645920"/>
            <a:ext cx="2148840" cy="416052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266944" y="185623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2011–2016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266944" y="21214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Rule-based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2633472"/>
            <a:ext cx="18013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and Swap, Push and Rotate, TASS: complete in polynomial time by construction.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quality is poor, but they never fail to terminate.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42632" y="1645920"/>
            <a:ext cx="2148840" cy="4160520"/>
          </a:xfrm>
          <a:prstGeom prst="roundRect">
            <a:avLst>
              <a:gd name="adj" fmla="val 383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562088" y="185623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2017–2021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562088" y="21214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Lifelong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7525512" y="2633472"/>
            <a:ext cx="18013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Warehouses (Kiva / Amazon Robotics, 2008) make the one-shot formulation obsolete.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MAPD and Token Passing (Ma, Li, Kumar &amp; Koenig, 2017); RHCR replans a rolling window (Li et al., 2021).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637776" y="1645920"/>
            <a:ext cx="2148840" cy="4160520"/>
          </a:xfrm>
          <a:prstGeom prst="roundRect">
            <a:avLst>
              <a:gd name="adj" fmla="val 383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857232" y="185623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2019–2023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9857232" y="2121408"/>
            <a:ext cx="170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Scalable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9820656" y="2633472"/>
            <a:ext cx="180136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PIBT (Okumura et al.): one timestep at a time, priority inheritance and backtracking.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LaCAM (2023) builds a complete search on top of it.</a:t>
            </a:r>
            <a:endParaRPr lang="en-US" sz="1100" dirty="0"/>
          </a:p>
          <a:p>
            <a:pPr marL="177800" indent="-177800">
              <a:lnSpc>
                <a:spcPts val="14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agents in real time.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BCP — branch-and-cut-and-price. PIBT — Priority Inheritance with Backtracking, Okumura, Machida, Défago &amp; Tamura (IJCAI 2019; Artificial Intelligence, 2022) — is the algorithm this repository extends.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FAMILIES TRADE OFF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choose two of three: optimal, complete, fast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97480" y="1737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029200" y="17373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737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4692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0624" y="2121408"/>
            <a:ext cx="11338560" cy="841248"/>
          </a:xfrm>
          <a:prstGeom prst="roundRect">
            <a:avLst>
              <a:gd name="adj" fmla="val 978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4942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Optimal search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249424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CBS, ICTS, M*, BCP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224942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+ complete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2249424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agents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646920" y="224942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in conflicts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20624" y="3090672"/>
            <a:ext cx="11338560" cy="841248"/>
          </a:xfrm>
          <a:prstGeom prst="roundRect">
            <a:avLst>
              <a:gd name="adj" fmla="val 978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18688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Bounded suboptimal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321868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ECBS, EECBS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218688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factor of optimal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218688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hundreds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646920" y="32186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search overhead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0624" y="4059936"/>
            <a:ext cx="11338560" cy="841248"/>
          </a:xfrm>
          <a:prstGeom prst="roundRect">
            <a:avLst>
              <a:gd name="adj" fmla="val 978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18795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Rule-based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697480" y="418795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and Swap, Push and Rotate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0" y="418795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Complete, polynomial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680960" y="4187952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646920" y="418795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solution quality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20624" y="5029200"/>
            <a:ext cx="11338560" cy="841248"/>
          </a:xfrm>
          <a:prstGeom prst="roundRect">
            <a:avLst>
              <a:gd name="adj" fmla="val 9783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548640" y="515721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Greedy / reactive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697480" y="5157216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PIBT, LaCAM, this repo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0" y="5157216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progress only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680960" y="5157216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Thousands, real time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9646920" y="515721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global optimality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20624" y="6053328"/>
            <a:ext cx="1133856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6199632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AisleFlow lives on the bottom row. The question this project asks is whether a warehouse-aware layer on top of a greedy planner can buy back some of the quality the greedy choice gave away.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TURN THAT MADE THIS PROJECT NECESSARY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one-shot MAPF to lifelong MAPD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3246120"/>
          </a:xfrm>
          <a:prstGeom prst="roundRect">
            <a:avLst>
              <a:gd name="adj" fmla="val 253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96112" y="19385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Classical MAPF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450592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agents, k goals, fixed in advance.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once, offline, then execute.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= every agent parked on its goal.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makespan or sum-of-costs.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valid until it finishes.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691640"/>
            <a:ext cx="5376672" cy="3246120"/>
          </a:xfrm>
          <a:prstGeom prst="roundRect">
            <a:avLst>
              <a:gd name="adj" fmla="val 2535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11112" y="19385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Lifelong MAPD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611112" y="2450592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arrive as a stream — Poisson, bursty, or scheduled.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that delivers is immediately re-assigned.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terminal configuration to plan to.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throughput, service time, and its tail.</a:t>
            </a:r>
            <a:endParaRPr lang="en-US" sz="1350" dirty="0"/>
          </a:p>
          <a:p>
            <a:pPr marL="177800" indent="-177800">
              <a:lnSpc>
                <a:spcPts val="17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plan is provisional; you replan forever.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193792"/>
            <a:ext cx="11091672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535838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Amazon's Kiva fulfilment floors (Wurman, D'Andrea &amp; Mountz, 2008) are the reason this reframing mattered commercially: hundreds of robots, narrow aisles, tasks that never stop arriving.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WE BUILD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PIBT: one timestep, priority inheritance, backtracking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78992" y="1691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202082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neighbours of the current cell, plus staying put. Nothing longer than one step is ever planned.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365760" cy="36576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27889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rejection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311810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Off-graph, kinematics, aisle direction, aisle reservation, vertex conflict, swap conflict. Anything surviving is provably safe.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365760" cy="36576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38862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and sort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421538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Survivors are ranked by Sᵢ(v). This is the only place direction, congestion and turning cost act.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365760" cy="365760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29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49834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Inherit, then backtrack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78992" y="5312664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best cell is occupied by an unplanned robot, that robot plans next with the caller's priority. If it fails, undo and try the next candidate.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720840" y="1691640"/>
            <a:ext cx="4919472" cy="4160520"/>
          </a:xfrm>
          <a:prstGeom prst="roundRect">
            <a:avLst>
              <a:gd name="adj" fmla="val 1978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022592" y="19019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inheritance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059168" y="2395728"/>
            <a:ext cx="566928" cy="56692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059168" y="2395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818120" y="24871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priority, wants the cell ahead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42632" y="2999232"/>
            <a:ext cx="0" cy="329184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59168" y="3364992"/>
            <a:ext cx="566928" cy="566928"/>
          </a:xfrm>
          <a:prstGeom prst="ellipse">
            <a:avLst/>
          </a:prstGeom>
          <a:solidFill>
            <a:srgbClr val="5A738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059168" y="33649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7818120" y="34564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sitting in it, has not planned yet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42632" y="3968496"/>
            <a:ext cx="0" cy="329184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059168" y="4334256"/>
            <a:ext cx="566928" cy="566928"/>
          </a:xfrm>
          <a:prstGeom prst="ellipse">
            <a:avLst/>
          </a:prstGeom>
          <a:solidFill>
            <a:srgbClr val="5A738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059168" y="4334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442569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idle, blocking R3 in turn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022592" y="5230368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FBE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moves aside, so R3 moves, so R7 moves. If nobody can, the chain unwinds and R7 tries its second-best cell.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timestep: O(|A|(Δ(G) + F + log|A|)). Measured here at 0.96 ms/step for 40 robots on warehouse_medium.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WE SET OUT TO CLOSE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PIBT does not know what an aisle 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56432" cy="2286000"/>
          </a:xfrm>
          <a:prstGeom prst="roundRect">
            <a:avLst>
              <a:gd name="adj" fmla="val 3600"/>
            </a:avLst>
          </a:prstGeom>
          <a:solidFill>
            <a:srgbClr val="1A2C3B"/>
          </a:solidFill>
          <a:ln w="12700">
            <a:solidFill>
              <a:srgbClr val="1A2C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Direction-blind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340864"/>
            <a:ext cx="28895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PIBT scores a cell by how much closer it gets you. Two robots entering a single-file corridor from opposite ends are each moving optimally, right up to the moment neither can move at all.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79392" y="1691640"/>
            <a:ext cx="3456432" cy="2286000"/>
          </a:xfrm>
          <a:prstGeom prst="roundRect">
            <a:avLst>
              <a:gd name="adj" fmla="val 3600"/>
            </a:avLst>
          </a:prstGeom>
          <a:solidFill>
            <a:srgbClr val="1A2C3B"/>
          </a:solidFill>
          <a:ln w="12700">
            <a:solidFill>
              <a:srgbClr val="1A2C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Congestion-blind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340864"/>
            <a:ext cx="28895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assignment picks whichever robot is nearest. Nearest through a jammed corridor is not nearest, and a greedy match keeps feeding robots into the jam.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10144" y="1691640"/>
            <a:ext cx="3456432" cy="2286000"/>
          </a:xfrm>
          <a:prstGeom prst="roundRect">
            <a:avLst>
              <a:gd name="adj" fmla="val 3600"/>
            </a:avLst>
          </a:prstGeom>
          <a:solidFill>
            <a:srgbClr val="1A2C3B"/>
          </a:solidFill>
          <a:ln w="12700">
            <a:solidFill>
              <a:srgbClr val="1A2C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02752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memory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2340864"/>
            <a:ext cx="28895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PIBT records that this corridor was flowing north five steps ago, so the flow direction flaps with the traffic instead of settling.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224528"/>
            <a:ext cx="11091672" cy="1627632"/>
          </a:xfrm>
          <a:prstGeom prst="roundRect">
            <a:avLst>
              <a:gd name="adj" fmla="val 5056"/>
            </a:avLst>
          </a:prstGeom>
          <a:solidFill>
            <a:srgbClr val="F2A104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446227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“Robots generate directional requests, but aisles make directional decisions.”</a:t>
            </a:r>
            <a:endParaRPr lang="en-US" sz="23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504748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architectural commitment of LDA-PIBT: a robot may prefer a direction, but the aisle owns it — and the aisle is the only thing that can see every robot that wants to use it.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LDA-PIBT — Lifelong Aisle-Managed PIBT. AisleFlow is the implementation; LDA-PIBT is the algorithm it implements.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layers, and a line neither crosses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691640"/>
          </a:xfrm>
          <a:prstGeom prst="roundRect">
            <a:avLst>
              <a:gd name="adj" fmla="val 4865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LEVEL — what each robot wants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68680" y="2212848"/>
            <a:ext cx="1353312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212848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assignment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350008" y="2212848"/>
            <a:ext cx="870509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50008" y="2212848"/>
            <a:ext cx="87050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waypoints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48533" y="2212848"/>
            <a:ext cx="629107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48533" y="2212848"/>
            <a:ext cx="6291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105656" y="2212848"/>
            <a:ext cx="1594714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5656" y="2212848"/>
            <a:ext cx="1594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demand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28386" y="2212848"/>
            <a:ext cx="1353312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28386" y="2212848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aisle direction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8680" y="2715768"/>
            <a:ext cx="1594714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2715768"/>
            <a:ext cx="1594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hysteresis + drain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591410" y="2715768"/>
            <a:ext cx="1111910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591410" y="2715768"/>
            <a:ext cx="11119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831336" y="2715768"/>
            <a:ext cx="950976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31336" y="2715768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910328" y="2715768"/>
            <a:ext cx="1514246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0328" y="2715768"/>
            <a:ext cx="151424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 recovery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840480" y="3401568"/>
            <a:ext cx="0" cy="457200"/>
          </a:xfrm>
          <a:prstGeom prst="line">
            <a:avLst/>
          </a:prstGeom>
          <a:noFill/>
          <a:ln w="3175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069080" y="34930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constrains and ranks candidates — never decides safety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3931920"/>
            <a:ext cx="11091672" cy="1234440"/>
          </a:xfrm>
          <a:prstGeom prst="roundRect">
            <a:avLst>
              <a:gd name="adj" fmla="val 6667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1148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LEVEL — PIBT, one synchronized timestep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68680" y="4498848"/>
            <a:ext cx="950976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68680" y="4498848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947672" y="4498848"/>
            <a:ext cx="1272845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947672" y="4498848"/>
            <a:ext cx="12728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rejection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348533" y="4498848"/>
            <a:ext cx="1111910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48533" y="4498848"/>
            <a:ext cx="11119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score-sorted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588459" y="4498848"/>
            <a:ext cx="1755648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88459" y="4498848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inheritance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72123" y="4498848"/>
            <a:ext cx="1111910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2123" y="4498848"/>
            <a:ext cx="11119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backtracking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712050" y="4498848"/>
            <a:ext cx="1675181" cy="384048"/>
          </a:xfrm>
          <a:prstGeom prst="roundRect">
            <a:avLst>
              <a:gd name="adj" fmla="val 47619"/>
            </a:avLst>
          </a:prstGeom>
          <a:solidFill>
            <a:srgbClr val="27455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712050" y="4498848"/>
            <a:ext cx="167518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every step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5440680"/>
            <a:ext cx="11091672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68680" y="56052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invariant: no high-level formula can produce a collision, by construction. Zero vertex conflicts and zero swap conflicts were observed across every map, density, seed and variant tested — checked every timestep by validate_plan.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HOW, PART 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scoring function carries the whole high level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371600"/>
          </a:xfrm>
          <a:prstGeom prst="roundRect">
            <a:avLst>
              <a:gd name="adj" fmla="val 600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Sᵢ(v) = </a:t>
            </a:r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α·progress  +  βᵢ·[preferred direction]  +  γᵢ·[stays in aisle]
</a:t>
            </a:r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− λ·turn  −  μ·congestion  −  ν·wait  −  ξ·[bottleneck cell]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3924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10.0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33924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58184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closer to the waypoint. Dominates everything else by design.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79392" y="3246120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53712" y="33924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β ≤ 3.0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96712" y="33924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3758184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for moving the way the robot prefers — decayed smoothly as it nears its waypoint, so preference yields to arrival.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10144" y="3246120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84464" y="33924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γ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427464" y="33924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Aisle continuity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284464" y="3758184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 robot committed to the corridor it is already in, except at intersections.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736592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828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λ = 0.5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8828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cost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248656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penalty per direction change. The cheapest term here, and — spoiler — the one that did the most work.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279392" y="4736592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3712" y="48828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μ = 1.0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96712" y="48828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Congestion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4553712" y="5248656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density, aisle occupancy and downstream lookahead, mixed into one term.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10144" y="4736592"/>
            <a:ext cx="345643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84464" y="48828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10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ξ = 1.0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427464" y="48828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Bottleneck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8284464" y="5248656"/>
            <a:ext cx="2962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Discourages parking on an articulation point that the whole map depends on.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Intended ordering α &gt; β_strong &gt; λ (10 &gt; 3 &gt; 0.5). The spec's route-normalised progress silently inverts it at long range, so this implementation defaults to step-normalised progress, with Δ taking the values −1, 0 or +1.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HOW, PART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Aisles decide, with hysteresis and a drain phase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51560" y="1828800"/>
            <a:ext cx="2103120" cy="658368"/>
          </a:xfrm>
          <a:prstGeom prst="roundRect">
            <a:avLst>
              <a:gd name="adj" fmla="val 12500"/>
            </a:avLst>
          </a:prstGeom>
          <a:solidFill>
            <a:srgbClr val="1D3346"/>
          </a:solidFill>
          <a:ln w="19050">
            <a:solidFill>
              <a:srgbClr val="1D33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2880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51560" y="3127248"/>
            <a:ext cx="2103120" cy="658368"/>
          </a:xfrm>
          <a:prstGeom prst="roundRect">
            <a:avLst>
              <a:gd name="adj" fmla="val 12500"/>
            </a:avLst>
          </a:prstGeom>
          <a:solidFill>
            <a:srgbClr val="EDF2F6"/>
          </a:solidFill>
          <a:ln w="19050">
            <a:solidFill>
              <a:srgbClr val="D0DA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12724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51560" y="4425696"/>
            <a:ext cx="2103120" cy="658368"/>
          </a:xfrm>
          <a:prstGeom prst="roundRect">
            <a:avLst>
              <a:gd name="adj" fmla="val 12500"/>
            </a:avLst>
          </a:prstGeom>
          <a:solidFill>
            <a:srgbClr val="EDF2F6"/>
          </a:solidFill>
          <a:ln w="19050">
            <a:solidFill>
              <a:srgbClr val="D0DA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442569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103120" y="2487168"/>
            <a:ext cx="0" cy="64008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03120" y="3785616"/>
            <a:ext cx="0" cy="64008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86000" y="255117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demand imbalance leaves the ±τ</a:t>
            </a:r>
            <a:endParaRPr lang="en-US" sz="115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band and the lock has expired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9227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opposing demand exceeds τ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" y="4754880"/>
            <a:ext cx="393192" cy="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2157984"/>
            <a:ext cx="0" cy="2596896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157984"/>
            <a:ext cx="393192" cy="0"/>
          </a:xfrm>
          <a:prstGeom prst="line">
            <a:avLst/>
          </a:prstGeom>
          <a:noFill/>
          <a:ln w="25400">
            <a:solidFill>
              <a:srgbClr val="F2A104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2286000" y="459028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reaches zero — or the</a:t>
            </a:r>
            <a:endParaRPr lang="en-US" sz="115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 timeout fires — and it reopens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55321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8"/>
              </a:lnSpc>
              <a:buNone/>
            </a:pPr>
            <a:r>
              <a:rPr lang="en-US" sz="115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is the exact mirror of FORWARD, with the sign of the imbalance flipped.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1691640"/>
            <a:ext cx="5285232" cy="2240280"/>
          </a:xfrm>
          <a:prstGeom prst="roundRect">
            <a:avLst>
              <a:gd name="adj" fmla="val 367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656832" y="190195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Hysteresis, not reflexes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656832" y="2331720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robot contributes weighted demand for FORWARD or REVERSE in the aisles along its route.</a:t>
            </a:r>
            <a:endParaRPr lang="en-US" sz="1200" dirty="0"/>
          </a:p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direction flips only once the imbalance leaves a dead band of ±τ (default 5.0).</a:t>
            </a:r>
            <a:endParaRPr lang="en-US" sz="1200" dirty="0"/>
          </a:p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committed direction is locked for T_min steps, so it cannot flap.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55080" y="4069080"/>
            <a:ext cx="5285232" cy="2240280"/>
          </a:xfrm>
          <a:prstGeom prst="roundRect">
            <a:avLst>
              <a:gd name="adj" fmla="val 3673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656832" y="42793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Entry reservations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4709160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at an entrance gets a ticket only if occupancy plus pending tickets stay under capacity.</a:t>
            </a:r>
            <a:endParaRPr lang="en-US" sz="1200" dirty="0"/>
          </a:p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expire after 15 steps, so a stalled robot cannot hold a corridor hostage.</a:t>
            </a:r>
            <a:endParaRPr lang="en-US" sz="1200" dirty="0"/>
          </a:p>
          <a:p>
            <a:pPr marL="177800" indent="-177800">
              <a:lnSpc>
                <a:spcPts val="155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restricts entry, not interior movement — a robot inside may always leave.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HOW, PART 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levels of recovery, one per timestep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642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constraints break PIBT's own progress argument: inheritance works because you can always push a robot into an adjacent cell, and a directional aisle removes exactly that freedom. Recovery is what makes the aisle layer survivable.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87168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2587752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2587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4871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routes from scratch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45536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3246120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4944" y="3246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455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and re-decide the affected aisles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03904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94944" y="3904488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4944" y="3904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70432" y="380390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stale aisle reservations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462272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4944" y="4562856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4944" y="4562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70432" y="44622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the blocked robots' priorities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63640" y="2487168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9944" y="2587752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9944" y="2587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885432" y="24871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temporary reverse movement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3145536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EDF2F6"/>
          </a:solidFill>
          <a:ln/>
        </p:spPr>
      </p:sp>
      <p:sp>
        <p:nvSpPr>
          <p:cNvPr id="26" name="Shape 24"/>
          <p:cNvSpPr/>
          <p:nvPr/>
        </p:nvSpPr>
        <p:spPr>
          <a:xfrm>
            <a:off x="6409944" y="3246120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9944" y="32461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885432" y="31455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robots to escape vertices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263640" y="3803904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1D3346"/>
          </a:solidFill>
          <a:ln/>
        </p:spPr>
      </p:sp>
      <p:sp>
        <p:nvSpPr>
          <p:cNvPr id="30" name="Shape 28"/>
          <p:cNvSpPr/>
          <p:nvPr/>
        </p:nvSpPr>
        <p:spPr>
          <a:xfrm>
            <a:off x="6409944" y="3904488"/>
            <a:ext cx="347472" cy="34747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9944" y="39044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85432" y="380390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all directional constraints locally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263640" y="4480560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37960" y="466344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level per timestep, not all seven at once: in a synchronous loop, whether a remedy worked cannot be observed until the next step. Firing all seven would apply six of them blind.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5376672"/>
            <a:ext cx="53492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55046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804672" y="5779008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stall signals: no progress toward the waypoint, a repeated joint configuration, and a cycle in the wait-for dependency graph.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WE ACTUALLY SOLVED THIS PASS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algorithm was fine. The evaluation was not.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64208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20240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9385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De-confounded the ablation</a:t>
            </a:r>
            <a:endParaRPr lang="en-US" sz="17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45059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six ladder rungs flipped two flags at once, so no throughput delta could be attributed to either. Added six single-flag variants and three 2×2 factorial designs that split each step into a main effect per flag plus an interaction.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64208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1920240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624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068312" y="19385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Added external baselines</a:t>
            </a:r>
            <a:endParaRPr lang="en-US" sz="1750" dirty="0"/>
          </a:p>
        </p:txBody>
      </p:sp>
      <p:sp>
        <p:nvSpPr>
          <p:cNvPr id="13" name="Text 11"/>
          <p:cNvSpPr txBox="1"/>
          <p:nvPr/>
        </p:nvSpPr>
        <p:spPr>
          <a:xfrm>
            <a:off x="6556248" y="245059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prior comparison was this codebase against itself. Implemented Token Passing (2017) and RHCR (2021) from scratch on a shared space-time A* with a reservation table, behind a planner_factory seam.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21608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3977640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39959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Made the numbers defensible</a:t>
            </a:r>
            <a:endParaRPr lang="en-US" sz="17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50799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pure-Python stats module — bootstrap confidence intervals and a 10,000-permutation two-sided test — so results are reported with significance rather than as means over three seeds.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721608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77640"/>
            <a:ext cx="384048" cy="384048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56248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68312" y="39959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Removed the install barrier</a:t>
            </a:r>
            <a:endParaRPr lang="en-US" sz="1750" dirty="0"/>
          </a:p>
        </p:txBody>
      </p:sp>
      <p:sp>
        <p:nvSpPr>
          <p:cNvPr id="23" name="Text 21"/>
          <p:cNvSpPr txBox="1"/>
          <p:nvPr/>
        </p:nvSpPr>
        <p:spPr>
          <a:xfrm>
            <a:off x="6556248" y="450799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main.py runs the GUI, the CLI and every experiment with nothing installed. The test suite grew from 102 to 161 tests, covering both baselines on every bundled map.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806440"/>
            <a:ext cx="11091672" cy="658368"/>
          </a:xfrm>
          <a:prstGeom prst="roundRect">
            <a:avLst>
              <a:gd name="adj" fmla="val 1250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8680" y="59436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Crucially, task assignment is held identical across all five planners — so the comparison isolates the movement and collision-avoidance layer, and nothing else.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Against the literature: PIBT wins, and not narrowly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27632"/>
          <a:ext cx="6858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627632"/>
            <a:ext cx="4114800" cy="2286000"/>
          </a:xfrm>
          <a:prstGeom prst="roundRect">
            <a:avLst>
              <a:gd name="adj" fmla="val 360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18120" y="181051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headline was not the expected result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395728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lifelong_pibt — the simplest configuration already in the repo — beats both external baselines on every map, p &lt; 0.001 on throughput in every cell. Token Passing completes literally zero tasks on warehouse_corridors across all ten seeds.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43800" y="4041648"/>
            <a:ext cx="4114800" cy="960120"/>
          </a:xfrm>
          <a:prstGeom prst="roundRect">
            <a:avLst>
              <a:gd name="adj" fmla="val 8571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4160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no inheritance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40740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robots queue nose-to-tail in the connecting corridor and never move again. A queue Token Passing forms, it cannot resolve.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543800" y="5120640"/>
            <a:ext cx="4114800" cy="960120"/>
          </a:xfrm>
          <a:prstGeom prst="roundRect">
            <a:avLst>
              <a:gd name="adj" fmla="val 8571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18120" y="52395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30–190× cheaper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54864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warehouse_medium, ms per step:  lifelong_pibt 0.83  ·  full_lda_pibt 2.40  ·  RHCR 58.1  ·  token_passing 158.7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2179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seeds × 400 timesteps; permutation test vs. lifelong_pibt. Caveats: assignment is held constant so neither baseline runs the policy its own paper pairs it with, and RHCR's window/replan period are untuned defaults at a scale far below the one it targets.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De-confounding overturned two of our own findings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27632"/>
          <a:ext cx="68580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627632"/>
            <a:ext cx="4114800" cy="1965960"/>
          </a:xfrm>
          <a:prstGeom prst="roundRect">
            <a:avLst>
              <a:gd name="adj" fmla="val 4186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818120" y="181051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 — direction awareness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76272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map, turning cost alone beats direction awareness alone — and on two of three maps it beats the combined variant too. The gain the old ladder credited to aisle direction was mostly an anti-zigzag penalty that has nothing to do with aisles.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43800" y="3712464"/>
            <a:ext cx="4114800" cy="1298448"/>
          </a:xfrm>
          <a:prstGeom prst="roundRect">
            <a:avLst>
              <a:gd name="adj" fmla="val 6338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3840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1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reservations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1148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alone move throughput by exactly zero on two of three maps. The corridors collapse (0.166 → 0.009) is entirely aisle-level direction control — we had blamed the wrong layer.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543800" y="5138928"/>
            <a:ext cx="4114800" cy="1298448"/>
          </a:xfrm>
          <a:prstGeom prst="roundRect">
            <a:avLst>
              <a:gd name="adj" fmla="val 6338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18120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1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/ H6 — recovery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818120" y="5541264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Recovery, not congestion-aware assignment, rescues throughput once aisle control has collapsed it — but it buys those tasks at up to +68% service time.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scoreboard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916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Aisle direction improves throughput in narrow aisles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778240" y="1810512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AF352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78240" y="181051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supported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" y="2350008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350008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Hysteresis reduces switching and prevents oscillation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778240" y="2468880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1F7A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0" y="246888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008376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300837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008376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reduce head-on conflicts and deadlocks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778240" y="3127248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AF352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0" y="312724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measurable effect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666744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366674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3666744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Congestion-aware assignment cuts service time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778240" y="3785616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AF352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78240" y="378561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the other way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325112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" y="432511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325112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Proximity-dependent direction weights help arrival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778240" y="4443984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1F7A5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78240" y="444398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983480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0DA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" y="49834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17320" y="4983480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Localised recovery beats a global planner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778240" y="5102352"/>
            <a:ext cx="2606040" cy="329184"/>
          </a:xfrm>
          <a:prstGeom prst="roundRect">
            <a:avLst>
              <a:gd name="adj" fmla="val 50000"/>
            </a:avLst>
          </a:prstGeom>
          <a:solidFill>
            <a:srgbClr val="1F7A5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78240" y="510235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supported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0976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868680" y="5870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aisle layer does not yet beat plain lifelong PIBT on open warehouse graphs. The robot-level pieces — directional preference plus hysteresis — are the part that generalises.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FAILS WHERE IT FAILS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diagnosed causes, none of them tuning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64208"/>
            <a:ext cx="1109167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956816"/>
            <a:ext cx="420624" cy="420624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59536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847088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Capacity is modelled by length, not by exit throughput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231136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21-cell corridor gets capacity 10, so ten robots queue single-file behind one exiting robot and the aisle can never drain. An alternative throughput model exists behind a flag; it is too aggressive at the default lock time. The right model is somewhere between the two.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11091672" cy="1325880"/>
          </a:xfrm>
          <a:prstGeom prst="roundRect">
            <a:avLst>
              <a:gd name="adj" fmla="val 620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59536" y="3447288"/>
            <a:ext cx="420624" cy="420624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9536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37560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Directional demand is computed per aisle, with no coordination between them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72160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corridors in warehouse_corridors lock the same way at the same time, leaving return traffic nowhere to go. A static parity bias does not fix it — it fights the demand signal instead of replacing it.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645152"/>
            <a:ext cx="11091672" cy="1325880"/>
          </a:xfrm>
          <a:prstGeom prst="roundRect">
            <a:avLst>
              <a:gd name="adj" fmla="val 6207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9536" y="4937760"/>
            <a:ext cx="420624" cy="420624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9536" y="4937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4828032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One-way constraints break PIBT's progress argument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521208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 works because you can always push a robot into an adjacent cell. Remove that freedom and the chains dead-end. This is exactly why aisle_managed_pibt collapses while full_lda_pibt survives: the recovery layer's direction override is doing the work.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6144768"/>
            <a:ext cx="11091672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61996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250" i="1" dirty="0">
                <a:solidFill>
                  <a:srgbClr val="6C7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were predicted by the specification's own limitations section. Reporting them is more useful than tuning them away.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pieces of work, in order of expected payoff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1D3346"/>
          </a:solidFill>
          <a:ln w="12700">
            <a:solidFill>
              <a:srgbClr val="1D334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29384"/>
            <a:ext cx="402336" cy="402336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46888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Coordinate direction across parallel aisles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9169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directions as a set, not one aisle at a time, so opposing traffic always keeps a return path. The single most promising fix.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1929384"/>
            <a:ext cx="402336" cy="402336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6248" y="1929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56248" y="246888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capacity model between length and throughput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56248" y="29169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aisle occupancy by how fast the exit actually clears, not by how many cells fit.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" y="3986784"/>
            <a:ext cx="402336" cy="402336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3986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52628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Tune the baselines honestly, then re-run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9743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each baseline with the assignment policy from its own paper, and give RHCR a window sized for its intended scale.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74904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  <a:effectLst>
            <a:outerShdw sx="100000" sy="100000" kx="0" ky="0" algn="bl" rotWithShape="0" blurRad="127000" dist="25400" dir="5400000">
              <a:srgbClr val="0B162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86784"/>
            <a:ext cx="402336" cy="402336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56248" y="3986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56248" y="4526280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01C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the gaps the spec still leaves open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56248" y="49743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3E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 reservations, kinematics and footprints, asynchronous execution, and the delayed/failed-robot failure scenarios.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852160"/>
            <a:ext cx="11091672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2A10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599846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6"/>
              </a:lnSpc>
              <a:buNone/>
            </a:pPr>
            <a:r>
              <a:rPr lang="en-US" sz="1300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diagnostic that found every bug in this project is now a feature: click any robot in the GUI and it lists each candidate cell, its score, and the exact rule that rejected it.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CLOSING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worth taking away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01368"/>
            <a:ext cx="438912" cy="43891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01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7373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was the contribution all along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6712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Forty years of MAPF converged on a mechanism — priority inheritance with backtracking — that a hundred lines of recursion capture. Both published baselines gridlock on maps where it does not.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218688"/>
            <a:ext cx="438912" cy="43891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218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1546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Confounded ablations produce confident wrong answers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444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rungs of our own ladder flipped two flags each. Isolating them cost four runs per step and overturned two published-sounding findings, including our headline mechanism.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636008"/>
            <a:ext cx="438912" cy="438912"/>
          </a:xfrm>
          <a:prstGeom prst="ellipse">
            <a:avLst/>
          </a:prstGeom>
          <a:solidFill>
            <a:srgbClr val="F2A10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636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C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45720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A1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negative result, reported cleanly, is a result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500176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350" dirty="0">
                <a:solidFill>
                  <a:srgbClr val="C6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Aisle management does not yet beat plain lifelong PIBT on open graphs. We know precisely why, we can name the three causes, and each one names its own next experiment.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5852160"/>
            <a:ext cx="11091672" cy="658368"/>
          </a:xfrm>
          <a:prstGeom prst="roundRect">
            <a:avLst>
              <a:gd name="adj" fmla="val 12500"/>
            </a:avLst>
          </a:prstGeom>
          <a:solidFill>
            <a:srgbClr val="1A2C3B"/>
          </a:solidFill>
          <a:ln w="12700">
            <a:solidFill>
              <a:srgbClr val="1A2C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59893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E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main.py   —   no install, no dependencies, 161 tests, zero collisions.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AisleFlow - From MAPF to Aisle-Managed Lifelong PIBT</dc:title>
  <dc:subject>PptxGenJS Presentation</dc:subject>
  <dc:creator>AisleFlow</dc:creator>
  <cp:lastModifiedBy>AisleFlow</cp:lastModifiedBy>
  <cp:revision>1</cp:revision>
  <dcterms:created xsi:type="dcterms:W3CDTF">2026-08-30T20:42:18Z</dcterms:created>
  <dcterms:modified xsi:type="dcterms:W3CDTF">2026-08-30T20:42:18Z</dcterms:modified>
</cp:coreProperties>
</file>