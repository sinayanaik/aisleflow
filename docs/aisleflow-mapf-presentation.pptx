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2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01C26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01C26"/>
                </a:solidFill>
                <a:latin typeface="Calibri"/>
              </a:rPr>
              <a:t>Throughput — tasks completed per timestep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lifelong_pibt</c:v>
                </c:pt>
              </c:strCache>
            </c:strRef>
          </c:tx>
          <c:spPr>
            <a:solidFill>
              <a:srgbClr val="1D334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C3E4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bottleneck (16)</c:v>
                  </c:pt>
                  <c:pt idx="1">
                    <c:v>corridors (35)</c:v>
                  </c:pt>
                  <c:pt idx="2">
                    <c:v>medium (40)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0.11</c:v>
                </c:pt>
                <c:pt idx="1">
                  <c:v>0.16</c:v>
                </c:pt>
                <c:pt idx="2">
                  <c:v>0.5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full_lda_pibt</c:v>
                </c:pt>
              </c:strCache>
            </c:strRef>
          </c:tx>
          <c:spPr>
            <a:solidFill>
              <a:srgbClr val="F2A104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C3E4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bottleneck (16)</c:v>
                  </c:pt>
                  <c:pt idx="1">
                    <c:v>corridors (35)</c:v>
                  </c:pt>
                  <c:pt idx="2">
                    <c:v>medium (40)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0.15</c:v>
                </c:pt>
                <c:pt idx="1">
                  <c:v>0.02</c:v>
                </c:pt>
                <c:pt idx="2">
                  <c:v>0.2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token_passing</c:v>
                </c:pt>
              </c:strCache>
            </c:strRef>
          </c:tx>
          <c:spPr>
            <a:solidFill>
              <a:srgbClr val="9BB0C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C3E4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bottleneck (16)</c:v>
                  </c:pt>
                  <c:pt idx="1">
                    <c:v>corridors (35)</c:v>
                  </c:pt>
                  <c:pt idx="2">
                    <c:v>medium (40)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RHCR</c:v>
                </c:pt>
              </c:strCache>
            </c:strRef>
          </c:tx>
          <c:spPr>
            <a:solidFill>
              <a:srgbClr val="C9D6E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C3E4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bottleneck (16)</c:v>
                  </c:pt>
                  <c:pt idx="1">
                    <c:v>corridors (35)</c:v>
                  </c:pt>
                  <c:pt idx="2">
                    <c:v>medium (40)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0.01</c:v>
                </c:pt>
                <c:pt idx="1">
                  <c:v>0</c:v>
                </c:pt>
                <c:pt idx="2">
                  <c:v>0.01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2C3E4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C3E4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6"/>
        </c:scaling>
        <c:delete val="0"/>
        <c:axPos val="l"/>
        <c:majorGridlines>
          <c:spPr>
            <a:ln w="12700" cap="flat">
              <a:solidFill>
                <a:srgbClr val="E6ECF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C7C8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C3E4D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01C26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01C26"/>
                </a:solidFill>
                <a:latin typeface="Calibri"/>
              </a:rPr>
              <a:t>H1 decomposed — throughput, 5 seeds × 400 steps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 (hysteresis_pibt)</c:v>
                </c:pt>
              </c:strCache>
            </c:strRef>
          </c:tx>
          <c:spPr>
            <a:solidFill>
              <a:srgbClr val="9BB0C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C3E4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bottleneck</c:v>
                  </c:pt>
                  <c:pt idx="1">
                    <c:v>corridors</c:v>
                  </c:pt>
                  <c:pt idx="2">
                    <c:v>medium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0.149</c:v>
                </c:pt>
                <c:pt idx="1">
                  <c:v>0.148</c:v>
                </c:pt>
                <c:pt idx="2">
                  <c:v>0.337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aisle direction alone</c:v>
                </c:pt>
              </c:strCache>
            </c:strRef>
          </c:tx>
          <c:spPr>
            <a:solidFill>
              <a:srgbClr val="1D334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C3E4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bottleneck</c:v>
                  </c:pt>
                  <c:pt idx="1">
                    <c:v>corridors</c:v>
                  </c:pt>
                  <c:pt idx="2">
                    <c:v>medium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0.149</c:v>
                </c:pt>
                <c:pt idx="1">
                  <c:v>0.158</c:v>
                </c:pt>
                <c:pt idx="2">
                  <c:v>0.405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entry admission alone</c:v>
                </c:pt>
              </c:strCache>
            </c:strRef>
          </c:tx>
          <c:spPr>
            <a:solidFill>
              <a:srgbClr val="F2A104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C3E4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bottleneck</c:v>
                  </c:pt>
                  <c:pt idx="1">
                    <c:v>corridors</c:v>
                  </c:pt>
                  <c:pt idx="2">
                    <c:v>medium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0.149</c:v>
                </c:pt>
                <c:pt idx="1">
                  <c:v>0.125</c:v>
                </c:pt>
                <c:pt idx="2">
                  <c:v>0.262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both (aisle_managed_pibt)</c:v>
                </c:pt>
              </c:strCache>
            </c:strRef>
          </c:tx>
          <c:spPr>
            <a:solidFill>
              <a:srgbClr val="C9D6E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C3E4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bottleneck</c:v>
                  </c:pt>
                  <c:pt idx="1">
                    <c:v>corridors</c:v>
                  </c:pt>
                  <c:pt idx="2">
                    <c:v>medium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0.149</c:v>
                </c:pt>
                <c:pt idx="1">
                  <c:v>0.095</c:v>
                </c:pt>
                <c:pt idx="2">
                  <c:v>0.217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850" u="none">
                  <a:solidFill>
                    <a:srgbClr val="2C3E4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C3E4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6"/>
        </c:scaling>
        <c:delete val="0"/>
        <c:axPos val="l"/>
        <c:majorGridlines>
          <c:spPr>
            <a:ln w="12700" cap="flat">
              <a:solidFill>
                <a:srgbClr val="E6ECF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C7C8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C3E4D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Framing: this is a research-engineering review. Two halves - where the field came from, and what this repository contributes to it. The honest result is in the second half.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three questions map to the three acts of the deck. The bottom band is the invariant that makes the whole thing safe: the high level only reorders and restricts candidates.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downstream - CBS constraints, PIBT's rejection rules, this repo's validate.py - is machinery for enforcing exactly these two conditions cheaply.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third branch is where PIBT lives, and where this project lives. Note the third card: lifelong is not a harder version of MAPF, it is a different problem statement.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arc: coupling buys optimality and costs scale; decoupling buys scale and costs guarantees. PIBT sits at the far decoupled end but recovers a conditional progress guarantee via priority inheritance.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table is the justification for building on PIBT rather than CBS: at 40 robots on a lifelong stream, replanning optimally is not on the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move from left to right is what creates the aisle problem: with a continuous stream of tasks, traffic patterns in corridors become persistent and directional rather than incidental.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inheritance chain is the mechanism that makes queues resolve. Remember this diagram - it is exactly what Token Passing lacks, and it explains the baseline result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thesis. Everything after it is either mechanism or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 modules, ~6,700 lines, no runtime dependencies. The module-to-spec-section table lives in docs/implementation-notes.md.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ablation flag in the paper maps onto switching one of these terms off. That is why the factorial decomposition later is possible at 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drain phase is what makes one-way corridors safe: you never reverse a corridor that still has traffic in it. The drain timeout is our addition - without it DRAINING is an absorbing state.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Levels 5-7 all work by temporarily suspending the aisle layer. Hold that thought - the results show that this suspension is doing most of the useful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None of this changed the LDA-PIBT algorithm. It changed what we are entitled to claim about it - and two claims did not survive.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careful with this slide in front of an audience: the margin is real and significant, but the caveats matter. RHCR is designed for hundreds of robots on much larger warehouses.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methodological heart of the work. A 2x2 design costs four runs instead of two and tells you something the ladder cannot: whether the effect is additive or interacting.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Reporting a negative result properly is the contribution here. Four of six hypotheses were wrong or unsupported once the confounds were removed.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Cause 3 is the deep one and it is a genuine tension in the idea, not a bug: aisle direction and priority inheritance want opposite things from the 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Order matters here: coordinated direction assignment is the one that could plausibly flip the headline result on warehouse_corridors.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invariant: whatever the high level got wrong, collision freedom never broke. That separation of concerns is what made the negative result safe to discover.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26680" y="1234440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3" name="Shape 1"/>
          <p:cNvSpPr/>
          <p:nvPr/>
        </p:nvSpPr>
        <p:spPr>
          <a:xfrm>
            <a:off x="8197596" y="1234440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4" name="Shape 2"/>
          <p:cNvSpPr/>
          <p:nvPr/>
        </p:nvSpPr>
        <p:spPr>
          <a:xfrm>
            <a:off x="8732520" y="1298448"/>
            <a:ext cx="274320" cy="274320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5" name="Shape 3"/>
          <p:cNvSpPr/>
          <p:nvPr/>
        </p:nvSpPr>
        <p:spPr>
          <a:xfrm>
            <a:off x="9139428" y="1234440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6" name="Shape 4"/>
          <p:cNvSpPr/>
          <p:nvPr/>
        </p:nvSpPr>
        <p:spPr>
          <a:xfrm>
            <a:off x="9610344" y="1234440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7" name="Shape 5"/>
          <p:cNvSpPr/>
          <p:nvPr/>
        </p:nvSpPr>
        <p:spPr>
          <a:xfrm>
            <a:off x="10081260" y="1234440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8" name="Shape 6"/>
          <p:cNvSpPr/>
          <p:nvPr/>
        </p:nvSpPr>
        <p:spPr>
          <a:xfrm>
            <a:off x="10552176" y="1234440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9" name="Shape 7"/>
          <p:cNvSpPr/>
          <p:nvPr/>
        </p:nvSpPr>
        <p:spPr>
          <a:xfrm>
            <a:off x="11023092" y="1234440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10" name="Shape 8"/>
          <p:cNvSpPr/>
          <p:nvPr/>
        </p:nvSpPr>
        <p:spPr>
          <a:xfrm>
            <a:off x="11494008" y="1234440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11" name="Shape 9"/>
          <p:cNvSpPr/>
          <p:nvPr/>
        </p:nvSpPr>
        <p:spPr>
          <a:xfrm>
            <a:off x="7726680" y="1705356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12" name="Shape 10"/>
          <p:cNvSpPr/>
          <p:nvPr/>
        </p:nvSpPr>
        <p:spPr>
          <a:xfrm>
            <a:off x="8197596" y="1705356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13" name="Shape 11"/>
          <p:cNvSpPr/>
          <p:nvPr/>
        </p:nvSpPr>
        <p:spPr>
          <a:xfrm>
            <a:off x="8668512" y="1705356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14" name="Shape 12"/>
          <p:cNvSpPr/>
          <p:nvPr/>
        </p:nvSpPr>
        <p:spPr>
          <a:xfrm>
            <a:off x="9139428" y="1705356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15" name="Shape 13"/>
          <p:cNvSpPr/>
          <p:nvPr/>
        </p:nvSpPr>
        <p:spPr>
          <a:xfrm>
            <a:off x="9610344" y="1705356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145268" y="1769364"/>
            <a:ext cx="274320" cy="274320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17" name="Shape 15"/>
          <p:cNvSpPr/>
          <p:nvPr/>
        </p:nvSpPr>
        <p:spPr>
          <a:xfrm>
            <a:off x="10552176" y="1705356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023092" y="1705356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19" name="Shape 17"/>
          <p:cNvSpPr/>
          <p:nvPr/>
        </p:nvSpPr>
        <p:spPr>
          <a:xfrm>
            <a:off x="11494008" y="1705356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20" name="Shape 18"/>
          <p:cNvSpPr/>
          <p:nvPr/>
        </p:nvSpPr>
        <p:spPr>
          <a:xfrm>
            <a:off x="7726680" y="2176272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21" name="Shape 19"/>
          <p:cNvSpPr/>
          <p:nvPr/>
        </p:nvSpPr>
        <p:spPr>
          <a:xfrm>
            <a:off x="8197596" y="2176272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22" name="Shape 20"/>
          <p:cNvSpPr/>
          <p:nvPr/>
        </p:nvSpPr>
        <p:spPr>
          <a:xfrm>
            <a:off x="8668512" y="2176272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23" name="Shape 21"/>
          <p:cNvSpPr/>
          <p:nvPr/>
        </p:nvSpPr>
        <p:spPr>
          <a:xfrm>
            <a:off x="9139428" y="2176272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24" name="Shape 22"/>
          <p:cNvSpPr/>
          <p:nvPr/>
        </p:nvSpPr>
        <p:spPr>
          <a:xfrm>
            <a:off x="9674352" y="2240280"/>
            <a:ext cx="274320" cy="274320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25" name="Shape 23"/>
          <p:cNvSpPr/>
          <p:nvPr/>
        </p:nvSpPr>
        <p:spPr>
          <a:xfrm>
            <a:off x="10081260" y="2176272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26" name="Shape 24"/>
          <p:cNvSpPr/>
          <p:nvPr/>
        </p:nvSpPr>
        <p:spPr>
          <a:xfrm>
            <a:off x="10552176" y="2176272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27" name="Shape 25"/>
          <p:cNvSpPr/>
          <p:nvPr/>
        </p:nvSpPr>
        <p:spPr>
          <a:xfrm>
            <a:off x="11023092" y="2176272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28" name="Shape 26"/>
          <p:cNvSpPr/>
          <p:nvPr/>
        </p:nvSpPr>
        <p:spPr>
          <a:xfrm>
            <a:off x="11494008" y="2176272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29" name="Shape 27"/>
          <p:cNvSpPr/>
          <p:nvPr/>
        </p:nvSpPr>
        <p:spPr>
          <a:xfrm>
            <a:off x="7726680" y="2647188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30" name="Shape 28"/>
          <p:cNvSpPr/>
          <p:nvPr/>
        </p:nvSpPr>
        <p:spPr>
          <a:xfrm>
            <a:off x="8197596" y="2647188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31" name="Shape 29"/>
          <p:cNvSpPr/>
          <p:nvPr/>
        </p:nvSpPr>
        <p:spPr>
          <a:xfrm>
            <a:off x="8668512" y="2647188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32" name="Shape 30"/>
          <p:cNvSpPr/>
          <p:nvPr/>
        </p:nvSpPr>
        <p:spPr>
          <a:xfrm>
            <a:off x="9139428" y="2647188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33" name="Shape 31"/>
          <p:cNvSpPr/>
          <p:nvPr/>
        </p:nvSpPr>
        <p:spPr>
          <a:xfrm>
            <a:off x="9610344" y="2647188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34" name="Shape 32"/>
          <p:cNvSpPr/>
          <p:nvPr/>
        </p:nvSpPr>
        <p:spPr>
          <a:xfrm>
            <a:off x="10081260" y="2647188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35" name="Shape 33"/>
          <p:cNvSpPr/>
          <p:nvPr/>
        </p:nvSpPr>
        <p:spPr>
          <a:xfrm>
            <a:off x="10552176" y="2647188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36" name="Shape 34"/>
          <p:cNvSpPr/>
          <p:nvPr/>
        </p:nvSpPr>
        <p:spPr>
          <a:xfrm>
            <a:off x="11023092" y="2647188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37" name="Shape 35"/>
          <p:cNvSpPr/>
          <p:nvPr/>
        </p:nvSpPr>
        <p:spPr>
          <a:xfrm>
            <a:off x="11558016" y="2711196"/>
            <a:ext cx="274320" cy="274320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726680" y="3118104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39" name="Shape 37"/>
          <p:cNvSpPr/>
          <p:nvPr/>
        </p:nvSpPr>
        <p:spPr>
          <a:xfrm>
            <a:off x="8197596" y="3118104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40" name="Shape 38"/>
          <p:cNvSpPr/>
          <p:nvPr/>
        </p:nvSpPr>
        <p:spPr>
          <a:xfrm>
            <a:off x="8668512" y="3118104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41" name="Shape 39"/>
          <p:cNvSpPr/>
          <p:nvPr/>
        </p:nvSpPr>
        <p:spPr>
          <a:xfrm>
            <a:off x="9139428" y="3118104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42" name="Shape 40"/>
          <p:cNvSpPr/>
          <p:nvPr/>
        </p:nvSpPr>
        <p:spPr>
          <a:xfrm>
            <a:off x="9610344" y="3118104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43" name="Shape 41"/>
          <p:cNvSpPr/>
          <p:nvPr/>
        </p:nvSpPr>
        <p:spPr>
          <a:xfrm>
            <a:off x="10081260" y="3118104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44" name="Shape 42"/>
          <p:cNvSpPr/>
          <p:nvPr/>
        </p:nvSpPr>
        <p:spPr>
          <a:xfrm>
            <a:off x="10552176" y="3118104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45" name="Shape 43"/>
          <p:cNvSpPr/>
          <p:nvPr/>
        </p:nvSpPr>
        <p:spPr>
          <a:xfrm>
            <a:off x="11023092" y="3118104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46" name="Shape 44"/>
          <p:cNvSpPr/>
          <p:nvPr/>
        </p:nvSpPr>
        <p:spPr>
          <a:xfrm>
            <a:off x="11494008" y="3118104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47" name="Shape 45"/>
          <p:cNvSpPr/>
          <p:nvPr/>
        </p:nvSpPr>
        <p:spPr>
          <a:xfrm>
            <a:off x="7726680" y="3589020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48" name="Shape 46"/>
          <p:cNvSpPr/>
          <p:nvPr/>
        </p:nvSpPr>
        <p:spPr>
          <a:xfrm>
            <a:off x="8261604" y="3653028"/>
            <a:ext cx="274320" cy="274320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49" name="Shape 47"/>
          <p:cNvSpPr/>
          <p:nvPr/>
        </p:nvSpPr>
        <p:spPr>
          <a:xfrm>
            <a:off x="8668512" y="3589020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50" name="Shape 48"/>
          <p:cNvSpPr/>
          <p:nvPr/>
        </p:nvSpPr>
        <p:spPr>
          <a:xfrm>
            <a:off x="9139428" y="3589020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51" name="Shape 49"/>
          <p:cNvSpPr/>
          <p:nvPr/>
        </p:nvSpPr>
        <p:spPr>
          <a:xfrm>
            <a:off x="9610344" y="3589020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52" name="Shape 50"/>
          <p:cNvSpPr/>
          <p:nvPr/>
        </p:nvSpPr>
        <p:spPr>
          <a:xfrm>
            <a:off x="10081260" y="3589020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53" name="Shape 51"/>
          <p:cNvSpPr/>
          <p:nvPr/>
        </p:nvSpPr>
        <p:spPr>
          <a:xfrm>
            <a:off x="10552176" y="3589020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54" name="Shape 52"/>
          <p:cNvSpPr/>
          <p:nvPr/>
        </p:nvSpPr>
        <p:spPr>
          <a:xfrm>
            <a:off x="11023092" y="3589020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55" name="Shape 53"/>
          <p:cNvSpPr/>
          <p:nvPr/>
        </p:nvSpPr>
        <p:spPr>
          <a:xfrm>
            <a:off x="11494008" y="3589020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56" name="Shape 54"/>
          <p:cNvSpPr/>
          <p:nvPr/>
        </p:nvSpPr>
        <p:spPr>
          <a:xfrm>
            <a:off x="7726680" y="4059936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57" name="Shape 55"/>
          <p:cNvSpPr/>
          <p:nvPr/>
        </p:nvSpPr>
        <p:spPr>
          <a:xfrm>
            <a:off x="8197596" y="4059936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58" name="Shape 56"/>
          <p:cNvSpPr/>
          <p:nvPr/>
        </p:nvSpPr>
        <p:spPr>
          <a:xfrm>
            <a:off x="8668512" y="4059936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59" name="Shape 57"/>
          <p:cNvSpPr/>
          <p:nvPr/>
        </p:nvSpPr>
        <p:spPr>
          <a:xfrm>
            <a:off x="9139428" y="4059936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60" name="Shape 58"/>
          <p:cNvSpPr/>
          <p:nvPr/>
        </p:nvSpPr>
        <p:spPr>
          <a:xfrm>
            <a:off x="9610344" y="4059936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61" name="Shape 59"/>
          <p:cNvSpPr/>
          <p:nvPr/>
        </p:nvSpPr>
        <p:spPr>
          <a:xfrm>
            <a:off x="10145268" y="4123944"/>
            <a:ext cx="274320" cy="274320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62" name="Shape 60"/>
          <p:cNvSpPr/>
          <p:nvPr/>
        </p:nvSpPr>
        <p:spPr>
          <a:xfrm>
            <a:off x="10552176" y="4059936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63" name="Shape 61"/>
          <p:cNvSpPr/>
          <p:nvPr/>
        </p:nvSpPr>
        <p:spPr>
          <a:xfrm>
            <a:off x="11023092" y="4059936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64" name="Shape 62"/>
          <p:cNvSpPr/>
          <p:nvPr/>
        </p:nvSpPr>
        <p:spPr>
          <a:xfrm>
            <a:off x="11494008" y="4059936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65" name="Shape 63"/>
          <p:cNvSpPr/>
          <p:nvPr/>
        </p:nvSpPr>
        <p:spPr>
          <a:xfrm>
            <a:off x="7726680" y="4530852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66" name="Shape 64"/>
          <p:cNvSpPr/>
          <p:nvPr/>
        </p:nvSpPr>
        <p:spPr>
          <a:xfrm>
            <a:off x="8197596" y="4530852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67" name="Shape 65"/>
          <p:cNvSpPr/>
          <p:nvPr/>
        </p:nvSpPr>
        <p:spPr>
          <a:xfrm>
            <a:off x="8732520" y="4594860"/>
            <a:ext cx="274320" cy="274320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68" name="Shape 66"/>
          <p:cNvSpPr/>
          <p:nvPr/>
        </p:nvSpPr>
        <p:spPr>
          <a:xfrm>
            <a:off x="9139428" y="4530852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69" name="Shape 67"/>
          <p:cNvSpPr/>
          <p:nvPr/>
        </p:nvSpPr>
        <p:spPr>
          <a:xfrm>
            <a:off x="9610344" y="4530852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70" name="Shape 68"/>
          <p:cNvSpPr/>
          <p:nvPr/>
        </p:nvSpPr>
        <p:spPr>
          <a:xfrm>
            <a:off x="10081260" y="4530852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71" name="Shape 69"/>
          <p:cNvSpPr/>
          <p:nvPr/>
        </p:nvSpPr>
        <p:spPr>
          <a:xfrm>
            <a:off x="10552176" y="4530852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72" name="Shape 70"/>
          <p:cNvSpPr/>
          <p:nvPr/>
        </p:nvSpPr>
        <p:spPr>
          <a:xfrm>
            <a:off x="11023092" y="4530852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73" name="Shape 71"/>
          <p:cNvSpPr/>
          <p:nvPr/>
        </p:nvSpPr>
        <p:spPr>
          <a:xfrm>
            <a:off x="11494008" y="4530852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548640" y="13716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PATH FINDING  ·  PROJECT REVIEW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548640" y="1700784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AisleFlow</a:t>
            </a:r>
            <a:endParaRPr lang="en-US" sz="6000" dirty="0"/>
          </a:p>
        </p:txBody>
      </p:sp>
      <p:sp>
        <p:nvSpPr>
          <p:cNvPr id="76" name="Text 74"/>
          <p:cNvSpPr txBox="1"/>
          <p:nvPr/>
        </p:nvSpPr>
        <p:spPr>
          <a:xfrm>
            <a:off x="548640" y="2697480"/>
            <a:ext cx="6537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50" dirty="0">
                <a:solidFill>
                  <a:srgbClr val="BFD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Forty years of multi-agent path finding, the warehouse problem it grew into, and what a directional, congestion-aware lifelong planner actually bought us.</a:t>
            </a:r>
            <a:endParaRPr lang="en-US" sz="1650" dirty="0"/>
          </a:p>
        </p:txBody>
      </p:sp>
      <p:sp>
        <p:nvSpPr>
          <p:cNvPr id="77" name="Text 75"/>
          <p:cNvSpPr txBox="1"/>
          <p:nvPr/>
        </p:nvSpPr>
        <p:spPr>
          <a:xfrm>
            <a:off x="548640" y="4617720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2A1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4200" dirty="0"/>
          </a:p>
        </p:txBody>
      </p:sp>
      <p:sp>
        <p:nvSpPr>
          <p:cNvPr id="78" name="Text 76"/>
          <p:cNvSpPr txBox="1"/>
          <p:nvPr/>
        </p:nvSpPr>
        <p:spPr>
          <a:xfrm>
            <a:off x="1572768" y="473659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9F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planners</a:t>
            </a:r>
            <a:endParaRPr lang="en-US" sz="11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9F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</a:t>
            </a:r>
            <a:endParaRPr lang="en-US" sz="1150" dirty="0"/>
          </a:p>
        </p:txBody>
      </p:sp>
      <p:sp>
        <p:nvSpPr>
          <p:cNvPr id="79" name="Text 77"/>
          <p:cNvSpPr txBox="1"/>
          <p:nvPr/>
        </p:nvSpPr>
        <p:spPr>
          <a:xfrm>
            <a:off x="2761488" y="4617720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2A1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179</a:t>
            </a:r>
            <a:endParaRPr lang="en-US" sz="4200" dirty="0"/>
          </a:p>
        </p:txBody>
      </p:sp>
      <p:sp>
        <p:nvSpPr>
          <p:cNvPr id="80" name="Text 78"/>
          <p:cNvSpPr txBox="1"/>
          <p:nvPr/>
        </p:nvSpPr>
        <p:spPr>
          <a:xfrm>
            <a:off x="3785616" y="473659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9F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in</a:t>
            </a:r>
            <a:endParaRPr lang="en-US" sz="11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9F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suite</a:t>
            </a:r>
            <a:endParaRPr lang="en-US" sz="1150" dirty="0"/>
          </a:p>
        </p:txBody>
      </p:sp>
      <p:sp>
        <p:nvSpPr>
          <p:cNvPr id="81" name="Text 79"/>
          <p:cNvSpPr txBox="1"/>
          <p:nvPr/>
        </p:nvSpPr>
        <p:spPr>
          <a:xfrm>
            <a:off x="4974336" y="4617720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2A1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200" dirty="0"/>
          </a:p>
        </p:txBody>
      </p:sp>
      <p:sp>
        <p:nvSpPr>
          <p:cNvPr id="82" name="Text 80"/>
          <p:cNvSpPr txBox="1"/>
          <p:nvPr/>
        </p:nvSpPr>
        <p:spPr>
          <a:xfrm>
            <a:off x="5998464" y="473659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9F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</a:t>
            </a:r>
            <a:endParaRPr lang="en-US" sz="11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9F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dependencies</a:t>
            </a:r>
            <a:endParaRPr lang="en-US" sz="1150" dirty="0"/>
          </a:p>
        </p:txBody>
      </p:sp>
      <p:sp>
        <p:nvSpPr>
          <p:cNvPr id="83" name="Text 81"/>
          <p:cNvSpPr txBox="1"/>
          <p:nvPr/>
        </p:nvSpPr>
        <p:spPr>
          <a:xfrm>
            <a:off x="548640" y="59436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LDA-PIBT  ·  Lifelong Aisle-Managed Priority Inheritance with Backtracking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DECK COVERS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questions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456432" cy="3246120"/>
          </a:xfrm>
          <a:prstGeom prst="roundRect">
            <a:avLst>
              <a:gd name="adj" fmla="val 2535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9536" y="2011680"/>
            <a:ext cx="457200" cy="457200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59536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59536" y="265176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did MAPF come from?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59536" y="352044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decoupled prioritized planning in 1987 to optimal solvers, and then to the scalable, greedy planners that made thousands of robots tractable.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279392" y="1691640"/>
            <a:ext cx="3456432" cy="3246120"/>
          </a:xfrm>
          <a:prstGeom prst="roundRect">
            <a:avLst>
              <a:gd name="adj" fmla="val 2535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90288" y="2011680"/>
            <a:ext cx="457200" cy="457200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0288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90288" y="265176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problem were we solving?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590288" y="352044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 aisles are narrow and effectively one-way. PIBT is direction-blind. LDA-PIBT adds an aisle layer that decides direction, and a recovery layer that survives it.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10144" y="1691640"/>
            <a:ext cx="3456432" cy="3246120"/>
          </a:xfrm>
          <a:prstGeom prst="roundRect">
            <a:avLst>
              <a:gd name="adj" fmla="val 2535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21040" y="2011680"/>
            <a:ext cx="457200" cy="457200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2104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265176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How, and did it work?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352044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two-layer architecture, six repaired mechanisms, and a hypothesis suite that scores each claim on the quantity it actually names. Three of six hold.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193792"/>
            <a:ext cx="11091672" cy="841248"/>
          </a:xfrm>
          <a:prstGeom prst="roundRect">
            <a:avLst>
              <a:gd name="adj" fmla="val 9783"/>
            </a:avLst>
          </a:prstGeom>
          <a:solidFill>
            <a:srgbClr val="1D3346"/>
          </a:solidFill>
          <a:ln w="12700">
            <a:solidFill>
              <a:srgbClr val="1D334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868680" y="537667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9F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principle held throughout:  </a:t>
            </a:r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direction, congestion and turning cost decide which legal move PIBT tries first — they never replace its collision checks or its backtracking. Worth 1.9× to 3.1× once true in the code.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Multi-Agent Path Finding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394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a graph G = (V, E), a set of k agents, each with a start and a goal vertex, find k paths such that every agent reaches its goal and no two agents ever collide. Time is discrete: at each timestep an agent moves along one edge or waits.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0040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collisions define the problem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566160"/>
            <a:ext cx="5394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conflict — two agents occupy the same cell at the same timestep.</a:t>
            </a:r>
            <a:endParaRPr lang="en-US" sz="1350" dirty="0"/>
          </a:p>
          <a:p>
            <a:pPr marL="177800" indent="-1778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conflict — two agents exchange cells across one edge in one timestep.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4937760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D3346"/>
          </a:solidFill>
          <a:ln w="12700">
            <a:solidFill>
              <a:srgbClr val="1D334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41248" y="5138928"/>
            <a:ext cx="4809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 in MAPF is an optimisation objective layered on top of those two rules: makespan, sum-of-costs, or — in the lifelong setting this project lives in — throughput.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46520" y="1691640"/>
            <a:ext cx="5193792" cy="2148840"/>
          </a:xfrm>
          <a:prstGeom prst="roundRect">
            <a:avLst>
              <a:gd name="adj" fmla="val 3830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739128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conflict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46520" y="4023360"/>
            <a:ext cx="5193792" cy="2148840"/>
          </a:xfrm>
          <a:prstGeom prst="roundRect">
            <a:avLst>
              <a:gd name="adj" fmla="val 3830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739128" y="4206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conflict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863840" y="2487168"/>
            <a:ext cx="420624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0DA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57616" y="2487168"/>
            <a:ext cx="420624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0DA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851392" y="2487168"/>
            <a:ext cx="420624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0DA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345168" y="2487168"/>
            <a:ext cx="420624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0DA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838944" y="2487168"/>
            <a:ext cx="420624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0DA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927848" y="2551176"/>
            <a:ext cx="292608" cy="292608"/>
          </a:xfrm>
          <a:prstGeom prst="ellipse">
            <a:avLst/>
          </a:prstGeom>
          <a:solidFill>
            <a:srgbClr val="1D3346"/>
          </a:solidFill>
          <a:ln/>
        </p:spPr>
      </p:sp>
      <p:sp>
        <p:nvSpPr>
          <p:cNvPr id="19" name="Shape 17"/>
          <p:cNvSpPr/>
          <p:nvPr/>
        </p:nvSpPr>
        <p:spPr>
          <a:xfrm>
            <a:off x="9902952" y="2551176"/>
            <a:ext cx="292608" cy="292608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20" name="Shape 18"/>
          <p:cNvSpPr/>
          <p:nvPr/>
        </p:nvSpPr>
        <p:spPr>
          <a:xfrm>
            <a:off x="8275320" y="2697480"/>
            <a:ext cx="621792" cy="0"/>
          </a:xfrm>
          <a:prstGeom prst="line">
            <a:avLst/>
          </a:prstGeom>
          <a:noFill/>
          <a:ln w="25400">
            <a:solidFill>
              <a:srgbClr val="1D3346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208008" y="2697480"/>
            <a:ext cx="621792" cy="0"/>
          </a:xfrm>
          <a:prstGeom prst="line">
            <a:avLst/>
          </a:prstGeom>
          <a:noFill/>
          <a:ln w="25400">
            <a:solidFill>
              <a:srgbClr val="F2A104"/>
            </a:solidFill>
            <a:prstDash val="solid"/>
            <a:headEnd type="triangle"/>
          </a:ln>
        </p:spPr>
      </p:sp>
      <p:sp>
        <p:nvSpPr>
          <p:cNvPr id="22" name="Shape 20"/>
          <p:cNvSpPr/>
          <p:nvPr/>
        </p:nvSpPr>
        <p:spPr>
          <a:xfrm>
            <a:off x="8924544" y="2487168"/>
            <a:ext cx="420624" cy="420624"/>
          </a:xfrm>
          <a:prstGeom prst="roundRect">
            <a:avLst>
              <a:gd name="adj" fmla="val 8696"/>
            </a:avLst>
          </a:prstGeom>
          <a:solidFill>
            <a:srgbClr val="F7D9D3"/>
          </a:solidFill>
          <a:ln w="19050">
            <a:solidFill>
              <a:srgbClr val="AF352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863840" y="305409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2"/>
              </a:lnSpc>
              <a:buNone/>
            </a:pPr>
            <a:r>
              <a:rPr lang="en-US" sz="1100" dirty="0">
                <a:solidFill>
                  <a:srgbClr val="6C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claim the shaded cell at t+1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635240" y="4828032"/>
            <a:ext cx="420624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AF352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29016" y="4828032"/>
            <a:ext cx="420624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AF352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699248" y="4892040"/>
            <a:ext cx="292608" cy="292608"/>
          </a:xfrm>
          <a:prstGeom prst="ellipse">
            <a:avLst/>
          </a:prstGeom>
          <a:solidFill>
            <a:srgbClr val="1D3346"/>
          </a:solidFill>
          <a:ln/>
        </p:spPr>
      </p:sp>
      <p:sp>
        <p:nvSpPr>
          <p:cNvPr id="27" name="Shape 25"/>
          <p:cNvSpPr/>
          <p:nvPr/>
        </p:nvSpPr>
        <p:spPr>
          <a:xfrm>
            <a:off x="8193024" y="4892040"/>
            <a:ext cx="292608" cy="292608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28" name="Shape 26"/>
          <p:cNvSpPr/>
          <p:nvPr/>
        </p:nvSpPr>
        <p:spPr>
          <a:xfrm>
            <a:off x="7790688" y="4681728"/>
            <a:ext cx="548640" cy="0"/>
          </a:xfrm>
          <a:prstGeom prst="line">
            <a:avLst/>
          </a:prstGeom>
          <a:noFill/>
          <a:ln w="25400">
            <a:solidFill>
              <a:srgbClr val="1D3346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7790688" y="5394960"/>
            <a:ext cx="548640" cy="0"/>
          </a:xfrm>
          <a:prstGeom prst="line">
            <a:avLst/>
          </a:prstGeom>
          <a:noFill/>
          <a:ln w="25400">
            <a:solidFill>
              <a:srgbClr val="F2A104"/>
            </a:solidFill>
            <a:prstDash val="solid"/>
            <a:headEnd type="triangle"/>
          </a:ln>
        </p:spPr>
      </p:sp>
      <p:sp>
        <p:nvSpPr>
          <p:cNvPr id="30" name="Text 28"/>
          <p:cNvSpPr txBox="1"/>
          <p:nvPr/>
        </p:nvSpPr>
        <p:spPr>
          <a:xfrm>
            <a:off x="8823960" y="468172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C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trade places along one edge — legal for each</a:t>
            </a:r>
            <a:endParaRPr lang="en-US" sz="1100" dirty="0"/>
          </a:p>
          <a:p>
            <a:pPr algn="l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C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alone, illegal for the pair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RESISTED FORTY YEARS OF ATTACK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difficulty is structural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456432" cy="3291840"/>
          </a:xfrm>
          <a:prstGeom prst="roundRect">
            <a:avLst>
              <a:gd name="adj" fmla="val 2500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59536" y="1938528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≈5ᵏ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859536" y="283464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branching factor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59536" y="324612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may move in four directions or wait, so the joint action space of k agents grows as 5ᵏ. Coupled search is exponential in the number of agents, not the map.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279392" y="1691640"/>
            <a:ext cx="3456432" cy="3291840"/>
          </a:xfrm>
          <a:prstGeom prst="roundRect">
            <a:avLst>
              <a:gd name="adj" fmla="val 2500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590288" y="1938528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NP-hard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4590288" y="283464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solve optimally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90288" y="324612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Optimal MAPF on graphs is NP-hard for both makespan and sum-of-costs (Yu &amp; LaValle, 2013; anticipated by Ratner &amp; Warmuth on the generalised 15-puzzle, 1986).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10144" y="1691640"/>
            <a:ext cx="3456432" cy="3291840"/>
          </a:xfrm>
          <a:prstGeom prst="roundRect">
            <a:avLst>
              <a:gd name="adj" fmla="val 2500"/>
            </a:avLst>
          </a:prstGeom>
          <a:solidFill>
            <a:srgbClr val="1D3346"/>
          </a:solidFill>
          <a:ln w="12700">
            <a:solidFill>
              <a:srgbClr val="1D334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321040" y="1938528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2A1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Endless</a:t>
            </a:r>
            <a:endParaRPr lang="en-US" sz="46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283464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FBE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horizon never ends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324612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working warehouse, a delivered task is replaced by a new one. There is no final goal configuration to plan to — the classical formulation simply stops applying.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5230368"/>
            <a:ext cx="11091672" cy="804672"/>
          </a:xfrm>
          <a:prstGeom prst="roundRect">
            <a:avLst>
              <a:gd name="adj" fmla="val 10227"/>
            </a:avLst>
          </a:prstGeom>
          <a:solidFill>
            <a:srgbClr val="EDF2F6"/>
          </a:solidFill>
          <a:ln w="12700">
            <a:solidFill>
              <a:srgbClr val="D0DAE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5431536"/>
            <a:ext cx="10469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2"/>
              </a:lnSpc>
              <a:buNone/>
            </a:pPr>
            <a:r>
              <a:rPr lang="en-US" sz="1350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field split. One branch chased optimality and paid for it in scale. Another gave up optimality for completeness. A third gave up both for speed — and turned out to be the branch warehouses needed.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eras of multi-agent path finding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148840" cy="4160520"/>
          </a:xfrm>
          <a:prstGeom prst="roundRect">
            <a:avLst>
              <a:gd name="adj" fmla="val 3830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76656" y="1856232"/>
            <a:ext cx="1709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1987–2005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676656" y="2121408"/>
            <a:ext cx="170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Decoupled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33472"/>
            <a:ext cx="180136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Erdmann &amp; Lozano-Pérez: plan one agent at a time, treat the others as moving obstacles.</a:t>
            </a:r>
            <a:endParaRPr lang="en-US" sz="1100" dirty="0"/>
          </a:p>
          <a:p>
            <a:pPr marL="177800" indent="-1778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Silver's Cooperative A* / WHCA* (2005) adds a shared reservation table over space-time.</a:t>
            </a:r>
            <a:endParaRPr lang="en-US" sz="1100" dirty="0"/>
          </a:p>
          <a:p>
            <a:pPr marL="177800" indent="-1778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incomplete, order-sensitive.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52344" y="1645920"/>
            <a:ext cx="2148840" cy="4160520"/>
          </a:xfrm>
          <a:prstGeom prst="roundRect">
            <a:avLst>
              <a:gd name="adj" fmla="val 3830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2971800" y="1856232"/>
            <a:ext cx="1709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2010–2015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2971800" y="2121408"/>
            <a:ext cx="170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Optimal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2935224" y="2633472"/>
            <a:ext cx="180136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CBS (Sharon et al.) splits on conflicts and re-plans single agents under constraints.</a:t>
            </a:r>
            <a:endParaRPr lang="en-US" sz="1100" dirty="0"/>
          </a:p>
          <a:p>
            <a:pPr marL="177800" indent="-1778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ICTS, M* and BCP follow soon after.</a:t>
            </a:r>
            <a:endParaRPr lang="en-US" sz="1100" dirty="0"/>
          </a:p>
          <a:p>
            <a:pPr marL="177800" indent="-1778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Optimal, elegant — and it falls over past tens of agents in dense maps.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47488" y="1645920"/>
            <a:ext cx="2148840" cy="4160520"/>
          </a:xfrm>
          <a:prstGeom prst="roundRect">
            <a:avLst>
              <a:gd name="adj" fmla="val 3830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5266944" y="1856232"/>
            <a:ext cx="1709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2011–2016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266944" y="2121408"/>
            <a:ext cx="170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Rule-based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5230368" y="2633472"/>
            <a:ext cx="180136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and Swap, Push and Rotate, TASS: complete in polynomial time by construction.</a:t>
            </a:r>
            <a:endParaRPr lang="en-US" sz="1100" dirty="0"/>
          </a:p>
          <a:p>
            <a:pPr marL="177800" indent="-1778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quality is poor, but they never fail to terminate.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342632" y="1645920"/>
            <a:ext cx="2148840" cy="4160520"/>
          </a:xfrm>
          <a:prstGeom prst="roundRect">
            <a:avLst>
              <a:gd name="adj" fmla="val 3830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562088" y="1856232"/>
            <a:ext cx="1709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2017–2021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7562088" y="2121408"/>
            <a:ext cx="170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Lifelong</a:t>
            </a:r>
            <a:endParaRPr lang="en-US" sz="2100" dirty="0"/>
          </a:p>
        </p:txBody>
      </p:sp>
      <p:sp>
        <p:nvSpPr>
          <p:cNvPr id="19" name="Text 17"/>
          <p:cNvSpPr txBox="1"/>
          <p:nvPr/>
        </p:nvSpPr>
        <p:spPr>
          <a:xfrm>
            <a:off x="7525512" y="2633472"/>
            <a:ext cx="180136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Warehouses (Kiva / Amazon Robotics, 2008) make the one-shot formulation obsolete.</a:t>
            </a:r>
            <a:endParaRPr lang="en-US" sz="1100" dirty="0"/>
          </a:p>
          <a:p>
            <a:pPr marL="177800" indent="-1778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MAPD and Token Passing (Ma, Li, Kumar &amp; Koenig, 2017); RHCR replans a rolling window (Li et al., 2021).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637776" y="1645920"/>
            <a:ext cx="2148840" cy="4160520"/>
          </a:xfrm>
          <a:prstGeom prst="roundRect">
            <a:avLst>
              <a:gd name="adj" fmla="val 3830"/>
            </a:avLst>
          </a:prstGeom>
          <a:solidFill>
            <a:srgbClr val="1D3346"/>
          </a:solidFill>
          <a:ln w="12700">
            <a:solidFill>
              <a:srgbClr val="1D334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857232" y="1856232"/>
            <a:ext cx="1709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2019–2023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9857232" y="2121408"/>
            <a:ext cx="170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Scalable</a:t>
            </a:r>
            <a:endParaRPr lang="en-US" sz="2100" dirty="0"/>
          </a:p>
        </p:txBody>
      </p:sp>
      <p:sp>
        <p:nvSpPr>
          <p:cNvPr id="23" name="Text 21"/>
          <p:cNvSpPr txBox="1"/>
          <p:nvPr/>
        </p:nvSpPr>
        <p:spPr>
          <a:xfrm>
            <a:off x="9820656" y="2633472"/>
            <a:ext cx="180136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PIBT (Okumura et al.): one timestep at a time, priority inheritance and backtracking.</a:t>
            </a:r>
            <a:endParaRPr lang="en-US" sz="1100" dirty="0"/>
          </a:p>
          <a:p>
            <a:pPr marL="177800" indent="-1778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LaCAM (2023) builds a complete search on top of it.</a:t>
            </a:r>
            <a:endParaRPr lang="en-US" sz="1100" dirty="0"/>
          </a:p>
          <a:p>
            <a:pPr marL="177800" indent="-1778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Thousands of agents in real time.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2179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C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BCP — branch-and-cut-and-price. PIBT — Priority Inheritance with Backtracking, Okumura, Machida, Défago &amp; Tamura (IJCAI 2019; Artificial Intelligence, 2022) — is the algorithm this repository extends.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FAMILIES TRADE OFF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choose two of three: optimal, complete, fast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2697480" y="17373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REPRESENTATIVES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029200" y="17373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GUARANTEE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680960" y="17373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9646920" y="1737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PRICE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20624" y="2121408"/>
            <a:ext cx="11338560" cy="841248"/>
          </a:xfrm>
          <a:prstGeom prst="roundRect">
            <a:avLst>
              <a:gd name="adj" fmla="val 9783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249424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Optimal search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2249424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CBS, ICTS, M*, BCP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029200" y="2249424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Optimal + complete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2249424"/>
            <a:ext cx="1920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 of agents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9646920" y="224942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Exponential in conflicts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20624" y="3090672"/>
            <a:ext cx="11338560" cy="841248"/>
          </a:xfrm>
          <a:prstGeom prst="roundRect">
            <a:avLst>
              <a:gd name="adj" fmla="val 9783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218688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Bounded suboptimal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2697480" y="3218688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ECBS, EECBS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0" y="3218688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a factor of optimal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7680960" y="3218688"/>
            <a:ext cx="1920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hundreds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9646920" y="321868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Focal search overhead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20624" y="4059936"/>
            <a:ext cx="11338560" cy="841248"/>
          </a:xfrm>
          <a:prstGeom prst="roundRect">
            <a:avLst>
              <a:gd name="adj" fmla="val 9783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187952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Rule-based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2697480" y="4187952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and Swap, Push and Rotate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029200" y="4187952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Complete, polynomial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7680960" y="4187952"/>
            <a:ext cx="1920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Hundreds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9646920" y="4187952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 solution quality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20624" y="5029200"/>
            <a:ext cx="11338560" cy="841248"/>
          </a:xfrm>
          <a:prstGeom prst="roundRect">
            <a:avLst>
              <a:gd name="adj" fmla="val 9783"/>
            </a:avLst>
          </a:prstGeom>
          <a:solidFill>
            <a:srgbClr val="1D3346"/>
          </a:solidFill>
          <a:ln w="12700">
            <a:solidFill>
              <a:srgbClr val="1D334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548640" y="5157216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F2A1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Greedy / reactive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2697480" y="5157216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PIBT, LaCAM, this repo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5029200" y="5157216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progress only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7680960" y="5157216"/>
            <a:ext cx="1920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Thousands, real time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9646920" y="515721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global optimality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420624" y="6053328"/>
            <a:ext cx="1133856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2A10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31520" y="6199632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AisleFlow lives on the bottom row. The question this project asks is whether a warehouse-aware layer on top of a greedy planner can buy back some of the quality the greedy choice gave away.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TURN THAT MADE THIS PROJECT NECESSARY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one-shot MAPF to lifelong MAPD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94960" cy="3246120"/>
          </a:xfrm>
          <a:prstGeom prst="roundRect">
            <a:avLst>
              <a:gd name="adj" fmla="val 2535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96112" y="1938528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Classical MAPF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450592"/>
            <a:ext cx="4709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700"/>
              </a:lnSpc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agents, k goals, fixed in advance.</a:t>
            </a:r>
            <a:endParaRPr lang="en-US" sz="1350" dirty="0"/>
          </a:p>
          <a:p>
            <a:pPr marL="177800" indent="-177800">
              <a:lnSpc>
                <a:spcPts val="1700"/>
              </a:lnSpc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once, offline, then execute.</a:t>
            </a:r>
            <a:endParaRPr lang="en-US" sz="1350" dirty="0"/>
          </a:p>
          <a:p>
            <a:pPr marL="177800" indent="-177800">
              <a:lnSpc>
                <a:spcPts val="1700"/>
              </a:lnSpc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= every agent parked on its goal.</a:t>
            </a:r>
            <a:endParaRPr lang="en-US" sz="1350" dirty="0"/>
          </a:p>
          <a:p>
            <a:pPr marL="177800" indent="-177800">
              <a:lnSpc>
                <a:spcPts val="1700"/>
              </a:lnSpc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Objective: makespan or sum-of-costs.</a:t>
            </a:r>
            <a:endParaRPr lang="en-US" sz="1350" dirty="0"/>
          </a:p>
          <a:p>
            <a:pPr marL="177800" indent="-177800">
              <a:lnSpc>
                <a:spcPts val="1700"/>
              </a:lnSpc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 is valid until it finishes.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63640" y="1691640"/>
            <a:ext cx="5376672" cy="3246120"/>
          </a:xfrm>
          <a:prstGeom prst="roundRect">
            <a:avLst>
              <a:gd name="adj" fmla="val 2535"/>
            </a:avLst>
          </a:prstGeom>
          <a:solidFill>
            <a:srgbClr val="1D3346"/>
          </a:solidFill>
          <a:ln w="12700">
            <a:solidFill>
              <a:srgbClr val="1D334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611112" y="1938528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Lifelong MAPD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611112" y="2450592"/>
            <a:ext cx="4709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700"/>
              </a:lnSpc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arrive as a stream — Poisson, bursty, or scheduled.</a:t>
            </a:r>
            <a:endParaRPr lang="en-US" sz="1350" dirty="0"/>
          </a:p>
          <a:p>
            <a:pPr marL="177800" indent="-177800">
              <a:lnSpc>
                <a:spcPts val="1700"/>
              </a:lnSpc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robot that delivers is immediately re-assigned.</a:t>
            </a:r>
            <a:endParaRPr lang="en-US" sz="1350" dirty="0"/>
          </a:p>
          <a:p>
            <a:pPr marL="177800" indent="-177800">
              <a:lnSpc>
                <a:spcPts val="1700"/>
              </a:lnSpc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terminal configuration to plan to.</a:t>
            </a:r>
            <a:endParaRPr lang="en-US" sz="1350" dirty="0"/>
          </a:p>
          <a:p>
            <a:pPr marL="177800" indent="-177800">
              <a:lnSpc>
                <a:spcPts val="1700"/>
              </a:lnSpc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Objective: throughput, service time, and its tail.</a:t>
            </a:r>
            <a:endParaRPr lang="en-US" sz="1350" dirty="0"/>
          </a:p>
          <a:p>
            <a:pPr marL="177800" indent="-177800">
              <a:lnSpc>
                <a:spcPts val="1700"/>
              </a:lnSpc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plan is provisional; you replan forever.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5193792"/>
            <a:ext cx="11091672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2A10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535838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16"/>
              </a:lnSpc>
              <a:buNone/>
            </a:pPr>
            <a:r>
              <a:rPr lang="en-US" sz="1300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Amazon's Kiva fulfilment floors (Wurman, D'Andrea &amp; Mountz, 2008) are the reason this reframing mattered commercially: hundreds of robots, narrow aisles, tasks that never stop arriving.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WE BUILD 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PIBT: one timestep, priority inheritance, backtracking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5760" cy="365760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78992" y="169164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78992" y="2020824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neighbours of the current cell, plus staying put. Nothing longer than one step is ever planned.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834640"/>
            <a:ext cx="365760" cy="365760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78992" y="278892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 rejection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78992" y="3118104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Off-graph, kinematics, vertex conflict, swap conflict. Nothing else: a rule that deletes a legal move breaks the progress argument below.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931920"/>
            <a:ext cx="365760" cy="365760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931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78992" y="388620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 and sort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078992" y="4215384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Survivors are ranked by S(v). Direction, congestion, turning cost and aisle rules all act here, and only here.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5029200"/>
            <a:ext cx="365760" cy="365760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029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78992" y="498348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Inherit, then backtrack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078992" y="5312664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best cell is occupied by an unplanned robot, that robot plans next with the caller's priority. If it fails, undo and try the next candidate.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720840" y="1691640"/>
            <a:ext cx="4919472" cy="4160520"/>
          </a:xfrm>
          <a:prstGeom prst="roundRect">
            <a:avLst>
              <a:gd name="adj" fmla="val 1978"/>
            </a:avLst>
          </a:prstGeom>
          <a:solidFill>
            <a:srgbClr val="1D3346"/>
          </a:solidFill>
          <a:ln w="12700">
            <a:solidFill>
              <a:srgbClr val="1D334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022592" y="190195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inheritance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7059168" y="2395728"/>
            <a:ext cx="566928" cy="566928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059168" y="23957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818120" y="248716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priority, wants the cell ahead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342632" y="2999232"/>
            <a:ext cx="0" cy="329184"/>
          </a:xfrm>
          <a:prstGeom prst="line">
            <a:avLst/>
          </a:prstGeom>
          <a:noFill/>
          <a:ln w="25400">
            <a:solidFill>
              <a:srgbClr val="F2A104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059168" y="3364992"/>
            <a:ext cx="566928" cy="566928"/>
          </a:xfrm>
          <a:prstGeom prst="ellipse">
            <a:avLst/>
          </a:prstGeom>
          <a:solidFill>
            <a:srgbClr val="5A738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059168" y="33649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7818120" y="345643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sitting in it, has not planned yet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342632" y="3968496"/>
            <a:ext cx="0" cy="329184"/>
          </a:xfrm>
          <a:prstGeom prst="line">
            <a:avLst/>
          </a:prstGeom>
          <a:noFill/>
          <a:ln w="25400">
            <a:solidFill>
              <a:srgbClr val="F2A104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7059168" y="4334256"/>
            <a:ext cx="566928" cy="566928"/>
          </a:xfrm>
          <a:prstGeom prst="ellipse">
            <a:avLst/>
          </a:prstGeom>
          <a:solidFill>
            <a:srgbClr val="5A7387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059168" y="43342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818120" y="4425696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idle, blocking R3 in turn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7022592" y="5230368"/>
            <a:ext cx="4315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FBE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 moves aside, so R3 moves, so R7 moves. If nobody can, the chain unwinds and R7 tries its second-best cell.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62179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C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timestep: O(|A|(Δ(G) + F + log|A|)). Measured at 1.00 ms/step for 40 robots on warehouse_medium, 1.90 with the aisle layer on.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WE SET OUT TO CLOSE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PIBT does not know what an aisle is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456432" cy="2286000"/>
          </a:xfrm>
          <a:prstGeom prst="roundRect">
            <a:avLst>
              <a:gd name="adj" fmla="val 3600"/>
            </a:avLst>
          </a:prstGeom>
          <a:solidFill>
            <a:srgbClr val="1A2C3B"/>
          </a:solidFill>
          <a:ln w="12700">
            <a:solidFill>
              <a:srgbClr val="1A2C3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41248" y="19202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1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Direction-blind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2340864"/>
            <a:ext cx="288950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PIBT scores a cell by how much closer it gets you. Two robots entering a single-file corridor from opposite ends are each moving optimally, right up to the moment neither can move at all.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279392" y="1691640"/>
            <a:ext cx="3456432" cy="2286000"/>
          </a:xfrm>
          <a:prstGeom prst="roundRect">
            <a:avLst>
              <a:gd name="adj" fmla="val 3600"/>
            </a:avLst>
          </a:prstGeom>
          <a:solidFill>
            <a:srgbClr val="1A2C3B"/>
          </a:solidFill>
          <a:ln w="12700">
            <a:solidFill>
              <a:srgbClr val="1A2C3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0" y="19202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1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Congestion-blind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340864"/>
            <a:ext cx="288950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assignment picks whichever robot is nearest. Nearest through a jammed corridor is not nearest, and a greedy match keeps feeding robots into the jam.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10144" y="1691640"/>
            <a:ext cx="3456432" cy="2286000"/>
          </a:xfrm>
          <a:prstGeom prst="roundRect">
            <a:avLst>
              <a:gd name="adj" fmla="val 3600"/>
            </a:avLst>
          </a:prstGeom>
          <a:solidFill>
            <a:srgbClr val="1A2C3B"/>
          </a:solidFill>
          <a:ln w="12700">
            <a:solidFill>
              <a:srgbClr val="1A2C3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02752" y="19202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1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structural memory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2340864"/>
            <a:ext cx="288950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in PIBT records that this corridor was flowing north five steps ago, so the flow direction flaps with the traffic instead of settling.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4224528"/>
            <a:ext cx="11091672" cy="1627632"/>
          </a:xfrm>
          <a:prstGeom prst="roundRect">
            <a:avLst>
              <a:gd name="adj" fmla="val 5056"/>
            </a:avLst>
          </a:prstGeom>
          <a:solidFill>
            <a:srgbClr val="F2A104"/>
          </a:solidFill>
          <a:ln w="12700">
            <a:solidFill>
              <a:srgbClr val="F2A10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4462272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“Robots generate directional requests, but aisles make directional decisions.”</a:t>
            </a:r>
            <a:endParaRPr lang="en-US" sz="230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5047488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4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architectural commitment of LDA-PIBT: a robot may prefer a direction, but the aisle owns it — and the aisle is the only thing that can see every robot that wants to use it.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2179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FA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LDA-PIBT — Lifelong Aisle-Managed PIBT. AisleFlow is the implementation; LDA-PIBT is the algorithm it implements.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IS BUILT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layers, and a line neither crosses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1672" cy="1691640"/>
          </a:xfrm>
          <a:prstGeom prst="roundRect">
            <a:avLst>
              <a:gd name="adj" fmla="val 4865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82880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LEVEL — what each robot wants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68680" y="2212848"/>
            <a:ext cx="1353312" cy="384048"/>
          </a:xfrm>
          <a:prstGeom prst="roundRect">
            <a:avLst>
              <a:gd name="adj" fmla="val 47619"/>
            </a:avLst>
          </a:prstGeom>
          <a:solidFill>
            <a:srgbClr val="FFFFFF"/>
          </a:solidFill>
          <a:ln w="12700">
            <a:solidFill>
              <a:srgbClr val="D0DAE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212848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assignment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350008" y="2212848"/>
            <a:ext cx="870509" cy="384048"/>
          </a:xfrm>
          <a:prstGeom prst="roundRect">
            <a:avLst>
              <a:gd name="adj" fmla="val 47619"/>
            </a:avLst>
          </a:prstGeom>
          <a:solidFill>
            <a:srgbClr val="FFFFFF"/>
          </a:solidFill>
          <a:ln w="12700">
            <a:solidFill>
              <a:srgbClr val="D0DAE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50008" y="2212848"/>
            <a:ext cx="87050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waypoints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48533" y="2212848"/>
            <a:ext cx="629107" cy="384048"/>
          </a:xfrm>
          <a:prstGeom prst="roundRect">
            <a:avLst>
              <a:gd name="adj" fmla="val 47619"/>
            </a:avLst>
          </a:prstGeom>
          <a:solidFill>
            <a:srgbClr val="FFFFFF"/>
          </a:solidFill>
          <a:ln w="12700">
            <a:solidFill>
              <a:srgbClr val="D0DAE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348533" y="2212848"/>
            <a:ext cx="62910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105656" y="2212848"/>
            <a:ext cx="1594714" cy="384048"/>
          </a:xfrm>
          <a:prstGeom prst="roundRect">
            <a:avLst>
              <a:gd name="adj" fmla="val 47619"/>
            </a:avLst>
          </a:prstGeom>
          <a:solidFill>
            <a:srgbClr val="FFFFFF"/>
          </a:solidFill>
          <a:ln w="12700">
            <a:solidFill>
              <a:srgbClr val="D0DA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05656" y="2212848"/>
            <a:ext cx="15947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directional demand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828386" y="2212848"/>
            <a:ext cx="1353312" cy="384048"/>
          </a:xfrm>
          <a:prstGeom prst="roundRect">
            <a:avLst>
              <a:gd name="adj" fmla="val 47619"/>
            </a:avLst>
          </a:prstGeom>
          <a:solidFill>
            <a:srgbClr val="FFFFFF"/>
          </a:solidFill>
          <a:ln w="12700">
            <a:solidFill>
              <a:srgbClr val="D0DA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828386" y="2212848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aisle direction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68680" y="2715768"/>
            <a:ext cx="1594714" cy="384048"/>
          </a:xfrm>
          <a:prstGeom prst="roundRect">
            <a:avLst>
              <a:gd name="adj" fmla="val 47619"/>
            </a:avLst>
          </a:prstGeom>
          <a:solidFill>
            <a:srgbClr val="FFFFFF"/>
          </a:solidFill>
          <a:ln w="12700">
            <a:solidFill>
              <a:srgbClr val="D0DAE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2715768"/>
            <a:ext cx="15947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hysteresis + drain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2591410" y="2715768"/>
            <a:ext cx="1111910" cy="384048"/>
          </a:xfrm>
          <a:prstGeom prst="roundRect">
            <a:avLst>
              <a:gd name="adj" fmla="val 47619"/>
            </a:avLst>
          </a:prstGeom>
          <a:solidFill>
            <a:srgbClr val="FFFFFF"/>
          </a:solidFill>
          <a:ln w="12700">
            <a:solidFill>
              <a:srgbClr val="D0DAE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591410" y="2715768"/>
            <a:ext cx="111191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831336" y="2715768"/>
            <a:ext cx="950976" cy="384048"/>
          </a:xfrm>
          <a:prstGeom prst="roundRect">
            <a:avLst>
              <a:gd name="adj" fmla="val 47619"/>
            </a:avLst>
          </a:prstGeom>
          <a:solidFill>
            <a:srgbClr val="FFFFFF"/>
          </a:solidFill>
          <a:ln w="12700">
            <a:solidFill>
              <a:srgbClr val="D0DAE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831336" y="2715768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priorities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910328" y="2715768"/>
            <a:ext cx="1514246" cy="384048"/>
          </a:xfrm>
          <a:prstGeom prst="roundRect">
            <a:avLst>
              <a:gd name="adj" fmla="val 47619"/>
            </a:avLst>
          </a:prstGeom>
          <a:solidFill>
            <a:srgbClr val="FFFFFF"/>
          </a:solidFill>
          <a:ln w="12700">
            <a:solidFill>
              <a:srgbClr val="D0DAE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910328" y="2715768"/>
            <a:ext cx="151424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deadlock recovery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840480" y="3401568"/>
            <a:ext cx="0" cy="457200"/>
          </a:xfrm>
          <a:prstGeom prst="line">
            <a:avLst/>
          </a:prstGeom>
          <a:noFill/>
          <a:ln w="31750">
            <a:solidFill>
              <a:srgbClr val="F2A104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4069080" y="349300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C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ranks candidates and prices the ones it dislikes — never removes them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" y="3931920"/>
            <a:ext cx="11091672" cy="1234440"/>
          </a:xfrm>
          <a:prstGeom prst="roundRect">
            <a:avLst>
              <a:gd name="adj" fmla="val 6667"/>
            </a:avLst>
          </a:prstGeom>
          <a:solidFill>
            <a:srgbClr val="1D3346"/>
          </a:solidFill>
          <a:ln w="12700">
            <a:solidFill>
              <a:srgbClr val="1D334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868680" y="411480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LEVEL — PIBT, one synchronized timestep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68680" y="4498848"/>
            <a:ext cx="950976" cy="384048"/>
          </a:xfrm>
          <a:prstGeom prst="roundRect">
            <a:avLst>
              <a:gd name="adj" fmla="val 47619"/>
            </a:avLst>
          </a:prstGeom>
          <a:solidFill>
            <a:srgbClr val="27455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68680" y="4498848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C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candidates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1947672" y="4498848"/>
            <a:ext cx="1272845" cy="384048"/>
          </a:xfrm>
          <a:prstGeom prst="roundRect">
            <a:avLst>
              <a:gd name="adj" fmla="val 47619"/>
            </a:avLst>
          </a:prstGeom>
          <a:solidFill>
            <a:srgbClr val="27455C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947672" y="4498848"/>
            <a:ext cx="127284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C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rejection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3348533" y="4498848"/>
            <a:ext cx="1111910" cy="384048"/>
          </a:xfrm>
          <a:prstGeom prst="roundRect">
            <a:avLst>
              <a:gd name="adj" fmla="val 47619"/>
            </a:avLst>
          </a:prstGeom>
          <a:solidFill>
            <a:srgbClr val="27455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348533" y="4498848"/>
            <a:ext cx="111191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C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score-sorted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4588459" y="4498848"/>
            <a:ext cx="1755648" cy="384048"/>
          </a:xfrm>
          <a:prstGeom prst="roundRect">
            <a:avLst>
              <a:gd name="adj" fmla="val 47619"/>
            </a:avLst>
          </a:prstGeom>
          <a:solidFill>
            <a:srgbClr val="27455C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588459" y="4498848"/>
            <a:ext cx="1755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C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inheritance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472123" y="4498848"/>
            <a:ext cx="1111910" cy="384048"/>
          </a:xfrm>
          <a:prstGeom prst="roundRect">
            <a:avLst>
              <a:gd name="adj" fmla="val 47619"/>
            </a:avLst>
          </a:prstGeom>
          <a:solidFill>
            <a:srgbClr val="27455C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472123" y="4498848"/>
            <a:ext cx="111191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C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backtracking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7712050" y="4498848"/>
            <a:ext cx="1675181" cy="384048"/>
          </a:xfrm>
          <a:prstGeom prst="roundRect">
            <a:avLst>
              <a:gd name="adj" fmla="val 47619"/>
            </a:avLst>
          </a:prstGeom>
          <a:solidFill>
            <a:srgbClr val="27455C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712050" y="4498848"/>
            <a:ext cx="167518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C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every step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548640" y="5440680"/>
            <a:ext cx="11091672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2A104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68680" y="560527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16"/>
              </a:lnSpc>
              <a:buNone/>
            </a:pPr>
            <a:r>
              <a:rPr lang="en-US" sz="1300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invariant: no high-level formula can produce a collision, and none can remove a legal move either. Zero vertex and zero swap conflicts across every map, density, seed and variant tested — checked every timestep by validate_plan.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HOW, PART 1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scoring function carries the whole high level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1672" cy="1371600"/>
          </a:xfrm>
          <a:prstGeom prst="roundRect">
            <a:avLst>
              <a:gd name="adj" fmla="val 6000"/>
            </a:avLst>
          </a:prstGeom>
          <a:solidFill>
            <a:srgbClr val="1D3346"/>
          </a:solidFill>
          <a:ln w="12700">
            <a:solidFill>
              <a:srgbClr val="1D334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187452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600" b="1" dirty="0">
                <a:solidFill>
                  <a:srgbClr val="F2A1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Sᵢ(v) = </a:t>
            </a:r>
            <a:pPr indent="0" marL="0">
              <a:lnSpc>
                <a:spcPts val="28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α·progress  +  βᵢ·[preferred direction]  +  γᵢ·[stays in aisle]
</a:t>
            </a:r>
            <a:pPr indent="0" marL="0">
              <a:lnSpc>
                <a:spcPts val="28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− λ·turn  −  μ·congestion  −  ν·wait  −  ξ·[bottleneck]  −  ζ·[counterflow]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3246120"/>
            <a:ext cx="3456432" cy="1325880"/>
          </a:xfrm>
          <a:prstGeom prst="roundRect">
            <a:avLst>
              <a:gd name="adj" fmla="val 6207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39242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1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α = 10.0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965960" y="339242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Progress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758184"/>
            <a:ext cx="29626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closer to the waypoint. Dominates everything else by design.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279392" y="3246120"/>
            <a:ext cx="3456432" cy="1325880"/>
          </a:xfrm>
          <a:prstGeom prst="roundRect">
            <a:avLst>
              <a:gd name="adj" fmla="val 6207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53712" y="339242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1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β ≤ 3.0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696712" y="339242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Direction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553712" y="3758184"/>
            <a:ext cx="29626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for moving the way the robot prefers. Its proximity decay is inert: β only breaks ties among equal-progress moves.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10144" y="3246120"/>
            <a:ext cx="3456432" cy="1325880"/>
          </a:xfrm>
          <a:prstGeom prst="roundRect">
            <a:avLst>
              <a:gd name="adj" fmla="val 6207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84464" y="339242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1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γ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427464" y="339242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Aisle continuity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8284464" y="3758184"/>
            <a:ext cx="29626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a robot committed to the corridor it is already in, except at intersections.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4736592"/>
            <a:ext cx="3456432" cy="1325880"/>
          </a:xfrm>
          <a:prstGeom prst="roundRect">
            <a:avLst>
              <a:gd name="adj" fmla="val 6207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488289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1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λ = 0.5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965960" y="488289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Turning cost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5248656"/>
            <a:ext cx="29626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flat penalty per direction change. The cheapest term here, and the strongest single mechanism in the system.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279392" y="4736592"/>
            <a:ext cx="3456432" cy="1325880"/>
          </a:xfrm>
          <a:prstGeom prst="roundRect">
            <a:avLst>
              <a:gd name="adj" fmla="val 6207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53712" y="488289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1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μ = 1.0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696712" y="488289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Congestion</a:t>
            </a:r>
            <a:endParaRPr lang="en-US" sz="1450" dirty="0"/>
          </a:p>
        </p:txBody>
      </p:sp>
      <p:sp>
        <p:nvSpPr>
          <p:cNvPr id="25" name="Text 23"/>
          <p:cNvSpPr txBox="1"/>
          <p:nvPr/>
        </p:nvSpPr>
        <p:spPr>
          <a:xfrm>
            <a:off x="4553712" y="5248656"/>
            <a:ext cx="29626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density, aisle occupancy and downstream lookahead, all normalised to [0,1].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010144" y="4736592"/>
            <a:ext cx="3456432" cy="1325880"/>
          </a:xfrm>
          <a:prstGeom prst="roundRect">
            <a:avLst>
              <a:gd name="adj" fmla="val 6207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84464" y="488289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1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ξ = 1.0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427464" y="488289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Bottleneck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8284464" y="5248656"/>
            <a:ext cx="29626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Discourages parking on an articulation point that the whole map depends on.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62179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C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seventh term, ζ = 8.0, is where the aisle layer acts: the price of driving against a committed direction. Ordering α &gt; ζ &gt; β &gt; γ &gt; λ. It holds only because the aisle rules became penalties rather than rejections, and the congestion mixture was normalised.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HOW, PART 2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Aisles decide, with a minimum green and a maximum green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51560" y="1828800"/>
            <a:ext cx="2103120" cy="658368"/>
          </a:xfrm>
          <a:prstGeom prst="roundRect">
            <a:avLst>
              <a:gd name="adj" fmla="val 12500"/>
            </a:avLst>
          </a:prstGeom>
          <a:solidFill>
            <a:srgbClr val="1D3346"/>
          </a:solidFill>
          <a:ln w="19050">
            <a:solidFill>
              <a:srgbClr val="1D334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28800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051560" y="3127248"/>
            <a:ext cx="2103120" cy="658368"/>
          </a:xfrm>
          <a:prstGeom prst="roundRect">
            <a:avLst>
              <a:gd name="adj" fmla="val 12500"/>
            </a:avLst>
          </a:prstGeom>
          <a:solidFill>
            <a:srgbClr val="EDF2F6"/>
          </a:solidFill>
          <a:ln w="19050">
            <a:solidFill>
              <a:srgbClr val="D0DAE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312724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1051560" y="4425696"/>
            <a:ext cx="2103120" cy="658368"/>
          </a:xfrm>
          <a:prstGeom prst="roundRect">
            <a:avLst>
              <a:gd name="adj" fmla="val 12500"/>
            </a:avLst>
          </a:prstGeom>
          <a:solidFill>
            <a:srgbClr val="EDF2F6"/>
          </a:solidFill>
          <a:ln w="19050">
            <a:solidFill>
              <a:srgbClr val="D0DAE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51560" y="4425696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DRAINING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103120" y="2487168"/>
            <a:ext cx="0" cy="640080"/>
          </a:xfrm>
          <a:prstGeom prst="line">
            <a:avLst/>
          </a:prstGeom>
          <a:noFill/>
          <a:ln w="25400">
            <a:solidFill>
              <a:srgbClr val="F2A104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103120" y="3785616"/>
            <a:ext cx="0" cy="640080"/>
          </a:xfrm>
          <a:prstGeom prst="line">
            <a:avLst/>
          </a:prstGeom>
          <a:noFill/>
          <a:ln w="25400">
            <a:solidFill>
              <a:srgbClr val="F2A104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2286000" y="2551176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demand imbalance leaves the ±τ</a:t>
            </a:r>
            <a:endParaRPr lang="en-US" sz="1150" dirty="0"/>
          </a:p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band and the lock has expired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2286000" y="392277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8"/>
              </a:lnSpc>
              <a:buNone/>
            </a:pPr>
            <a:r>
              <a:rPr lang="en-US" sz="1150" dirty="0">
                <a:solidFill>
                  <a:srgbClr val="6C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opposing demand, or T_max expires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58368" y="4754880"/>
            <a:ext cx="393192" cy="0"/>
          </a:xfrm>
          <a:prstGeom prst="line">
            <a:avLst/>
          </a:prstGeom>
          <a:noFill/>
          <a:ln w="25400">
            <a:solidFill>
              <a:srgbClr val="F2A10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2157984"/>
            <a:ext cx="0" cy="2596896"/>
          </a:xfrm>
          <a:prstGeom prst="line">
            <a:avLst/>
          </a:prstGeom>
          <a:noFill/>
          <a:ln w="25400">
            <a:solidFill>
              <a:srgbClr val="F2A10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2157984"/>
            <a:ext cx="393192" cy="0"/>
          </a:xfrm>
          <a:prstGeom prst="line">
            <a:avLst/>
          </a:prstGeom>
          <a:noFill/>
          <a:ln w="25400">
            <a:solidFill>
              <a:srgbClr val="F2A104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2286000" y="4590288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reaches zero — the aisle then</a:t>
            </a:r>
            <a:endParaRPr lang="en-US" sz="1150" dirty="0"/>
          </a:p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commits the direction that asked for the drain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553212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8"/>
              </a:lnSpc>
              <a:buNone/>
            </a:pPr>
            <a:r>
              <a:rPr lang="en-US" sz="1150" i="1" dirty="0">
                <a:solidFill>
                  <a:srgbClr val="6C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is the exact mirror of FORWARD, with the sign of the imbalance flipped.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355080" y="1691640"/>
            <a:ext cx="5285232" cy="2240280"/>
          </a:xfrm>
          <a:prstGeom prst="roundRect">
            <a:avLst>
              <a:gd name="adj" fmla="val 3673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656832" y="190195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clocks, not one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656832" y="2331720"/>
            <a:ext cx="4709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55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robot contributes weighted demand for FORWARD or REVERSE in the aisle it is about to enter.</a:t>
            </a:r>
            <a:endParaRPr lang="en-US" sz="1200" dirty="0"/>
          </a:p>
          <a:p>
            <a:pPr marL="177800" indent="-177800">
              <a:lnSpc>
                <a:spcPts val="155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green: locked for T_min steps, and flips only outside a ±τ dead band, so it cannot flap.</a:t>
            </a:r>
            <a:endParaRPr lang="en-US" sz="1200" dirty="0"/>
          </a:p>
          <a:p>
            <a:pPr marL="177800" indent="-177800">
              <a:lnSpc>
                <a:spcPts val="155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green: past T_max, opposing demand forces a flip. Without it a balanced aisle starves.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355080" y="4069080"/>
            <a:ext cx="5285232" cy="2240280"/>
          </a:xfrm>
          <a:prstGeom prst="roundRect">
            <a:avLst>
              <a:gd name="adj" fmla="val 3673"/>
            </a:avLst>
          </a:prstGeom>
          <a:solidFill>
            <a:srgbClr val="1D3346"/>
          </a:solidFill>
          <a:ln w="12700">
            <a:solidFill>
              <a:srgbClr val="1D334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6656832" y="427939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Entry reservations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6656832" y="4709160"/>
            <a:ext cx="4709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55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robot at an entrance gets a ticket only if occupancy plus pending tickets stay under capacity.</a:t>
            </a:r>
            <a:endParaRPr lang="en-US" sz="1200" dirty="0"/>
          </a:p>
          <a:p>
            <a:pPr marL="177800" indent="-177800">
              <a:lnSpc>
                <a:spcPts val="155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Tickets expire after 15 steps, so a stalled robot cannot hold a corridor hostage.</a:t>
            </a:r>
            <a:endParaRPr lang="en-US" sz="1200" dirty="0"/>
          </a:p>
          <a:p>
            <a:pPr marL="177800" indent="-177800">
              <a:lnSpc>
                <a:spcPts val="155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restricts entry, not interior movement — and it is priced, not enforced.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HOW, PART 3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levels of recovery, on a corroborated signal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6420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exists for the stalls the one-step planner cannot resolve on its own. What it must not do is fire on ordinary queueing — in dense lifelong traffic a robot waits t_blocked steps as a matter of course, and levels 5-7 are destructive when nothing is actually stuck.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487168"/>
            <a:ext cx="5349240" cy="548640"/>
          </a:xfrm>
          <a:prstGeom prst="roundRect">
            <a:avLst>
              <a:gd name="adj" fmla="val 13333"/>
            </a:avLst>
          </a:prstGeom>
          <a:solidFill>
            <a:srgbClr val="EDF2F6"/>
          </a:solidFill>
          <a:ln/>
        </p:spPr>
      </p:sp>
      <p:sp>
        <p:nvSpPr>
          <p:cNvPr id="6" name="Shape 4"/>
          <p:cNvSpPr/>
          <p:nvPr/>
        </p:nvSpPr>
        <p:spPr>
          <a:xfrm>
            <a:off x="694944" y="2587752"/>
            <a:ext cx="347472" cy="347472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94944" y="25877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170432" y="248716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Recompute routes from scratch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145536"/>
            <a:ext cx="5349240" cy="548640"/>
          </a:xfrm>
          <a:prstGeom prst="roundRect">
            <a:avLst>
              <a:gd name="adj" fmla="val 13333"/>
            </a:avLst>
          </a:prstGeom>
          <a:solidFill>
            <a:srgbClr val="EDF2F6"/>
          </a:solidFill>
          <a:ln/>
        </p:spPr>
      </p:sp>
      <p:sp>
        <p:nvSpPr>
          <p:cNvPr id="10" name="Shape 8"/>
          <p:cNvSpPr/>
          <p:nvPr/>
        </p:nvSpPr>
        <p:spPr>
          <a:xfrm>
            <a:off x="694944" y="3246120"/>
            <a:ext cx="347472" cy="347472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94944" y="32461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145536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 and re-decide the affected aisles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803904"/>
            <a:ext cx="5349240" cy="548640"/>
          </a:xfrm>
          <a:prstGeom prst="roundRect">
            <a:avLst>
              <a:gd name="adj" fmla="val 13333"/>
            </a:avLst>
          </a:prstGeom>
          <a:solidFill>
            <a:srgbClr val="EDF2F6"/>
          </a:solidFill>
          <a:ln/>
        </p:spPr>
      </p:sp>
      <p:sp>
        <p:nvSpPr>
          <p:cNvPr id="14" name="Shape 12"/>
          <p:cNvSpPr/>
          <p:nvPr/>
        </p:nvSpPr>
        <p:spPr>
          <a:xfrm>
            <a:off x="694944" y="3904488"/>
            <a:ext cx="347472" cy="347472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94944" y="39044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70432" y="3803904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stale aisle reservations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462272"/>
            <a:ext cx="5349240" cy="548640"/>
          </a:xfrm>
          <a:prstGeom prst="roundRect">
            <a:avLst>
              <a:gd name="adj" fmla="val 13333"/>
            </a:avLst>
          </a:prstGeom>
          <a:solidFill>
            <a:srgbClr val="EDF2F6"/>
          </a:solidFill>
          <a:ln/>
        </p:spPr>
      </p:sp>
      <p:sp>
        <p:nvSpPr>
          <p:cNvPr id="18" name="Shape 16"/>
          <p:cNvSpPr/>
          <p:nvPr/>
        </p:nvSpPr>
        <p:spPr>
          <a:xfrm>
            <a:off x="694944" y="4562856"/>
            <a:ext cx="347472" cy="347472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94944" y="45628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170432" y="446227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 the blocked robots' priorities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263640" y="2487168"/>
            <a:ext cx="5349240" cy="548640"/>
          </a:xfrm>
          <a:prstGeom prst="roundRect">
            <a:avLst>
              <a:gd name="adj" fmla="val 13333"/>
            </a:avLst>
          </a:prstGeom>
          <a:solidFill>
            <a:srgbClr val="EDF2F6"/>
          </a:solidFill>
          <a:ln/>
        </p:spPr>
      </p:sp>
      <p:sp>
        <p:nvSpPr>
          <p:cNvPr id="22" name="Shape 20"/>
          <p:cNvSpPr/>
          <p:nvPr/>
        </p:nvSpPr>
        <p:spPr>
          <a:xfrm>
            <a:off x="6409944" y="2587752"/>
            <a:ext cx="347472" cy="347472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09944" y="25877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885432" y="248716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temporary reverse movement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263640" y="3145536"/>
            <a:ext cx="5349240" cy="548640"/>
          </a:xfrm>
          <a:prstGeom prst="roundRect">
            <a:avLst>
              <a:gd name="adj" fmla="val 13333"/>
            </a:avLst>
          </a:prstGeom>
          <a:solidFill>
            <a:srgbClr val="EDF2F6"/>
          </a:solidFill>
          <a:ln/>
        </p:spPr>
      </p:sp>
      <p:sp>
        <p:nvSpPr>
          <p:cNvPr id="26" name="Shape 24"/>
          <p:cNvSpPr/>
          <p:nvPr/>
        </p:nvSpPr>
        <p:spPr>
          <a:xfrm>
            <a:off x="6409944" y="3246120"/>
            <a:ext cx="347472" cy="347472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09944" y="32461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885432" y="3145536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robots to escape vertices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263640" y="3803904"/>
            <a:ext cx="5349240" cy="548640"/>
          </a:xfrm>
          <a:prstGeom prst="roundRect">
            <a:avLst>
              <a:gd name="adj" fmla="val 13333"/>
            </a:avLst>
          </a:prstGeom>
          <a:solidFill>
            <a:srgbClr val="1D3346"/>
          </a:solidFill>
          <a:ln/>
        </p:spPr>
      </p:sp>
      <p:sp>
        <p:nvSpPr>
          <p:cNvPr id="30" name="Shape 28"/>
          <p:cNvSpPr/>
          <p:nvPr/>
        </p:nvSpPr>
        <p:spPr>
          <a:xfrm>
            <a:off x="6409944" y="3904488"/>
            <a:ext cx="347472" cy="347472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09944" y="39044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885432" y="3803904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all directional constraints locally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263640" y="4480560"/>
            <a:ext cx="534924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F2A10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537960" y="4663440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one level per timestep, not all seven at once: in a synchronous loop, whether a remedy worked cannot be observed until the next step. Firing all seven would apply six of them blind.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548640" y="5376672"/>
            <a:ext cx="5349240" cy="1115568"/>
          </a:xfrm>
          <a:prstGeom prst="roundRect">
            <a:avLst>
              <a:gd name="adj" fmla="val 7377"/>
            </a:avLst>
          </a:prstGeom>
          <a:solidFill>
            <a:srgbClr val="FFFFFF"/>
          </a:solidFill>
          <a:ln w="12700">
            <a:solidFill>
              <a:srgbClr val="D0DAE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04672" y="550468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804672" y="5779008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progress is only a precondition: a group escalates only when a wait-for cycle or a repeated configuration corroborates it. Worth 0.022 → 0.134 on corridors.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FOUND WHEN WE CHECKED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evaluation was not the only thing that was wrong.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64208"/>
            <a:ext cx="5349240" cy="1874520"/>
          </a:xfrm>
          <a:prstGeom prst="roundRect">
            <a:avLst>
              <a:gd name="adj" fmla="val 4390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920240"/>
            <a:ext cx="384048" cy="384048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53312" y="193852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aisle layer broke our own invariant</a:t>
            </a:r>
            <a:endParaRPr lang="en-US" sz="175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450592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Aisle direction and reservations were hard rejections, deleting legal moves before scoring — while slide 2 says the high level never replaces PIBT's backtracking. Inheritance needs to be able to push a robot aside. Pricing instead: 1.9× to 3.1×.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63640" y="1664208"/>
            <a:ext cx="5349240" cy="1874520"/>
          </a:xfrm>
          <a:prstGeom prst="roundRect">
            <a:avLst>
              <a:gd name="adj" fmla="val 4390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56248" y="1920240"/>
            <a:ext cx="384048" cy="384048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56248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068312" y="193852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hypotheses were never tested</a:t>
            </a:r>
            <a:endParaRPr lang="en-US" sz="1750" dirty="0"/>
          </a:p>
        </p:txBody>
      </p:sp>
      <p:sp>
        <p:nvSpPr>
          <p:cNvPr id="13" name="Text 11"/>
          <p:cNvSpPr txBox="1"/>
          <p:nvPr/>
        </p:nvSpPr>
        <p:spPr>
          <a:xfrm>
            <a:off x="6556248" y="2450592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reservations was a no-op unless direction_control was “aisle”, and the variant built to isolate it sets “robot” — so H3's treatment cell was a copy of its control. On bottleneck no aisle ever commits a direction at all.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721608"/>
            <a:ext cx="5349240" cy="1874520"/>
          </a:xfrm>
          <a:prstGeom prst="roundRect">
            <a:avLst>
              <a:gd name="adj" fmla="val 4390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1248" y="3977640"/>
            <a:ext cx="384048" cy="384048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1248" y="3977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353312" y="399592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aisle signal could starve</a:t>
            </a:r>
            <a:endParaRPr lang="en-US" sz="1750" dirty="0"/>
          </a:p>
        </p:txBody>
      </p:sp>
      <p:sp>
        <p:nvSpPr>
          <p:cNvPr id="18" name="Text 16"/>
          <p:cNvSpPr txBox="1"/>
          <p:nvPr/>
        </p:nvSpPr>
        <p:spPr>
          <a:xfrm>
            <a:off x="841248" y="4507992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committed direction was held indefinitely unless the imbalance crossed τ, and pickups one side with deliveries the other makes demand balanced. Corridors deadlocked: 35 of 35 stalled by t=120.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63640" y="3721608"/>
            <a:ext cx="5349240" cy="1874520"/>
          </a:xfrm>
          <a:prstGeom prst="roundRect">
            <a:avLst>
              <a:gd name="adj" fmla="val 4390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56248" y="3977640"/>
            <a:ext cx="384048" cy="384048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56248" y="3977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068312" y="399592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more, each measured</a:t>
            </a:r>
            <a:endParaRPr lang="en-US" sz="1750" dirty="0"/>
          </a:p>
        </p:txBody>
      </p:sp>
      <p:sp>
        <p:nvSpPr>
          <p:cNvPr id="23" name="Text 21"/>
          <p:cNvSpPr txBox="1"/>
          <p:nvPr/>
        </p:nvSpPr>
        <p:spPr>
          <a:xfrm>
            <a:off x="6556248" y="4507992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Aisles were L and U shapes, so one-waying blocked corners both ways; recovery fired on healthy traffic; and the congestion term outranked the terms it modulates. 179 tests, up from 161.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806440"/>
            <a:ext cx="11091672" cy="658368"/>
          </a:xfrm>
          <a:prstGeom prst="roundRect">
            <a:avLst>
              <a:gd name="adj" fmla="val 12500"/>
            </a:avLst>
          </a:prstGeom>
          <a:solidFill>
            <a:srgbClr val="1D3346"/>
          </a:solidFill>
          <a:ln w="12700">
            <a:solidFill>
              <a:srgbClr val="1D334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68680" y="59436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assignment is still held identical across all five planners, so the baseline comparison isolates the movement layer and nothing else.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1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Against the literature: PIBT wins, and not narrowly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627632"/>
          <a:ext cx="68580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543800" y="1627632"/>
            <a:ext cx="4114800" cy="2286000"/>
          </a:xfrm>
          <a:prstGeom prst="roundRect">
            <a:avLst>
              <a:gd name="adj" fmla="val 3600"/>
            </a:avLst>
          </a:prstGeom>
          <a:solidFill>
            <a:srgbClr val="1D3346"/>
          </a:solidFill>
          <a:ln w="12700">
            <a:solidFill>
              <a:srgbClr val="1D334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818120" y="1810512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headline was not the expected result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818120" y="2395728"/>
            <a:ext cx="3611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lifelong_pibt — the simplest configuration already in the repo — beats both external baselines on every map, p &lt; 0.001 on throughput in every cell. Token Passing completes literally zero tasks on warehouse_corridors across all ten seeds.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543800" y="4041648"/>
            <a:ext cx="4114800" cy="960120"/>
          </a:xfrm>
          <a:prstGeom prst="roundRect">
            <a:avLst>
              <a:gd name="adj" fmla="val 8571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818120" y="416052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no inheritance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818120" y="440740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16 robots queue nose-to-tail in the connecting corridor and never move again. A queue Token Passing forms, it cannot resolve.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7543800" y="5120640"/>
            <a:ext cx="4114800" cy="960120"/>
          </a:xfrm>
          <a:prstGeom prst="roundRect">
            <a:avLst>
              <a:gd name="adj" fmla="val 8571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818120" y="523951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it is 30–190× cheaper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818120" y="54864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warehouse_medium, ms per step:  lifelong_pibt 0.83  ·  full_lda_pibt 2.40  ·  RHCR 58.1  ·  token_passing 158.7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62179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C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seeds × 400 timesteps; permutation test vs. lifelong_pibt. Caveats: assignment is held constant so neither baseline runs the policy its own paper pairs it with, and RHCR's window/replan period are untuned defaults at a scale far below the one it targets.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2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De-confounding, on designs that can now be read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627632"/>
          <a:ext cx="685800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543800" y="1627632"/>
            <a:ext cx="4114800" cy="1965960"/>
          </a:xfrm>
          <a:prstGeom prst="roundRect">
            <a:avLst>
              <a:gd name="adj" fmla="val 4186"/>
            </a:avLst>
          </a:prstGeom>
          <a:solidFill>
            <a:srgbClr val="1D3346"/>
          </a:solidFill>
          <a:ln w="12700">
            <a:solidFill>
              <a:srgbClr val="1D334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818120" y="1810512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H3 — the empty cell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818120" y="2176272"/>
            <a:ext cx="3611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reservations_only sets direction_control=“robot”, and the reservation layer was gated on direction_control==“aisle”. Factor B was a bit-identical copy of the base, so its main effect was necessarily zero. “Exactly zero effect” described the wiring, not the mechanism.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543800" y="3712464"/>
            <a:ext cx="4114800" cy="1298448"/>
          </a:xfrm>
          <a:prstGeom prst="roundRect">
            <a:avLst>
              <a:gd name="adj" fmla="val 6338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818120" y="38404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1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H1/H3 — the attribution reverses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7818120" y="411480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both cells live, on warehouse_medium: aisle direction alone raises throughput 0.337 → 0.405, entry admission alone drops it to 0.262, both land at 0.217.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7543800" y="5138928"/>
            <a:ext cx="4114800" cy="1298448"/>
          </a:xfrm>
          <a:prstGeom prst="roundRect">
            <a:avLst>
              <a:gd name="adj" fmla="val 6338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818120" y="526694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1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H4 — one flag, three mechanisms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7818120" y="5541264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congestion_aware moved the movement score, the assignment cost and the blocking term together — the same confound the factorials remove, one level down.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3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scoreboard, on each claim's own metric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1672" cy="566928"/>
          </a:xfrm>
          <a:prstGeom prst="roundRect">
            <a:avLst>
              <a:gd name="adj" fmla="val 14516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169164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1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691640"/>
            <a:ext cx="6583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Aisle direction lifts per-aisle flow in narrow aisles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778240" y="1810512"/>
            <a:ext cx="2606040" cy="329184"/>
          </a:xfrm>
          <a:prstGeom prst="roundRect">
            <a:avLst>
              <a:gd name="adj" fmla="val 50000"/>
            </a:avLst>
          </a:prstGeom>
          <a:solidFill>
            <a:srgbClr val="4A5A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778240" y="1810512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on its own metric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350008"/>
            <a:ext cx="11091672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0DAE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" y="2350008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1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2350008"/>
            <a:ext cx="6583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Hysteresis reduces switching and prevents oscillation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778240" y="2468880"/>
            <a:ext cx="2606040" cy="329184"/>
          </a:xfrm>
          <a:prstGeom prst="roundRect">
            <a:avLst>
              <a:gd name="adj" fmla="val 50000"/>
            </a:avLst>
          </a:prstGeom>
          <a:solidFill>
            <a:srgbClr val="1F7A5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778240" y="2468880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supported, every map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008376"/>
            <a:ext cx="11091672" cy="566928"/>
          </a:xfrm>
          <a:prstGeom prst="roundRect">
            <a:avLst>
              <a:gd name="adj" fmla="val 14516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4672" y="3008376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1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417320" y="3008376"/>
            <a:ext cx="6583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capacity admission cuts head-on conflicts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778240" y="3127248"/>
            <a:ext cx="2606040" cy="329184"/>
          </a:xfrm>
          <a:prstGeom prst="roundRect">
            <a:avLst>
              <a:gd name="adj" fmla="val 50000"/>
            </a:avLst>
          </a:prstGeom>
          <a:solidFill>
            <a:srgbClr val="4A5A6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778240" y="3127248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map-dependent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666744"/>
            <a:ext cx="11091672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0DAE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4672" y="3666744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1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H4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17320" y="3666744"/>
            <a:ext cx="6583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 in matching cuts service time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778240" y="3785616"/>
            <a:ext cx="2606040" cy="329184"/>
          </a:xfrm>
          <a:prstGeom prst="roundRect">
            <a:avLst>
              <a:gd name="adj" fmla="val 50000"/>
            </a:avLst>
          </a:prstGeom>
          <a:solidFill>
            <a:srgbClr val="AF352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778240" y="3785616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supported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4325112"/>
            <a:ext cx="11091672" cy="566928"/>
          </a:xfrm>
          <a:prstGeom prst="roundRect">
            <a:avLst>
              <a:gd name="adj" fmla="val 14516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04672" y="4325112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1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417320" y="4325112"/>
            <a:ext cx="6583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Proximity decay of the direction weight helps arrival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8778240" y="4443984"/>
            <a:ext cx="2606040" cy="329184"/>
          </a:xfrm>
          <a:prstGeom prst="roundRect">
            <a:avLst>
              <a:gd name="adj" fmla="val 50000"/>
            </a:avLst>
          </a:prstGeom>
          <a:solidFill>
            <a:srgbClr val="4A5A68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778240" y="4443984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 is inert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4983480"/>
            <a:ext cx="11091672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0DAE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04672" y="498348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1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H6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417320" y="4983480"/>
            <a:ext cx="6583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Localised recovery beats a global planner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8778240" y="5102352"/>
            <a:ext cx="2606040" cy="329184"/>
          </a:xfrm>
          <a:prstGeom prst="roundRect">
            <a:avLst>
              <a:gd name="adj" fmla="val 50000"/>
            </a:avLst>
          </a:prstGeom>
          <a:solidFill>
            <a:srgbClr val="1F7A5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778240" y="5102352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 on corridors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48640" y="5715000"/>
            <a:ext cx="11091672" cy="749808"/>
          </a:xfrm>
          <a:prstGeom prst="roundRect">
            <a:avLst>
              <a:gd name="adj" fmla="val 10976"/>
            </a:avLst>
          </a:prstGeom>
          <a:solidFill>
            <a:srgbClr val="1D3346"/>
          </a:solidFill>
          <a:ln w="12700">
            <a:solidFill>
              <a:srgbClr val="1D334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868680" y="58704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on the quantity each claim names — head-on conflicts for H3, per-aisle flow for H1 — not on throughput. H1 fails its own metric yet raises end-to-end throughput on three of four maps.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FIXES WERE WORTH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mechanisms, measured one at a time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64208"/>
            <a:ext cx="11091672" cy="1325880"/>
          </a:xfrm>
          <a:prstGeom prst="roundRect">
            <a:avLst>
              <a:gd name="adj" fmla="val 6207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9536" y="1956816"/>
            <a:ext cx="420624" cy="420624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59536" y="19568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847088"/>
            <a:ext cx="9692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Direction ranks candidates instead of rejecting them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231136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effect in the repository: 0.084 → 0.158 on corridors, 0.112 → 0.304 on narrow, 0.161 → 0.405 on medium, p = 0.008 on each. A rejected move is a move priority inheritance can no longer use to unblock a chain.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3154680"/>
            <a:ext cx="11091672" cy="1325880"/>
          </a:xfrm>
          <a:prstGeom prst="roundRect">
            <a:avLst>
              <a:gd name="adj" fmla="val 6207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59536" y="3447288"/>
            <a:ext cx="420624" cy="420624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59536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337560"/>
            <a:ext cx="9692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Recovery escalates only on a corroborated stall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1463040" y="3721608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0.022 → 0.134 tasks/step on warehouse_corridors. This was invisible before, because the hard constraints above manufactured real deadlocks for recovery to rescue — remove the cause and the false positives show through.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4645152"/>
            <a:ext cx="11091672" cy="1325880"/>
          </a:xfrm>
          <a:prstGeom prst="roundRect">
            <a:avLst>
              <a:gd name="adj" fmla="val 6207"/>
            </a:avLst>
          </a:prstGeom>
          <a:solidFill>
            <a:srgbClr val="1D3346"/>
          </a:solidFill>
          <a:ln w="12700">
            <a:solidFill>
              <a:srgbClr val="1D334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59536" y="4937760"/>
            <a:ext cx="420624" cy="420624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59536" y="4937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4828032"/>
            <a:ext cx="9692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A1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maximum green, and why it now matters less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5212080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decisive while direction was a hard constraint: without it corridors reached an absorbing deadlock. Once counterflow is merely expensive a robot can buy its way out, so the two fixes are partly redundant. It stays because it makes the layer correct, not just survivable.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6144768"/>
            <a:ext cx="11091672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619963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250" i="1" dirty="0">
                <a:solidFill>
                  <a:srgbClr val="6C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Coordinated direction assignment across parallel aisles — the last review's most promising fix — is implemented, and measures ±0.011.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GOES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next pieces of work, in order of expected payoff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49240" cy="1874520"/>
          </a:xfrm>
          <a:prstGeom prst="roundRect">
            <a:avLst>
              <a:gd name="adj" fmla="val 4390"/>
            </a:avLst>
          </a:prstGeom>
          <a:solidFill>
            <a:srgbClr val="1D3346"/>
          </a:solidFill>
          <a:ln w="12700">
            <a:solidFill>
              <a:srgbClr val="1D334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929384"/>
            <a:ext cx="402336" cy="402336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19293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468880"/>
            <a:ext cx="4754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entry admission earn its cost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916936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repaired mechanism that still loses throughput on every map. Both the capacity model and the admission rule are suspect.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63640" y="1691640"/>
            <a:ext cx="5349240" cy="1874520"/>
          </a:xfrm>
          <a:prstGeom prst="roundRect">
            <a:avLst>
              <a:gd name="adj" fmla="val 4390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56248" y="1929384"/>
            <a:ext cx="402336" cy="402336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56248" y="19293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556248" y="2468880"/>
            <a:ext cx="4754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 out why the aisle layer loses on open grids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556248" y="2916936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wins on corridors, loses on medium and narrow. Turning cost alone beats it on two maps.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749040"/>
            <a:ext cx="5349240" cy="1874520"/>
          </a:xfrm>
          <a:prstGeom prst="roundRect">
            <a:avLst>
              <a:gd name="adj" fmla="val 4390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1248" y="3986784"/>
            <a:ext cx="402336" cy="402336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1248" y="3986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" y="4526280"/>
            <a:ext cx="4754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Tune the baselines honestly, then re-run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" y="4974336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 each baseline with the assignment policy from its own paper, and give RHCR a window sized for its intended scale.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63640" y="3749040"/>
            <a:ext cx="5349240" cy="1874520"/>
          </a:xfrm>
          <a:prstGeom prst="roundRect">
            <a:avLst>
              <a:gd name="adj" fmla="val 4390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56248" y="3986784"/>
            <a:ext cx="402336" cy="402336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56248" y="3986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556248" y="4526280"/>
            <a:ext cx="4754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Close the gaps the spec still leaves open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6556248" y="4974336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Intersection reservations, kinematics and footprints, asynchronous execution, and the delayed/failed-robot failure scenarios.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852160"/>
            <a:ext cx="11091672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2A10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8680" y="5998464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16"/>
              </a:lnSpc>
              <a:buNone/>
            </a:pPr>
            <a:r>
              <a:rPr lang="en-US" sz="1300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diagnostic that found every bug in this project is now a feature: click any robot in the GUI and it lists each candidate cell, its score, which rule rejected it, and which aisle penalty it paid.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0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CLOSING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things worth taking away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801368"/>
            <a:ext cx="438912" cy="438912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8013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173736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2A1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core was the contribution all along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167128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0"/>
              </a:lnSpc>
              <a:buNone/>
            </a:pPr>
            <a:r>
              <a:rPr lang="en-US" sz="135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Forty years of MAPF converged on a mechanism — priority inheritance with backtracking — that a hundred lines of recursion capture. Plain lifelong PIBT still wins on the open grids.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3218688"/>
            <a:ext cx="438912" cy="438912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3218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315468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2A1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mechanism that cannot act is not a negative result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84448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0"/>
              </a:lnSpc>
              <a:buNone/>
            </a:pPr>
            <a:r>
              <a:rPr lang="en-US" sz="135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of our six hypotheses were reported as failures. One had an empty treatment cell, one a map where the treatment never fired, one was rescuing deadlocks we had manufactured.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4636008"/>
            <a:ext cx="438912" cy="438912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636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45720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2A1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invariant was load-bearing, not decorative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1207008" y="5001768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0"/>
              </a:lnSpc>
              <a:buNone/>
            </a:pPr>
            <a:r>
              <a:rPr lang="en-US" sz="135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“Ranks candidates, never decides safety” appears three times in this deck. The code did the opposite, and that one line accounts for every collapse we blamed on aisle management.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5852160"/>
            <a:ext cx="11091672" cy="658368"/>
          </a:xfrm>
          <a:prstGeom prst="roundRect">
            <a:avLst>
              <a:gd name="adj" fmla="val 12500"/>
            </a:avLst>
          </a:prstGeom>
          <a:solidFill>
            <a:srgbClr val="1A2C3B"/>
          </a:solidFill>
          <a:ln w="12700">
            <a:solidFill>
              <a:srgbClr val="1A2C3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598932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BE6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main.py   —   no install, no dependencies, 179 tests, zero collisions.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AisleFlow - From MAPF to Aisle-Managed Lifelong PIBT</dc:title>
  <dc:subject>PptxGenJS Presentation</dc:subject>
  <dc:creator>AisleFlow</dc:creator>
  <cp:lastModifiedBy>AisleFlow</cp:lastModifiedBy>
  <cp:revision>1</cp:revision>
  <dcterms:created xsi:type="dcterms:W3CDTF">2026-08-30T20:42:18Z</dcterms:created>
  <dcterms:modified xsi:type="dcterms:W3CDTF">2026-08-30T20:42:18Z</dcterms:modified>
</cp:coreProperties>
</file>